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893BF-8B7B-453A-A09E-3205316C5B8A}" type="datetimeFigureOut">
              <a:rPr lang="fr-FR" smtClean="0"/>
              <a:t>21/09/2023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D0D0A9-94F3-4A5E-99B1-853045008A03}" type="slidenum">
              <a:rPr lang="fr-FR" smtClean="0"/>
              <a:t>‹N°›</a:t>
            </a:fld>
            <a:endParaRPr lang="fr-FR"/>
          </a:p>
        </p:txBody>
      </p:sp>
    </p:spTree>
    <p:extLst>
      <p:ext uri="{BB962C8B-B14F-4D97-AF65-F5344CB8AC3E}">
        <p14:creationId xmlns:p14="http://schemas.microsoft.com/office/powerpoint/2010/main" val="1434570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fr.wikipedia.org/wiki/Hydroxyle" TargetMode="External"/><Relationship Id="rId2" Type="http://schemas.openxmlformats.org/officeDocument/2006/relationships/slide" Target="../slides/slide35.xml"/><Relationship Id="rId1" Type="http://schemas.openxmlformats.org/officeDocument/2006/relationships/notesMaster" Target="../notesMasters/notesMaster1.xml"/><Relationship Id="rId6" Type="http://schemas.openxmlformats.org/officeDocument/2006/relationships/hyperlink" Target="https://fr.wikipedia.org/wiki/Hygroscopique" TargetMode="External"/><Relationship Id="rId5" Type="http://schemas.openxmlformats.org/officeDocument/2006/relationships/hyperlink" Target="https://fr.wikipedia.org/wiki/Solubilit%C3%A9" TargetMode="External"/><Relationship Id="rId4" Type="http://schemas.openxmlformats.org/officeDocument/2006/relationships/hyperlink" Target="https://fr.wikipedia.org/wiki/Alcool_(chimie)"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1</a:t>
            </a:fld>
            <a:endParaRPr lang="fr-FR">
              <a:solidFill>
                <a:prstClr val="black"/>
              </a:solidFill>
            </a:endParaRPr>
          </a:p>
        </p:txBody>
      </p:sp>
    </p:spTree>
    <p:extLst>
      <p:ext uri="{BB962C8B-B14F-4D97-AF65-F5344CB8AC3E}">
        <p14:creationId xmlns:p14="http://schemas.microsoft.com/office/powerpoint/2010/main" val="4159414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effectLst/>
              </a:rPr>
              <a:t>La liaison ionique</a:t>
            </a:r>
            <a:r>
              <a:rPr lang="fr-FR" dirty="0" smtClean="0"/>
              <a:t> </a:t>
            </a:r>
            <a:r>
              <a:rPr lang="fr-FR" b="1" dirty="0" smtClean="0"/>
              <a:t>résulte de l'attraction électrostatique entre ions de signes contraires</a:t>
            </a:r>
            <a:r>
              <a:rPr lang="fr-FR" dirty="0" smtClean="0"/>
              <a:t>. En général, la liaison ionique s'établit entre les atomes métalliques donneurs d'électrons des familles </a:t>
            </a:r>
            <a:r>
              <a:rPr lang="fr-FR" dirty="0" err="1" smtClean="0"/>
              <a:t>Ia</a:t>
            </a:r>
            <a:r>
              <a:rPr lang="fr-FR" dirty="0" smtClean="0"/>
              <a:t>, </a:t>
            </a:r>
            <a:r>
              <a:rPr lang="fr-FR" dirty="0" err="1" smtClean="0"/>
              <a:t>IIa</a:t>
            </a:r>
            <a:r>
              <a:rPr lang="fr-FR" dirty="0" smtClean="0"/>
              <a:t> et </a:t>
            </a:r>
            <a:r>
              <a:rPr lang="fr-FR" dirty="0" err="1" smtClean="0"/>
              <a:t>IIIa</a:t>
            </a:r>
            <a:r>
              <a:rPr lang="fr-FR" dirty="0" smtClean="0"/>
              <a:t> et les atomes non métalliques accepteurs d'électrons des </a:t>
            </a:r>
          </a:p>
          <a:p>
            <a:r>
              <a:rPr lang="fr-FR" dirty="0" smtClean="0"/>
              <a:t>Une liaison covalente correspond au </a:t>
            </a:r>
            <a:r>
              <a:rPr lang="fr-FR" b="1" dirty="0" smtClean="0"/>
              <a:t>partage d'une paire d'électrons entre deux atomes</a:t>
            </a:r>
            <a:r>
              <a:rPr lang="fr-FR" dirty="0" smtClean="0"/>
              <a:t>.</a:t>
            </a:r>
            <a:endParaRPr lang="fr-FR" dirty="0"/>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7</a:t>
            </a:fld>
            <a:endParaRPr lang="fr-FR">
              <a:solidFill>
                <a:prstClr val="black"/>
              </a:solidFill>
            </a:endParaRPr>
          </a:p>
        </p:txBody>
      </p:sp>
    </p:spTree>
    <p:extLst>
      <p:ext uri="{BB962C8B-B14F-4D97-AF65-F5344CB8AC3E}">
        <p14:creationId xmlns:p14="http://schemas.microsoft.com/office/powerpoint/2010/main" val="280929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27</a:t>
            </a:fld>
            <a:endParaRPr lang="fr-FR">
              <a:solidFill>
                <a:prstClr val="black"/>
              </a:solidFill>
            </a:endParaRPr>
          </a:p>
        </p:txBody>
      </p:sp>
    </p:spTree>
    <p:extLst>
      <p:ext uri="{BB962C8B-B14F-4D97-AF65-F5344CB8AC3E}">
        <p14:creationId xmlns:p14="http://schemas.microsoft.com/office/powerpoint/2010/main" val="1720979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La perte de</a:t>
            </a:r>
            <a:r>
              <a:rPr lang="fr-FR" baseline="0" dirty="0" smtClean="0"/>
              <a:t> </a:t>
            </a:r>
            <a:r>
              <a:rPr lang="fr-FR" dirty="0" smtClean="0"/>
              <a:t>cette fonction induit la formation d’œdème interstitiel, et cela,</a:t>
            </a:r>
            <a:r>
              <a:rPr lang="fr-FR" baseline="0" dirty="0" smtClean="0"/>
              <a:t> </a:t>
            </a:r>
            <a:r>
              <a:rPr lang="fr-FR" dirty="0" smtClean="0"/>
              <a:t>malgré la présence d’une barrière endothéliale intacte</a:t>
            </a:r>
          </a:p>
          <a:p>
            <a:endParaRPr lang="fr-FR" dirty="0" smtClean="0"/>
          </a:p>
          <a:p>
            <a:r>
              <a:rPr lang="fr-FR" b="1" dirty="0" smtClean="0"/>
              <a:t>Les cellules endothéliales sont des cellules qui jouent, entre autres, un rôle actif et essentiel dans le contrôle du tonus vasculaire, et donc du débit sanguin local</a:t>
            </a:r>
            <a:r>
              <a:rPr lang="fr-FR" dirty="0" smtClean="0"/>
              <a:t>,</a:t>
            </a:r>
            <a:endParaRPr lang="fr-FR" dirty="0"/>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29</a:t>
            </a:fld>
            <a:endParaRPr lang="fr-FR">
              <a:solidFill>
                <a:prstClr val="black"/>
              </a:solidFill>
            </a:endParaRPr>
          </a:p>
        </p:txBody>
      </p:sp>
    </p:spTree>
    <p:extLst>
      <p:ext uri="{BB962C8B-B14F-4D97-AF65-F5344CB8AC3E}">
        <p14:creationId xmlns:p14="http://schemas.microsoft.com/office/powerpoint/2010/main" val="1136671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Composé organique Sa molécule possède trois groupes </a:t>
            </a:r>
            <a:r>
              <a:rPr lang="fr-FR" dirty="0" smtClean="0">
                <a:hlinkClick r:id="rId3" tooltip="Hydroxyle"/>
              </a:rPr>
              <a:t>hydroxyle</a:t>
            </a:r>
            <a:r>
              <a:rPr lang="fr-FR" dirty="0" smtClean="0"/>
              <a:t> correspondant à trois fonctions </a:t>
            </a:r>
            <a:r>
              <a:rPr lang="fr-FR" dirty="0" smtClean="0">
                <a:hlinkClick r:id="rId4" tooltip="Alcool (chimie)"/>
              </a:rPr>
              <a:t>alcool</a:t>
            </a:r>
            <a:r>
              <a:rPr lang="fr-FR" dirty="0" smtClean="0"/>
              <a:t> responsables de sa </a:t>
            </a:r>
            <a:r>
              <a:rPr lang="fr-FR" dirty="0" smtClean="0">
                <a:hlinkClick r:id="rId5" tooltip="Solubilité"/>
              </a:rPr>
              <a:t>solubilité</a:t>
            </a:r>
            <a:r>
              <a:rPr lang="fr-FR" dirty="0" smtClean="0"/>
              <a:t> dans l'eau et de sa nature </a:t>
            </a:r>
            <a:r>
              <a:rPr lang="fr-FR" dirty="0" smtClean="0">
                <a:hlinkClick r:id="rId6" tooltip="Hygroscopique"/>
              </a:rPr>
              <a:t>hygroscopique</a:t>
            </a:r>
            <a:endParaRPr lang="fr-FR" dirty="0"/>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35</a:t>
            </a:fld>
            <a:endParaRPr lang="fr-FR">
              <a:solidFill>
                <a:prstClr val="black"/>
              </a:solidFill>
            </a:endParaRPr>
          </a:p>
        </p:txBody>
      </p:sp>
    </p:spTree>
    <p:extLst>
      <p:ext uri="{BB962C8B-B14F-4D97-AF65-F5344CB8AC3E}">
        <p14:creationId xmlns:p14="http://schemas.microsoft.com/office/powerpoint/2010/main" val="1658318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Par conséquent, d’après cette information, nous savons que le type de réaction qui forme un triglycéride est une réaction de condensation</a:t>
            </a:r>
            <a:endParaRPr lang="fr-FR" dirty="0"/>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36</a:t>
            </a:fld>
            <a:endParaRPr lang="fr-FR">
              <a:solidFill>
                <a:prstClr val="black"/>
              </a:solidFill>
            </a:endParaRPr>
          </a:p>
        </p:txBody>
      </p:sp>
    </p:spTree>
    <p:extLst>
      <p:ext uri="{BB962C8B-B14F-4D97-AF65-F5344CB8AC3E}">
        <p14:creationId xmlns:p14="http://schemas.microsoft.com/office/powerpoint/2010/main" val="3205219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1" dirty="0" smtClean="0"/>
              <a:t>La principale différence entre les deux réside dans leur structure chimique. Les purines sont composées d’un cycle double (purine) tandis que les pyrimidines sont composées d’un cycle simple (pyrimidine). Les rôles biologiques et les modes de synthèse diffèrent également entre les deux. </a:t>
            </a:r>
            <a:endParaRPr lang="fr-FR" dirty="0"/>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41</a:t>
            </a:fld>
            <a:endParaRPr lang="fr-FR">
              <a:solidFill>
                <a:prstClr val="black"/>
              </a:solidFill>
            </a:endParaRPr>
          </a:p>
        </p:txBody>
      </p:sp>
    </p:spTree>
    <p:extLst>
      <p:ext uri="{BB962C8B-B14F-4D97-AF65-F5344CB8AC3E}">
        <p14:creationId xmlns:p14="http://schemas.microsoft.com/office/powerpoint/2010/main" val="4034863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Molécule capable de se fixer sur le site de régulation d'une enzyme </a:t>
            </a:r>
            <a:r>
              <a:rPr lang="fr-FR" b="1" dirty="0" smtClean="0"/>
              <a:t>allostérique</a:t>
            </a:r>
            <a:r>
              <a:rPr lang="fr-FR" dirty="0" smtClean="0"/>
              <a:t> et qui, en provoquant une modification réversible de la configuration de celle-ci, entraîne son inhibition ou son activation.</a:t>
            </a:r>
            <a:endParaRPr lang="fr-FR" dirty="0"/>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42</a:t>
            </a:fld>
            <a:endParaRPr lang="fr-FR">
              <a:solidFill>
                <a:prstClr val="black"/>
              </a:solidFill>
            </a:endParaRPr>
          </a:p>
        </p:txBody>
      </p:sp>
    </p:spTree>
    <p:extLst>
      <p:ext uri="{BB962C8B-B14F-4D97-AF65-F5344CB8AC3E}">
        <p14:creationId xmlns:p14="http://schemas.microsoft.com/office/powerpoint/2010/main" val="939811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43</a:t>
            </a:fld>
            <a:endParaRPr lang="fr-FR">
              <a:solidFill>
                <a:prstClr val="black"/>
              </a:solidFill>
            </a:endParaRPr>
          </a:p>
        </p:txBody>
      </p:sp>
    </p:spTree>
    <p:extLst>
      <p:ext uri="{BB962C8B-B14F-4D97-AF65-F5344CB8AC3E}">
        <p14:creationId xmlns:p14="http://schemas.microsoft.com/office/powerpoint/2010/main" val="20922676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1" kern="1200" spc="5" dirty="0" smtClean="0">
                <a:solidFill>
                  <a:srgbClr val="941651"/>
                </a:solidFill>
                <a:latin typeface="+mn-lt"/>
                <a:ea typeface="+mn-ea"/>
                <a:cs typeface="Arial"/>
              </a:rPr>
              <a:t>c</a:t>
            </a:r>
            <a:r>
              <a:rPr lang="fr-FR" sz="1200" b="1" kern="1200" spc="-20" dirty="0" smtClean="0">
                <a:solidFill>
                  <a:srgbClr val="941651"/>
                </a:solidFill>
                <a:latin typeface="+mn-lt"/>
                <a:ea typeface="+mn-ea"/>
                <a:cs typeface="Arial"/>
              </a:rPr>
              <a:t>o</a:t>
            </a:r>
            <a:r>
              <a:rPr lang="fr-FR" sz="1200" b="1" kern="1200" spc="5" dirty="0" smtClean="0">
                <a:solidFill>
                  <a:srgbClr val="941651"/>
                </a:solidFill>
                <a:latin typeface="+mn-lt"/>
                <a:ea typeface="+mn-ea"/>
                <a:cs typeface="Arial"/>
              </a:rPr>
              <a:t>e</a:t>
            </a:r>
            <a:r>
              <a:rPr lang="fr-FR" sz="1200" b="1" kern="1200" spc="-20" dirty="0" smtClean="0">
                <a:solidFill>
                  <a:srgbClr val="941651"/>
                </a:solidFill>
                <a:latin typeface="+mn-lt"/>
                <a:ea typeface="+mn-ea"/>
                <a:cs typeface="Arial"/>
              </a:rPr>
              <a:t>n</a:t>
            </a:r>
            <a:r>
              <a:rPr lang="fr-FR" sz="1200" b="1" kern="1200" dirty="0" smtClean="0">
                <a:solidFill>
                  <a:srgbClr val="941651"/>
                </a:solidFill>
                <a:latin typeface="+mn-lt"/>
                <a:ea typeface="+mn-ea"/>
                <a:cs typeface="Arial"/>
              </a:rPr>
              <a:t>z</a:t>
            </a:r>
            <a:r>
              <a:rPr lang="fr-FR" sz="1200" b="1" kern="1200" spc="5" dirty="0" smtClean="0">
                <a:solidFill>
                  <a:srgbClr val="941651"/>
                </a:solidFill>
                <a:latin typeface="+mn-lt"/>
                <a:ea typeface="+mn-ea"/>
                <a:cs typeface="Arial"/>
              </a:rPr>
              <a:t>y</a:t>
            </a:r>
            <a:r>
              <a:rPr lang="fr-FR" sz="1200" b="1" kern="1200" spc="-5" dirty="0" smtClean="0">
                <a:solidFill>
                  <a:srgbClr val="941651"/>
                </a:solidFill>
                <a:latin typeface="+mn-lt"/>
                <a:ea typeface="+mn-ea"/>
                <a:cs typeface="Arial"/>
              </a:rPr>
              <a:t>m</a:t>
            </a:r>
            <a:r>
              <a:rPr lang="fr-FR" sz="1200" b="1" kern="1200" spc="5" dirty="0" smtClean="0">
                <a:solidFill>
                  <a:srgbClr val="941651"/>
                </a:solidFill>
                <a:latin typeface="+mn-lt"/>
                <a:ea typeface="+mn-ea"/>
                <a:cs typeface="Arial"/>
              </a:rPr>
              <a:t>e</a:t>
            </a:r>
            <a:r>
              <a:rPr lang="fr-FR" sz="1200" b="1" kern="1200" dirty="0" smtClean="0">
                <a:solidFill>
                  <a:srgbClr val="941651"/>
                </a:solidFill>
                <a:latin typeface="+mn-lt"/>
                <a:ea typeface="+mn-ea"/>
                <a:cs typeface="Arial"/>
              </a:rPr>
              <a:t>s </a:t>
            </a:r>
            <a:r>
              <a:rPr lang="fr-FR" dirty="0" smtClean="0"/>
              <a:t>Les coenzymes sont des composés organiques qui </a:t>
            </a:r>
            <a:r>
              <a:rPr lang="fr-FR" b="1" dirty="0" smtClean="0"/>
              <a:t>facilitent le travail des enzymes et qui peuvent se lier de façon temporaire ou permanente à une enzyme</a:t>
            </a:r>
          </a:p>
          <a:p>
            <a:r>
              <a:rPr lang="fr-FR" dirty="0" smtClean="0"/>
              <a:t>Quel est le rôle de l'AMPC ?</a:t>
            </a:r>
          </a:p>
          <a:p>
            <a:r>
              <a:rPr lang="fr-FR" dirty="0" smtClean="0">
                <a:effectLst/>
              </a:rPr>
              <a:t>L'</a:t>
            </a:r>
            <a:r>
              <a:rPr lang="fr-FR" b="1" dirty="0" smtClean="0">
                <a:effectLst/>
              </a:rPr>
              <a:t>AMPC</a:t>
            </a:r>
            <a:r>
              <a:rPr lang="fr-FR" dirty="0" smtClean="0">
                <a:effectLst/>
              </a:rPr>
              <a:t> active les protéine-kinases, lesquelles catalysent la phosphorylation de certaines protéines intracellulaires qui activent ou inactivent certains gènes traduisant l'action hormonale</a:t>
            </a:r>
          </a:p>
          <a:p>
            <a:r>
              <a:rPr lang="fr-FR" dirty="0" smtClean="0"/>
              <a:t>ADP </a:t>
            </a:r>
            <a:r>
              <a:rPr lang="fr-FR" b="1" dirty="0" smtClean="0"/>
              <a:t>L'ATP est une molécule constituée d'adénine liée à un ribose qui, lui, est attaché à une chaîne de trois groupements phosphate</a:t>
            </a:r>
            <a:r>
              <a:rPr lang="fr-FR" dirty="0" smtClean="0"/>
              <a:t>. Comment l'ATP produit de l'énergie : Le mécanisme consiste au transfert d'un groupement phosphate sur une autre molécule et l'ATP devient alors l'adénosine-</a:t>
            </a:r>
            <a:r>
              <a:rPr lang="fr-FR" dirty="0" err="1" smtClean="0"/>
              <a:t>diphopshate</a:t>
            </a:r>
            <a:r>
              <a:rPr lang="fr-FR" dirty="0" smtClean="0"/>
              <a:t> (ADP).</a:t>
            </a:r>
          </a:p>
          <a:p>
            <a:r>
              <a:rPr lang="fr-FR" dirty="0" smtClean="0"/>
              <a:t>Quel est le rôle de l'ADP ?</a:t>
            </a:r>
          </a:p>
          <a:p>
            <a:r>
              <a:rPr lang="fr-FR" dirty="0" smtClean="0">
                <a:effectLst/>
              </a:rPr>
              <a:t>L'adénosine </a:t>
            </a:r>
            <a:r>
              <a:rPr lang="fr-FR" dirty="0" err="1" smtClean="0">
                <a:effectLst/>
              </a:rPr>
              <a:t>diphosphate</a:t>
            </a:r>
            <a:r>
              <a:rPr lang="fr-FR" dirty="0" smtClean="0">
                <a:effectLst/>
              </a:rPr>
              <a:t> (ADP) est une substance chimique qui </a:t>
            </a:r>
            <a:r>
              <a:rPr lang="fr-FR" b="1" dirty="0" smtClean="0">
                <a:effectLst/>
              </a:rPr>
              <a:t>utilise l'énergie libérée lors de diverses réactions biochimiques, pour former l'adénosine triphosphate (ATP)</a:t>
            </a:r>
            <a:endParaRPr lang="fr-FR" dirty="0" smtClean="0">
              <a:effectLst/>
            </a:endParaRPr>
          </a:p>
          <a:p>
            <a:endParaRPr lang="fr-FR" dirty="0"/>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44</a:t>
            </a:fld>
            <a:endParaRPr lang="fr-FR">
              <a:solidFill>
                <a:prstClr val="black"/>
              </a:solidFill>
            </a:endParaRPr>
          </a:p>
        </p:txBody>
      </p:sp>
    </p:spTree>
    <p:extLst>
      <p:ext uri="{BB962C8B-B14F-4D97-AF65-F5344CB8AC3E}">
        <p14:creationId xmlns:p14="http://schemas.microsoft.com/office/powerpoint/2010/main" val="1578987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1" dirty="0" smtClean="0"/>
              <a:t>5</a:t>
            </a:r>
            <a:r>
              <a:rPr lang="fr-FR" dirty="0" smtClean="0"/>
              <a:t>' et </a:t>
            </a:r>
            <a:r>
              <a:rPr lang="fr-FR" b="1" dirty="0" smtClean="0"/>
              <a:t>3</a:t>
            </a:r>
            <a:r>
              <a:rPr lang="fr-FR" dirty="0" smtClean="0"/>
              <a:t>'. Ces chiffres renvoient aux numéros des atomes de carbone du désoxyribose (le D de </a:t>
            </a:r>
            <a:r>
              <a:rPr lang="fr-FR" b="1" dirty="0" smtClean="0"/>
              <a:t>ADN</a:t>
            </a:r>
            <a:r>
              <a:rPr lang="fr-FR" dirty="0" smtClean="0"/>
              <a:t>), l'un des éléments des nucléotides</a:t>
            </a:r>
            <a:endParaRPr lang="fr-FR" dirty="0"/>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47</a:t>
            </a:fld>
            <a:endParaRPr lang="fr-FR">
              <a:solidFill>
                <a:prstClr val="black"/>
              </a:solidFill>
            </a:endParaRPr>
          </a:p>
        </p:txBody>
      </p:sp>
    </p:spTree>
    <p:extLst>
      <p:ext uri="{BB962C8B-B14F-4D97-AF65-F5344CB8AC3E}">
        <p14:creationId xmlns:p14="http://schemas.microsoft.com/office/powerpoint/2010/main" val="3257076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1" dirty="0" smtClean="0"/>
              <a:t>La thymine de l'ADN est remplacée par un uracile dans l'ARN, et la substitution du désoxyribose par un ribose rend l'ARN chimiquement moins stable que l'ADN</a:t>
            </a:r>
            <a:r>
              <a:rPr lang="fr-FR" dirty="0" smtClean="0"/>
              <a:t>.</a:t>
            </a:r>
            <a:endParaRPr lang="fr-FR" dirty="0"/>
          </a:p>
        </p:txBody>
      </p:sp>
      <p:sp>
        <p:nvSpPr>
          <p:cNvPr id="4" name="Espace réservé du numéro de diapositive 3"/>
          <p:cNvSpPr>
            <a:spLocks noGrp="1"/>
          </p:cNvSpPr>
          <p:nvPr>
            <p:ph type="sldNum" sz="quarter" idx="10"/>
          </p:nvPr>
        </p:nvSpPr>
        <p:spPr/>
        <p:txBody>
          <a:bodyPr/>
          <a:lstStyle/>
          <a:p>
            <a:fld id="{A66DAB28-F5B6-448C-BD12-9A49FCAAE508}" type="slidenum">
              <a:rPr lang="fr-FR" smtClean="0">
                <a:solidFill>
                  <a:prstClr val="black"/>
                </a:solidFill>
              </a:rPr>
              <a:pPr/>
              <a:t>51</a:t>
            </a:fld>
            <a:endParaRPr lang="fr-FR">
              <a:solidFill>
                <a:prstClr val="black"/>
              </a:solidFill>
            </a:endParaRPr>
          </a:p>
        </p:txBody>
      </p:sp>
    </p:spTree>
    <p:extLst>
      <p:ext uri="{BB962C8B-B14F-4D97-AF65-F5344CB8AC3E}">
        <p14:creationId xmlns:p14="http://schemas.microsoft.com/office/powerpoint/2010/main" val="16777950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fr-FR" smtClean="0"/>
              <a:t>Modifiez le style du titre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7BEF0ED-6710-4FFF-AFAC-E521FEE87BC8}" type="datetimeFigureOut">
              <a:rPr lang="fr-FR" smtClean="0">
                <a:solidFill>
                  <a:prstClr val="white">
                    <a:alpha val="60000"/>
                  </a:prstClr>
                </a:solidFill>
              </a:rPr>
              <a:pPr/>
              <a:t>21/09/2023</a:t>
            </a:fld>
            <a:endParaRPr lang="fr-FR">
              <a:solidFill>
                <a:prstClr val="white">
                  <a:alpha val="60000"/>
                </a:prstClr>
              </a:solidFill>
            </a:endParaRPr>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fr-FR">
              <a:solidFill>
                <a:prstClr val="white">
                  <a:alpha val="60000"/>
                </a:prstClr>
              </a:solidFill>
            </a:endParaRP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3337935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5" name="Footer Placeholder 4"/>
          <p:cNvSpPr>
            <a:spLocks noGrp="1"/>
          </p:cNvSpPr>
          <p:nvPr>
            <p:ph type="ftr" sz="quarter" idx="11"/>
          </p:nvPr>
        </p:nvSpPr>
        <p:spPr/>
        <p:txBody>
          <a:bodyPr/>
          <a:lstStyle/>
          <a:p>
            <a:endParaRPr lang="fr-FR">
              <a:solidFill>
                <a:srgbClr val="1CADE4"/>
              </a:solidFill>
            </a:endParaRPr>
          </a:p>
        </p:txBody>
      </p:sp>
      <p:sp>
        <p:nvSpPr>
          <p:cNvPr id="6" name="Slide Number Placeholder 5"/>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602965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5" name="Footer Placeholder 4"/>
          <p:cNvSpPr>
            <a:spLocks noGrp="1"/>
          </p:cNvSpPr>
          <p:nvPr>
            <p:ph type="ftr" sz="quarter" idx="11"/>
          </p:nvPr>
        </p:nvSpPr>
        <p:spPr/>
        <p:txBody>
          <a:bodyPr/>
          <a:lstStyle/>
          <a:p>
            <a:endParaRPr lang="fr-FR">
              <a:solidFill>
                <a:srgbClr val="1CADE4"/>
              </a:solidFill>
            </a:endParaRP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2499476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6" name="Footer Placeholder 5"/>
          <p:cNvSpPr>
            <a:spLocks noGrp="1"/>
          </p:cNvSpPr>
          <p:nvPr>
            <p:ph type="ftr" sz="quarter" idx="11"/>
          </p:nvPr>
        </p:nvSpPr>
        <p:spPr/>
        <p:txBody>
          <a:bodyPr/>
          <a:lstStyle/>
          <a:p>
            <a:endParaRPr lang="fr-FR">
              <a:solidFill>
                <a:srgbClr val="1CADE4"/>
              </a:solidFill>
            </a:endParaRPr>
          </a:p>
        </p:txBody>
      </p:sp>
      <p:sp>
        <p:nvSpPr>
          <p:cNvPr id="7" name="Slide Number Placeholder 6"/>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3816058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8" name="Footer Placeholder 7"/>
          <p:cNvSpPr>
            <a:spLocks noGrp="1"/>
          </p:cNvSpPr>
          <p:nvPr>
            <p:ph type="ftr" sz="quarter" idx="11"/>
          </p:nvPr>
        </p:nvSpPr>
        <p:spPr/>
        <p:txBody>
          <a:bodyPr/>
          <a:lstStyle/>
          <a:p>
            <a:endParaRPr lang="fr-FR">
              <a:solidFill>
                <a:srgbClr val="1CADE4"/>
              </a:solidFill>
            </a:endParaRPr>
          </a:p>
        </p:txBody>
      </p:sp>
      <p:sp>
        <p:nvSpPr>
          <p:cNvPr id="9" name="Slide Number Placeholder 8"/>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1557731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4" name="Footer Placeholder 3"/>
          <p:cNvSpPr>
            <a:spLocks noGrp="1"/>
          </p:cNvSpPr>
          <p:nvPr>
            <p:ph type="ftr" sz="quarter" idx="11"/>
          </p:nvPr>
        </p:nvSpPr>
        <p:spPr/>
        <p:txBody>
          <a:bodyPr/>
          <a:lstStyle/>
          <a:p>
            <a:endParaRPr lang="fr-FR">
              <a:solidFill>
                <a:srgbClr val="1CADE4"/>
              </a:solidFill>
            </a:endParaRPr>
          </a:p>
        </p:txBody>
      </p:sp>
      <p:sp>
        <p:nvSpPr>
          <p:cNvPr id="5" name="Slide Number Placeholder 4"/>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4093284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3" name="Footer Placeholder 2"/>
          <p:cNvSpPr>
            <a:spLocks noGrp="1"/>
          </p:cNvSpPr>
          <p:nvPr>
            <p:ph type="ftr" sz="quarter" idx="11"/>
          </p:nvPr>
        </p:nvSpPr>
        <p:spPr/>
        <p:txBody>
          <a:bodyPr/>
          <a:lstStyle/>
          <a:p>
            <a:endParaRPr lang="fr-FR">
              <a:solidFill>
                <a:srgbClr val="1CADE4"/>
              </a:solidFill>
            </a:endParaRP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2741286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fr-FR" smtClean="0"/>
              <a:t>Modifiez le style du titre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6" name="Footer Placeholder 5"/>
          <p:cNvSpPr>
            <a:spLocks noGrp="1"/>
          </p:cNvSpPr>
          <p:nvPr>
            <p:ph type="ftr" sz="quarter" idx="11"/>
          </p:nvPr>
        </p:nvSpPr>
        <p:spPr/>
        <p:txBody>
          <a:bodyPr/>
          <a:lstStyle/>
          <a:p>
            <a:endParaRPr lang="fr-FR">
              <a:solidFill>
                <a:srgbClr val="1CADE4"/>
              </a:solidFill>
            </a:endParaRP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2288849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fr-FR" smtClean="0"/>
              <a:t>Cliquez sur l'icône pour ajouter une image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6" name="Footer Placeholder 5"/>
          <p:cNvSpPr>
            <a:spLocks noGrp="1"/>
          </p:cNvSpPr>
          <p:nvPr>
            <p:ph type="ftr" sz="quarter" idx="11"/>
          </p:nvPr>
        </p:nvSpPr>
        <p:spPr/>
        <p:txBody>
          <a:bodyPr/>
          <a:lstStyle/>
          <a:p>
            <a:endParaRPr lang="fr-FR">
              <a:solidFill>
                <a:srgbClr val="1CADE4"/>
              </a:solidFill>
            </a:endParaRP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2988164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6" name="Footer Placeholder 5"/>
          <p:cNvSpPr>
            <a:spLocks noGrp="1"/>
          </p:cNvSpPr>
          <p:nvPr>
            <p:ph type="ftr" sz="quarter" idx="11"/>
          </p:nvPr>
        </p:nvSpPr>
        <p:spPr/>
        <p:txBody>
          <a:bodyPr/>
          <a:lstStyle/>
          <a:p>
            <a:endParaRPr lang="fr-FR">
              <a:solidFill>
                <a:srgbClr val="1CADE4"/>
              </a:solidFill>
            </a:endParaRP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3541097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fr-FR" smtClean="0"/>
              <a:t>Modifiez le style du titre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5" name="Footer Placeholder 4"/>
          <p:cNvSpPr>
            <a:spLocks noGrp="1"/>
          </p:cNvSpPr>
          <p:nvPr>
            <p:ph type="ftr" sz="quarter" idx="11"/>
          </p:nvPr>
        </p:nvSpPr>
        <p:spPr/>
        <p:txBody>
          <a:bodyPr/>
          <a:lstStyle/>
          <a:p>
            <a:endParaRPr lang="fr-FR">
              <a:solidFill>
                <a:srgbClr val="1CADE4"/>
              </a:solidFill>
            </a:endParaRP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299179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dirty="0">
                <a:solidFill>
                  <a:srgbClr val="1CADE4">
                    <a:lumMod val="60000"/>
                    <a:lumOff val="40000"/>
                  </a:srgb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dirty="0">
                <a:solidFill>
                  <a:srgbClr val="1CADE4">
                    <a:lumMod val="60000"/>
                    <a:lumOff val="40000"/>
                  </a:srgb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fr-FR" smtClean="0"/>
              <a:t>Modifiez le style du titre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5" name="Footer Placeholder 4"/>
          <p:cNvSpPr>
            <a:spLocks noGrp="1"/>
          </p:cNvSpPr>
          <p:nvPr>
            <p:ph type="ftr" sz="quarter" idx="11"/>
          </p:nvPr>
        </p:nvSpPr>
        <p:spPr/>
        <p:txBody>
          <a:bodyPr/>
          <a:lstStyle/>
          <a:p>
            <a:endParaRPr lang="fr-FR">
              <a:solidFill>
                <a:srgbClr val="1CADE4"/>
              </a:solidFill>
            </a:endParaRP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93127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5" name="Footer Placeholder 4"/>
          <p:cNvSpPr>
            <a:spLocks noGrp="1"/>
          </p:cNvSpPr>
          <p:nvPr>
            <p:ph type="ftr" sz="quarter" idx="11"/>
          </p:nvPr>
        </p:nvSpPr>
        <p:spPr/>
        <p:txBody>
          <a:bodyPr/>
          <a:lstStyle/>
          <a:p>
            <a:endParaRPr lang="fr-FR">
              <a:solidFill>
                <a:srgbClr val="1CADE4"/>
              </a:solidFill>
            </a:endParaRP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1300778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smtClean="0"/>
              <a:t>Modifiez le style du titre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8" name="Footer Placeholder 7"/>
          <p:cNvSpPr>
            <a:spLocks noGrp="1"/>
          </p:cNvSpPr>
          <p:nvPr>
            <p:ph type="ftr" sz="quarter" idx="11"/>
          </p:nvPr>
        </p:nvSpPr>
        <p:spPr/>
        <p:txBody>
          <a:bodyPr/>
          <a:lstStyle/>
          <a:p>
            <a:endParaRPr lang="fr-FR">
              <a:solidFill>
                <a:srgbClr val="1CADE4"/>
              </a:solidFill>
            </a:endParaRPr>
          </a:p>
        </p:txBody>
      </p:sp>
      <p:sp>
        <p:nvSpPr>
          <p:cNvPr id="9" name="Slide Number Placeholder 8"/>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30358257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smtClean="0"/>
              <a:t>Modifiez le style du titre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8" name="Footer Placeholder 7"/>
          <p:cNvSpPr>
            <a:spLocks noGrp="1"/>
          </p:cNvSpPr>
          <p:nvPr>
            <p:ph type="ftr" sz="quarter" idx="11"/>
          </p:nvPr>
        </p:nvSpPr>
        <p:spPr>
          <a:xfrm>
            <a:off x="561111" y="6391838"/>
            <a:ext cx="3644282" cy="304801"/>
          </a:xfrm>
        </p:spPr>
        <p:txBody>
          <a:bodyPr/>
          <a:lstStyle/>
          <a:p>
            <a:endParaRPr lang="fr-FR">
              <a:solidFill>
                <a:srgbClr val="1CADE4"/>
              </a:solidFill>
            </a:endParaRPr>
          </a:p>
        </p:txBody>
      </p:sp>
      <p:sp>
        <p:nvSpPr>
          <p:cNvPr id="9" name="Slide Number Placeholder 8"/>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32587174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5" name="Footer Placeholder 4"/>
          <p:cNvSpPr>
            <a:spLocks noGrp="1"/>
          </p:cNvSpPr>
          <p:nvPr>
            <p:ph type="ftr" sz="quarter" idx="11"/>
          </p:nvPr>
        </p:nvSpPr>
        <p:spPr/>
        <p:txBody>
          <a:bodyPr/>
          <a:lstStyle/>
          <a:p>
            <a:endParaRPr lang="fr-FR">
              <a:solidFill>
                <a:srgbClr val="1CADE4"/>
              </a:solidFill>
            </a:endParaRPr>
          </a:p>
        </p:txBody>
      </p:sp>
      <p:sp>
        <p:nvSpPr>
          <p:cNvPr id="6" name="Slide Number Placeholder 5"/>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19025289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fr-FR" smtClean="0"/>
              <a:t>Modifiez le style du titre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5" name="Footer Placeholder 4"/>
          <p:cNvSpPr>
            <a:spLocks noGrp="1"/>
          </p:cNvSpPr>
          <p:nvPr>
            <p:ph type="ftr" sz="quarter" idx="11"/>
          </p:nvPr>
        </p:nvSpPr>
        <p:spPr/>
        <p:txBody>
          <a:bodyPr/>
          <a:lstStyle/>
          <a:p>
            <a:endParaRPr lang="fr-FR">
              <a:solidFill>
                <a:srgbClr val="1CADE4"/>
              </a:solidFill>
            </a:endParaRP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636698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fr-FR" smtClean="0"/>
              <a:t>Modifiez le style du titre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7BEF0ED-6710-4FFF-AFAC-E521FEE87BC8}" type="datetimeFigureOut">
              <a:rPr lang="fr-FR" smtClean="0">
                <a:solidFill>
                  <a:srgbClr val="1CADE4"/>
                </a:solidFill>
              </a:rPr>
              <a:pPr/>
              <a:t>21/09/2023</a:t>
            </a:fld>
            <a:endParaRPr lang="fr-FR">
              <a:solidFill>
                <a:srgbClr val="1CADE4"/>
              </a:solidFill>
            </a:endParaRPr>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fr-FR">
              <a:solidFill>
                <a:srgbClr val="1CADE4"/>
              </a:solidFill>
            </a:endParaRP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6DCD25E1-83B0-472A-A7A8-EA609C799D5B}" type="slidenum">
              <a:rPr lang="fr-FR" smtClean="0">
                <a:solidFill>
                  <a:prstClr val="white"/>
                </a:solidFill>
              </a:rPr>
              <a:pPr/>
              <a:t>‹N°›</a:t>
            </a:fld>
            <a:endParaRPr lang="fr-FR">
              <a:solidFill>
                <a:prstClr val="white"/>
              </a:solidFill>
            </a:endParaRPr>
          </a:p>
        </p:txBody>
      </p:sp>
    </p:spTree>
    <p:extLst>
      <p:ext uri="{BB962C8B-B14F-4D97-AF65-F5344CB8AC3E}">
        <p14:creationId xmlns:p14="http://schemas.microsoft.com/office/powerpoint/2010/main" val="27198403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tif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656456" y="2479060"/>
            <a:ext cx="10245113" cy="1938992"/>
          </a:xfrm>
          <a:prstGeom prst="rect">
            <a:avLst/>
          </a:prstGeom>
          <a:ln w="38100"/>
        </p:spPr>
        <p:style>
          <a:lnRef idx="2">
            <a:schemeClr val="accent3"/>
          </a:lnRef>
          <a:fillRef idx="1">
            <a:schemeClr val="lt1"/>
          </a:fillRef>
          <a:effectRef idx="0">
            <a:schemeClr val="accent3"/>
          </a:effectRef>
          <a:fontRef idx="minor">
            <a:schemeClr val="dk1"/>
          </a:fontRef>
        </p:style>
        <p:txBody>
          <a:bodyPr>
            <a:spAutoFit/>
          </a:bodyPr>
          <a:lstStyle>
            <a:defPPr>
              <a:defRPr lang="fr-FR"/>
            </a:defPPr>
            <a:lvl1pPr algn="ctr">
              <a:defRPr sz="4000" b="1">
                <a:solidFill>
                  <a:schemeClr val="dk1"/>
                </a:solidFill>
                <a:latin typeface="Bodoni MT" panose="02070603080606020203" pitchFamily="18"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fr-FR" dirty="0">
                <a:solidFill>
                  <a:prstClr val="black"/>
                </a:solidFill>
              </a:rPr>
              <a:t>Chapitre 3: Constituants </a:t>
            </a:r>
            <a:r>
              <a:rPr lang="fr-FR" dirty="0" smtClean="0">
                <a:solidFill>
                  <a:prstClr val="black"/>
                </a:solidFill>
              </a:rPr>
              <a:t>chimiques et biochimique </a:t>
            </a:r>
            <a:r>
              <a:rPr lang="fr-FR" dirty="0">
                <a:solidFill>
                  <a:prstClr val="black"/>
                </a:solidFill>
              </a:rPr>
              <a:t>de la </a:t>
            </a:r>
            <a:r>
              <a:rPr lang="fr-FR" dirty="0" smtClean="0">
                <a:solidFill>
                  <a:prstClr val="black"/>
                </a:solidFill>
              </a:rPr>
              <a:t>cellule eucaryote</a:t>
            </a:r>
            <a:endParaRPr lang="fr-FR" dirty="0">
              <a:solidFill>
                <a:prstClr val="black"/>
              </a:solidFill>
            </a:endParaRPr>
          </a:p>
          <a:p>
            <a:endParaRPr lang="fr-FR" dirty="0">
              <a:solidFill>
                <a:prstClr val="black"/>
              </a:solidFill>
            </a:endParaRPr>
          </a:p>
        </p:txBody>
      </p:sp>
    </p:spTree>
    <p:extLst>
      <p:ext uri="{BB962C8B-B14F-4D97-AF65-F5344CB8AC3E}">
        <p14:creationId xmlns:p14="http://schemas.microsoft.com/office/powerpoint/2010/main" val="24169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160520" y="426720"/>
            <a:ext cx="2701381" cy="769441"/>
          </a:xfrm>
          <a:prstGeom prst="rect">
            <a:avLst/>
          </a:prstGeom>
          <a:noFill/>
        </p:spPr>
        <p:txBody>
          <a:bodyPr wrap="none" rtlCol="0">
            <a:spAutoFit/>
          </a:bodyPr>
          <a:lstStyle/>
          <a:p>
            <a:r>
              <a:rPr lang="fr-FR" sz="4400" b="1" dirty="0">
                <a:solidFill>
                  <a:srgbClr val="FF0000"/>
                </a:solidFill>
              </a:rPr>
              <a:t>Objectifs </a:t>
            </a:r>
            <a:endParaRPr lang="fr-FR" sz="4400" b="1" dirty="0">
              <a:solidFill>
                <a:srgbClr val="FF0000"/>
              </a:solidFill>
            </a:endParaRPr>
          </a:p>
        </p:txBody>
      </p:sp>
      <p:sp>
        <p:nvSpPr>
          <p:cNvPr id="3" name="object 3"/>
          <p:cNvSpPr txBox="1"/>
          <p:nvPr/>
        </p:nvSpPr>
        <p:spPr>
          <a:xfrm>
            <a:off x="642620" y="1942921"/>
            <a:ext cx="11244580" cy="2954655"/>
          </a:xfrm>
          <a:prstGeom prst="rect">
            <a:avLst/>
          </a:prstGeom>
        </p:spPr>
        <p:txBody>
          <a:bodyPr vert="horz" wrap="square" lIns="0" tIns="0" rIns="0" bIns="0" rtlCol="0">
            <a:spAutoFit/>
          </a:bodyPr>
          <a:lstStyle/>
          <a:p>
            <a:pPr marL="469900" indent="-457200">
              <a:lnSpc>
                <a:spcPct val="150000"/>
              </a:lnSpc>
              <a:buFont typeface="Wingdings" panose="05000000000000000000" pitchFamily="2" charset="2"/>
              <a:buChar char="Ø"/>
              <a:tabLst>
                <a:tab pos="469900" algn="l"/>
              </a:tabLst>
            </a:pPr>
            <a:r>
              <a:rPr lang="fr-FR" sz="3200" dirty="0">
                <a:solidFill>
                  <a:prstClr val="black"/>
                </a:solidFill>
                <a:cs typeface="Times New Roman" panose="02020603050405020304" pitchFamily="18" charset="0"/>
              </a:rPr>
              <a:t>Décrire les molécules minérales </a:t>
            </a:r>
          </a:p>
          <a:p>
            <a:pPr marL="469900" indent="-457200">
              <a:lnSpc>
                <a:spcPct val="150000"/>
              </a:lnSpc>
              <a:buFont typeface="Wingdings" panose="05000000000000000000" pitchFamily="2" charset="2"/>
              <a:buChar char="Ø"/>
              <a:tabLst>
                <a:tab pos="469900" algn="l"/>
              </a:tabLst>
            </a:pPr>
            <a:r>
              <a:rPr sz="3200" dirty="0">
                <a:solidFill>
                  <a:prstClr val="black"/>
                </a:solidFill>
                <a:cs typeface="Times New Roman" panose="02020603050405020304" pitchFamily="18" charset="0"/>
              </a:rPr>
              <a:t>Ci</a:t>
            </a:r>
            <a:r>
              <a:rPr sz="3200" spc="-15" dirty="0">
                <a:solidFill>
                  <a:prstClr val="black"/>
                </a:solidFill>
                <a:cs typeface="Times New Roman" panose="02020603050405020304" pitchFamily="18" charset="0"/>
              </a:rPr>
              <a:t>t</a:t>
            </a:r>
            <a:r>
              <a:rPr sz="3200" spc="5" dirty="0">
                <a:solidFill>
                  <a:prstClr val="black"/>
                </a:solidFill>
                <a:cs typeface="Times New Roman" panose="02020603050405020304" pitchFamily="18" charset="0"/>
              </a:rPr>
              <a:t>e</a:t>
            </a:r>
            <a:r>
              <a:rPr sz="3200" dirty="0">
                <a:solidFill>
                  <a:prstClr val="black"/>
                </a:solidFill>
                <a:cs typeface="Times New Roman" panose="02020603050405020304" pitchFamily="18" charset="0"/>
              </a:rPr>
              <a:t>r </a:t>
            </a:r>
            <a:r>
              <a:rPr sz="3200" dirty="0">
                <a:solidFill>
                  <a:prstClr val="black"/>
                </a:solidFill>
                <a:cs typeface="Times New Roman" panose="02020603050405020304" pitchFamily="18" charset="0"/>
              </a:rPr>
              <a:t>l</a:t>
            </a:r>
            <a:r>
              <a:rPr sz="3200" spc="5" dirty="0">
                <a:solidFill>
                  <a:prstClr val="black"/>
                </a:solidFill>
                <a:cs typeface="Times New Roman" panose="02020603050405020304" pitchFamily="18" charset="0"/>
              </a:rPr>
              <a:t>e</a:t>
            </a:r>
            <a:r>
              <a:rPr sz="3200" dirty="0">
                <a:solidFill>
                  <a:prstClr val="black"/>
                </a:solidFill>
                <a:cs typeface="Times New Roman" panose="02020603050405020304" pitchFamily="18" charset="0"/>
              </a:rPr>
              <a:t>s</a:t>
            </a:r>
            <a:r>
              <a:rPr sz="3200" spc="-5" dirty="0">
                <a:solidFill>
                  <a:prstClr val="black"/>
                </a:solidFill>
                <a:cs typeface="Times New Roman" panose="02020603050405020304" pitchFamily="18" charset="0"/>
              </a:rPr>
              <a:t> </a:t>
            </a:r>
            <a:r>
              <a:rPr sz="3200" spc="5" dirty="0">
                <a:solidFill>
                  <a:prstClr val="black"/>
                </a:solidFill>
                <a:cs typeface="Times New Roman" panose="02020603050405020304" pitchFamily="18" charset="0"/>
              </a:rPr>
              <a:t>qua</a:t>
            </a:r>
            <a:r>
              <a:rPr sz="3200" spc="-15" dirty="0">
                <a:solidFill>
                  <a:prstClr val="black"/>
                </a:solidFill>
                <a:cs typeface="Times New Roman" panose="02020603050405020304" pitchFamily="18" charset="0"/>
              </a:rPr>
              <a:t>t</a:t>
            </a:r>
            <a:r>
              <a:rPr sz="3200" spc="5" dirty="0">
                <a:solidFill>
                  <a:prstClr val="black"/>
                </a:solidFill>
                <a:cs typeface="Times New Roman" panose="02020603050405020304" pitchFamily="18" charset="0"/>
              </a:rPr>
              <a:t>r</a:t>
            </a:r>
            <a:r>
              <a:rPr sz="3200" dirty="0">
                <a:solidFill>
                  <a:prstClr val="black"/>
                </a:solidFill>
                <a:cs typeface="Times New Roman" panose="02020603050405020304" pitchFamily="18" charset="0"/>
              </a:rPr>
              <a:t>e </a:t>
            </a:r>
            <a:r>
              <a:rPr sz="3200" spc="5" dirty="0">
                <a:solidFill>
                  <a:prstClr val="black"/>
                </a:solidFill>
                <a:cs typeface="Times New Roman" panose="02020603050405020304" pitchFamily="18" charset="0"/>
              </a:rPr>
              <a:t>grande</a:t>
            </a:r>
            <a:r>
              <a:rPr sz="3200" dirty="0">
                <a:solidFill>
                  <a:prstClr val="black"/>
                </a:solidFill>
                <a:cs typeface="Times New Roman" panose="02020603050405020304" pitchFamily="18" charset="0"/>
              </a:rPr>
              <a:t>s</a:t>
            </a:r>
            <a:r>
              <a:rPr sz="3200" spc="-5" dirty="0">
                <a:solidFill>
                  <a:prstClr val="black"/>
                </a:solidFill>
                <a:cs typeface="Times New Roman" panose="02020603050405020304" pitchFamily="18" charset="0"/>
              </a:rPr>
              <a:t> </a:t>
            </a:r>
            <a:r>
              <a:rPr sz="3200" dirty="0">
                <a:solidFill>
                  <a:prstClr val="black"/>
                </a:solidFill>
                <a:cs typeface="Times New Roman" panose="02020603050405020304" pitchFamily="18" charset="0"/>
              </a:rPr>
              <a:t>c</a:t>
            </a:r>
            <a:r>
              <a:rPr sz="3200" spc="5" dirty="0">
                <a:solidFill>
                  <a:prstClr val="black"/>
                </a:solidFill>
                <a:cs typeface="Times New Roman" panose="02020603050405020304" pitchFamily="18" charset="0"/>
              </a:rPr>
              <a:t>a</a:t>
            </a:r>
            <a:r>
              <a:rPr sz="3200" spc="-15" dirty="0">
                <a:solidFill>
                  <a:prstClr val="black"/>
                </a:solidFill>
                <a:cs typeface="Times New Roman" panose="02020603050405020304" pitchFamily="18" charset="0"/>
              </a:rPr>
              <a:t>t</a:t>
            </a:r>
            <a:r>
              <a:rPr sz="3200" spc="5" dirty="0">
                <a:solidFill>
                  <a:prstClr val="black"/>
                </a:solidFill>
                <a:cs typeface="Times New Roman" panose="02020603050405020304" pitchFamily="18" charset="0"/>
              </a:rPr>
              <a:t>égor</a:t>
            </a:r>
            <a:r>
              <a:rPr sz="3200" dirty="0">
                <a:solidFill>
                  <a:prstClr val="black"/>
                </a:solidFill>
                <a:cs typeface="Times New Roman" panose="02020603050405020304" pitchFamily="18" charset="0"/>
              </a:rPr>
              <a:t>i</a:t>
            </a:r>
            <a:r>
              <a:rPr sz="3200" spc="5" dirty="0">
                <a:solidFill>
                  <a:prstClr val="black"/>
                </a:solidFill>
                <a:cs typeface="Times New Roman" panose="02020603050405020304" pitchFamily="18" charset="0"/>
              </a:rPr>
              <a:t>e</a:t>
            </a:r>
            <a:r>
              <a:rPr sz="3200" dirty="0">
                <a:solidFill>
                  <a:prstClr val="black"/>
                </a:solidFill>
                <a:cs typeface="Times New Roman" panose="02020603050405020304" pitchFamily="18" charset="0"/>
              </a:rPr>
              <a:t>s</a:t>
            </a:r>
            <a:r>
              <a:rPr sz="3200" spc="-5" dirty="0">
                <a:solidFill>
                  <a:prstClr val="black"/>
                </a:solidFill>
                <a:cs typeface="Times New Roman" panose="02020603050405020304" pitchFamily="18" charset="0"/>
              </a:rPr>
              <a:t> </a:t>
            </a:r>
            <a:r>
              <a:rPr sz="3200" spc="5" dirty="0">
                <a:solidFill>
                  <a:prstClr val="black"/>
                </a:solidFill>
                <a:cs typeface="Times New Roman" panose="02020603050405020304" pitchFamily="18" charset="0"/>
              </a:rPr>
              <a:t>d</a:t>
            </a:r>
            <a:r>
              <a:rPr sz="3200" dirty="0">
                <a:solidFill>
                  <a:prstClr val="black"/>
                </a:solidFill>
                <a:cs typeface="Times New Roman" panose="02020603050405020304" pitchFamily="18" charset="0"/>
              </a:rPr>
              <a:t>e </a:t>
            </a:r>
            <a:r>
              <a:rPr sz="3200" spc="5" dirty="0" err="1">
                <a:solidFill>
                  <a:prstClr val="black"/>
                </a:solidFill>
                <a:cs typeface="Times New Roman" panose="02020603050405020304" pitchFamily="18" charset="0"/>
              </a:rPr>
              <a:t>mo</a:t>
            </a:r>
            <a:r>
              <a:rPr sz="3200" dirty="0" err="1">
                <a:solidFill>
                  <a:prstClr val="black"/>
                </a:solidFill>
                <a:cs typeface="Times New Roman" panose="02020603050405020304" pitchFamily="18" charset="0"/>
              </a:rPr>
              <a:t>l</a:t>
            </a:r>
            <a:r>
              <a:rPr sz="3200" spc="5" dirty="0" err="1">
                <a:solidFill>
                  <a:prstClr val="black"/>
                </a:solidFill>
                <a:cs typeface="Times New Roman" panose="02020603050405020304" pitchFamily="18" charset="0"/>
              </a:rPr>
              <a:t>é</a:t>
            </a:r>
            <a:r>
              <a:rPr sz="3200" dirty="0" err="1">
                <a:solidFill>
                  <a:prstClr val="black"/>
                </a:solidFill>
                <a:cs typeface="Times New Roman" panose="02020603050405020304" pitchFamily="18" charset="0"/>
              </a:rPr>
              <a:t>c</a:t>
            </a:r>
            <a:r>
              <a:rPr sz="3200" spc="5" dirty="0" err="1">
                <a:solidFill>
                  <a:prstClr val="black"/>
                </a:solidFill>
                <a:cs typeface="Times New Roman" panose="02020603050405020304" pitchFamily="18" charset="0"/>
              </a:rPr>
              <a:t>u</a:t>
            </a:r>
            <a:r>
              <a:rPr sz="3200" dirty="0" err="1">
                <a:solidFill>
                  <a:prstClr val="black"/>
                </a:solidFill>
                <a:cs typeface="Times New Roman" panose="02020603050405020304" pitchFamily="18" charset="0"/>
              </a:rPr>
              <a:t>l</a:t>
            </a:r>
            <a:r>
              <a:rPr sz="3200" spc="5" dirty="0" err="1">
                <a:solidFill>
                  <a:prstClr val="black"/>
                </a:solidFill>
                <a:cs typeface="Times New Roman" panose="02020603050405020304" pitchFamily="18" charset="0"/>
              </a:rPr>
              <a:t>e</a:t>
            </a:r>
            <a:r>
              <a:rPr sz="3200" dirty="0" err="1">
                <a:solidFill>
                  <a:prstClr val="black"/>
                </a:solidFill>
                <a:cs typeface="Times New Roman" panose="02020603050405020304" pitchFamily="18" charset="0"/>
              </a:rPr>
              <a:t>s</a:t>
            </a:r>
            <a:r>
              <a:rPr sz="3200" spc="-5" dirty="0">
                <a:solidFill>
                  <a:prstClr val="black"/>
                </a:solidFill>
                <a:cs typeface="Times New Roman" panose="02020603050405020304" pitchFamily="18" charset="0"/>
              </a:rPr>
              <a:t> </a:t>
            </a:r>
            <a:r>
              <a:rPr sz="3200" spc="5" dirty="0" err="1">
                <a:solidFill>
                  <a:prstClr val="black"/>
                </a:solidFill>
                <a:cs typeface="Times New Roman" panose="02020603050405020304" pitchFamily="18" charset="0"/>
              </a:rPr>
              <a:t>organ</a:t>
            </a:r>
            <a:r>
              <a:rPr sz="3200" dirty="0" err="1">
                <a:solidFill>
                  <a:prstClr val="black"/>
                </a:solidFill>
                <a:cs typeface="Times New Roman" panose="02020603050405020304" pitchFamily="18" charset="0"/>
              </a:rPr>
              <a:t>i</a:t>
            </a:r>
            <a:r>
              <a:rPr sz="3200" spc="5" dirty="0" err="1">
                <a:solidFill>
                  <a:prstClr val="black"/>
                </a:solidFill>
                <a:cs typeface="Times New Roman" panose="02020603050405020304" pitchFamily="18" charset="0"/>
              </a:rPr>
              <a:t>que</a:t>
            </a:r>
            <a:r>
              <a:rPr sz="3200" dirty="0" err="1">
                <a:solidFill>
                  <a:prstClr val="black"/>
                </a:solidFill>
                <a:cs typeface="Times New Roman" panose="02020603050405020304" pitchFamily="18" charset="0"/>
              </a:rPr>
              <a:t>s</a:t>
            </a:r>
            <a:endParaRPr lang="fr-FR" sz="3200" dirty="0">
              <a:solidFill>
                <a:prstClr val="black"/>
              </a:solidFill>
              <a:cs typeface="Times New Roman" panose="02020603050405020304" pitchFamily="18" charset="0"/>
            </a:endParaRPr>
          </a:p>
          <a:p>
            <a:pPr marL="469900" indent="-457200">
              <a:lnSpc>
                <a:spcPct val="150000"/>
              </a:lnSpc>
              <a:buFont typeface="Wingdings" panose="05000000000000000000" pitchFamily="2" charset="2"/>
              <a:buChar char="Ø"/>
              <a:tabLst>
                <a:tab pos="469900" algn="l"/>
              </a:tabLst>
            </a:pPr>
            <a:r>
              <a:rPr sz="3200" dirty="0" err="1">
                <a:solidFill>
                  <a:prstClr val="black"/>
                </a:solidFill>
                <a:cs typeface="Times New Roman" panose="02020603050405020304" pitchFamily="18" charset="0"/>
              </a:rPr>
              <a:t>D</a:t>
            </a:r>
            <a:r>
              <a:rPr sz="3200" spc="5" dirty="0" err="1">
                <a:solidFill>
                  <a:prstClr val="black"/>
                </a:solidFill>
                <a:cs typeface="Times New Roman" panose="02020603050405020304" pitchFamily="18" charset="0"/>
              </a:rPr>
              <a:t>é</a:t>
            </a:r>
            <a:r>
              <a:rPr sz="3200" dirty="0" err="1">
                <a:solidFill>
                  <a:prstClr val="black"/>
                </a:solidFill>
                <a:cs typeface="Times New Roman" panose="02020603050405020304" pitchFamily="18" charset="0"/>
              </a:rPr>
              <a:t>c</a:t>
            </a:r>
            <a:r>
              <a:rPr sz="3200" spc="5" dirty="0" err="1">
                <a:solidFill>
                  <a:prstClr val="black"/>
                </a:solidFill>
                <a:cs typeface="Times New Roman" panose="02020603050405020304" pitchFamily="18" charset="0"/>
              </a:rPr>
              <a:t>r</a:t>
            </a:r>
            <a:r>
              <a:rPr sz="3200" dirty="0" err="1">
                <a:solidFill>
                  <a:prstClr val="black"/>
                </a:solidFill>
                <a:cs typeface="Times New Roman" panose="02020603050405020304" pitchFamily="18" charset="0"/>
              </a:rPr>
              <a:t>i</a:t>
            </a:r>
            <a:r>
              <a:rPr sz="3200" spc="5" dirty="0" err="1">
                <a:solidFill>
                  <a:prstClr val="black"/>
                </a:solidFill>
                <a:cs typeface="Times New Roman" panose="02020603050405020304" pitchFamily="18" charset="0"/>
              </a:rPr>
              <a:t>r</a:t>
            </a:r>
            <a:r>
              <a:rPr sz="3200" dirty="0" err="1">
                <a:solidFill>
                  <a:prstClr val="black"/>
                </a:solidFill>
                <a:cs typeface="Times New Roman" panose="02020603050405020304" pitchFamily="18" charset="0"/>
              </a:rPr>
              <a:t>e</a:t>
            </a:r>
            <a:r>
              <a:rPr sz="3200" dirty="0">
                <a:solidFill>
                  <a:prstClr val="black"/>
                </a:solidFill>
                <a:cs typeface="Times New Roman" panose="02020603050405020304" pitchFamily="18" charset="0"/>
              </a:rPr>
              <a:t> </a:t>
            </a:r>
            <a:r>
              <a:rPr sz="3200" dirty="0">
                <a:solidFill>
                  <a:prstClr val="black"/>
                </a:solidFill>
                <a:cs typeface="Times New Roman" panose="02020603050405020304" pitchFamily="18" charset="0"/>
              </a:rPr>
              <a:t>l</a:t>
            </a:r>
            <a:r>
              <a:rPr sz="3200" spc="5" dirty="0">
                <a:solidFill>
                  <a:prstClr val="black"/>
                </a:solidFill>
                <a:cs typeface="Times New Roman" panose="02020603050405020304" pitchFamily="18" charset="0"/>
              </a:rPr>
              <a:t>e</a:t>
            </a:r>
            <a:r>
              <a:rPr sz="3200" dirty="0">
                <a:solidFill>
                  <a:prstClr val="black"/>
                </a:solidFill>
                <a:cs typeface="Times New Roman" panose="02020603050405020304" pitchFamily="18" charset="0"/>
              </a:rPr>
              <a:t>s</a:t>
            </a:r>
            <a:r>
              <a:rPr sz="3200" spc="-5" dirty="0">
                <a:solidFill>
                  <a:prstClr val="black"/>
                </a:solidFill>
                <a:cs typeface="Times New Roman" panose="02020603050405020304" pitchFamily="18" charset="0"/>
              </a:rPr>
              <a:t> </a:t>
            </a:r>
            <a:r>
              <a:rPr sz="3200" dirty="0">
                <a:solidFill>
                  <a:prstClr val="black"/>
                </a:solidFill>
                <a:cs typeface="Times New Roman" panose="02020603050405020304" pitchFamily="18" charset="0"/>
              </a:rPr>
              <a:t>c</a:t>
            </a:r>
            <a:r>
              <a:rPr sz="3200" spc="5" dirty="0">
                <a:solidFill>
                  <a:prstClr val="black"/>
                </a:solidFill>
                <a:cs typeface="Times New Roman" panose="02020603050405020304" pitchFamily="18" charset="0"/>
              </a:rPr>
              <a:t>on</a:t>
            </a:r>
            <a:r>
              <a:rPr sz="3200" spc="-15" dirty="0">
                <a:solidFill>
                  <a:prstClr val="black"/>
                </a:solidFill>
                <a:cs typeface="Times New Roman" panose="02020603050405020304" pitchFamily="18" charset="0"/>
              </a:rPr>
              <a:t>st</a:t>
            </a:r>
            <a:r>
              <a:rPr sz="3200" dirty="0">
                <a:solidFill>
                  <a:prstClr val="black"/>
                </a:solidFill>
                <a:cs typeface="Times New Roman" panose="02020603050405020304" pitchFamily="18" charset="0"/>
              </a:rPr>
              <a:t>i</a:t>
            </a:r>
            <a:r>
              <a:rPr sz="3200" spc="-15" dirty="0">
                <a:solidFill>
                  <a:prstClr val="black"/>
                </a:solidFill>
                <a:cs typeface="Times New Roman" panose="02020603050405020304" pitchFamily="18" charset="0"/>
              </a:rPr>
              <a:t>t</a:t>
            </a:r>
            <a:r>
              <a:rPr sz="3200" spc="5" dirty="0">
                <a:solidFill>
                  <a:prstClr val="black"/>
                </a:solidFill>
                <a:cs typeface="Times New Roman" panose="02020603050405020304" pitchFamily="18" charset="0"/>
              </a:rPr>
              <a:t>uan</a:t>
            </a:r>
            <a:r>
              <a:rPr sz="3200" spc="-15" dirty="0">
                <a:solidFill>
                  <a:prstClr val="black"/>
                </a:solidFill>
                <a:cs typeface="Times New Roman" panose="02020603050405020304" pitchFamily="18" charset="0"/>
              </a:rPr>
              <a:t>t</a:t>
            </a:r>
            <a:r>
              <a:rPr sz="3200" dirty="0">
                <a:solidFill>
                  <a:prstClr val="black"/>
                </a:solidFill>
                <a:cs typeface="Times New Roman" panose="02020603050405020304" pitchFamily="18" charset="0"/>
              </a:rPr>
              <a:t>s</a:t>
            </a:r>
            <a:r>
              <a:rPr sz="3200" spc="-5" dirty="0">
                <a:solidFill>
                  <a:prstClr val="black"/>
                </a:solidFill>
                <a:cs typeface="Times New Roman" panose="02020603050405020304" pitchFamily="18" charset="0"/>
              </a:rPr>
              <a:t> </a:t>
            </a:r>
            <a:r>
              <a:rPr sz="3200" spc="5" dirty="0">
                <a:solidFill>
                  <a:prstClr val="black"/>
                </a:solidFill>
                <a:cs typeface="Times New Roman" panose="02020603050405020304" pitchFamily="18" charset="0"/>
              </a:rPr>
              <a:t>un</a:t>
            </a:r>
            <a:r>
              <a:rPr sz="3200" dirty="0">
                <a:solidFill>
                  <a:prstClr val="black"/>
                </a:solidFill>
                <a:cs typeface="Times New Roman" panose="02020603050405020304" pitchFamily="18" charset="0"/>
              </a:rPr>
              <a:t>i</a:t>
            </a:r>
            <a:r>
              <a:rPr sz="3200" spc="-15" dirty="0">
                <a:solidFill>
                  <a:prstClr val="black"/>
                </a:solidFill>
                <a:cs typeface="Times New Roman" panose="02020603050405020304" pitchFamily="18" charset="0"/>
              </a:rPr>
              <a:t>t</a:t>
            </a:r>
            <a:r>
              <a:rPr sz="3200" spc="5" dirty="0">
                <a:solidFill>
                  <a:prstClr val="black"/>
                </a:solidFill>
                <a:cs typeface="Times New Roman" panose="02020603050405020304" pitchFamily="18" charset="0"/>
              </a:rPr>
              <a:t>a</a:t>
            </a:r>
            <a:r>
              <a:rPr sz="3200" dirty="0">
                <a:solidFill>
                  <a:prstClr val="black"/>
                </a:solidFill>
                <a:cs typeface="Times New Roman" panose="02020603050405020304" pitchFamily="18" charset="0"/>
              </a:rPr>
              <a:t>i</a:t>
            </a:r>
            <a:r>
              <a:rPr sz="3200" spc="5" dirty="0">
                <a:solidFill>
                  <a:prstClr val="black"/>
                </a:solidFill>
                <a:cs typeface="Times New Roman" panose="02020603050405020304" pitchFamily="18" charset="0"/>
              </a:rPr>
              <a:t>re</a:t>
            </a:r>
            <a:r>
              <a:rPr sz="3200" dirty="0">
                <a:solidFill>
                  <a:prstClr val="black"/>
                </a:solidFill>
                <a:cs typeface="Times New Roman" panose="02020603050405020304" pitchFamily="18" charset="0"/>
              </a:rPr>
              <a:t>s</a:t>
            </a:r>
            <a:r>
              <a:rPr sz="3200" spc="-5" dirty="0">
                <a:solidFill>
                  <a:prstClr val="black"/>
                </a:solidFill>
                <a:cs typeface="Times New Roman" panose="02020603050405020304" pitchFamily="18" charset="0"/>
              </a:rPr>
              <a:t> </a:t>
            </a:r>
            <a:r>
              <a:rPr sz="3200" spc="5" dirty="0">
                <a:solidFill>
                  <a:prstClr val="black"/>
                </a:solidFill>
                <a:cs typeface="Times New Roman" panose="02020603050405020304" pitchFamily="18" charset="0"/>
              </a:rPr>
              <a:t>de</a:t>
            </a:r>
            <a:r>
              <a:rPr sz="3200" dirty="0">
                <a:solidFill>
                  <a:prstClr val="black"/>
                </a:solidFill>
                <a:cs typeface="Times New Roman" panose="02020603050405020304" pitchFamily="18" charset="0"/>
              </a:rPr>
              <a:t>s</a:t>
            </a:r>
            <a:r>
              <a:rPr sz="3200" spc="-5" dirty="0">
                <a:solidFill>
                  <a:prstClr val="black"/>
                </a:solidFill>
                <a:cs typeface="Times New Roman" panose="02020603050405020304" pitchFamily="18" charset="0"/>
              </a:rPr>
              <a:t> </a:t>
            </a:r>
            <a:r>
              <a:rPr sz="3200" spc="5" dirty="0" err="1">
                <a:solidFill>
                  <a:prstClr val="black"/>
                </a:solidFill>
                <a:cs typeface="Times New Roman" panose="02020603050405020304" pitchFamily="18" charset="0"/>
              </a:rPr>
              <a:t>mo</a:t>
            </a:r>
            <a:r>
              <a:rPr sz="3200" dirty="0" err="1">
                <a:solidFill>
                  <a:prstClr val="black"/>
                </a:solidFill>
                <a:cs typeface="Times New Roman" panose="02020603050405020304" pitchFamily="18" charset="0"/>
              </a:rPr>
              <a:t>l</a:t>
            </a:r>
            <a:r>
              <a:rPr sz="3200" spc="5" dirty="0" err="1">
                <a:solidFill>
                  <a:prstClr val="black"/>
                </a:solidFill>
                <a:cs typeface="Times New Roman" panose="02020603050405020304" pitchFamily="18" charset="0"/>
              </a:rPr>
              <a:t>é</a:t>
            </a:r>
            <a:r>
              <a:rPr sz="3200" dirty="0" err="1">
                <a:solidFill>
                  <a:prstClr val="black"/>
                </a:solidFill>
                <a:cs typeface="Times New Roman" panose="02020603050405020304" pitchFamily="18" charset="0"/>
              </a:rPr>
              <a:t>c</a:t>
            </a:r>
            <a:r>
              <a:rPr sz="3200" spc="5" dirty="0" err="1">
                <a:solidFill>
                  <a:prstClr val="black"/>
                </a:solidFill>
                <a:cs typeface="Times New Roman" panose="02020603050405020304" pitchFamily="18" charset="0"/>
              </a:rPr>
              <a:t>u</a:t>
            </a:r>
            <a:r>
              <a:rPr sz="3200" dirty="0" err="1">
                <a:solidFill>
                  <a:prstClr val="black"/>
                </a:solidFill>
                <a:cs typeface="Times New Roman" panose="02020603050405020304" pitchFamily="18" charset="0"/>
              </a:rPr>
              <a:t>l</a:t>
            </a:r>
            <a:r>
              <a:rPr sz="3200" spc="5" dirty="0" err="1">
                <a:solidFill>
                  <a:prstClr val="black"/>
                </a:solidFill>
                <a:cs typeface="Times New Roman" panose="02020603050405020304" pitchFamily="18" charset="0"/>
              </a:rPr>
              <a:t>e</a:t>
            </a:r>
            <a:r>
              <a:rPr sz="3200" dirty="0" err="1">
                <a:solidFill>
                  <a:prstClr val="black"/>
                </a:solidFill>
                <a:cs typeface="Times New Roman" panose="02020603050405020304" pitchFamily="18" charset="0"/>
              </a:rPr>
              <a:t>s</a:t>
            </a:r>
            <a:r>
              <a:rPr sz="3200" spc="-5" dirty="0">
                <a:solidFill>
                  <a:prstClr val="black"/>
                </a:solidFill>
                <a:cs typeface="Times New Roman" panose="02020603050405020304" pitchFamily="18" charset="0"/>
              </a:rPr>
              <a:t> </a:t>
            </a:r>
            <a:r>
              <a:rPr sz="3200" spc="5" dirty="0" err="1">
                <a:solidFill>
                  <a:prstClr val="black"/>
                </a:solidFill>
                <a:cs typeface="Times New Roman" panose="02020603050405020304" pitchFamily="18" charset="0"/>
              </a:rPr>
              <a:t>organ</a:t>
            </a:r>
            <a:r>
              <a:rPr sz="3200" dirty="0" err="1">
                <a:solidFill>
                  <a:prstClr val="black"/>
                </a:solidFill>
                <a:cs typeface="Times New Roman" panose="02020603050405020304" pitchFamily="18" charset="0"/>
              </a:rPr>
              <a:t>i</a:t>
            </a:r>
            <a:r>
              <a:rPr sz="3200" spc="5" dirty="0" err="1">
                <a:solidFill>
                  <a:prstClr val="black"/>
                </a:solidFill>
                <a:cs typeface="Times New Roman" panose="02020603050405020304" pitchFamily="18" charset="0"/>
              </a:rPr>
              <a:t>que</a:t>
            </a:r>
            <a:r>
              <a:rPr sz="3200" dirty="0" err="1">
                <a:solidFill>
                  <a:prstClr val="black"/>
                </a:solidFill>
                <a:cs typeface="Times New Roman" panose="02020603050405020304" pitchFamily="18" charset="0"/>
              </a:rPr>
              <a:t>s</a:t>
            </a:r>
            <a:endParaRPr lang="fr-FR" sz="3200" dirty="0">
              <a:solidFill>
                <a:prstClr val="black"/>
              </a:solidFill>
              <a:cs typeface="Times New Roman" panose="02020603050405020304" pitchFamily="18" charset="0"/>
            </a:endParaRPr>
          </a:p>
          <a:p>
            <a:pPr marL="469900" indent="-457200">
              <a:lnSpc>
                <a:spcPct val="150000"/>
              </a:lnSpc>
              <a:buFont typeface="Wingdings" panose="05000000000000000000" pitchFamily="2" charset="2"/>
              <a:buChar char="Ø"/>
              <a:tabLst>
                <a:tab pos="469900" algn="l"/>
              </a:tabLst>
            </a:pPr>
            <a:r>
              <a:rPr lang="fr-FR" sz="3200" dirty="0">
                <a:solidFill>
                  <a:prstClr val="black"/>
                </a:solidFill>
                <a:cs typeface="Times New Roman" panose="02020603050405020304" pitchFamily="18" charset="0"/>
              </a:rPr>
              <a:t>Décrire leurs rôles dans la cellule </a:t>
            </a:r>
            <a:endParaRPr sz="3200" dirty="0">
              <a:solidFill>
                <a:prstClr val="black"/>
              </a:solidFill>
              <a:cs typeface="Times New Roman" panose="02020603050405020304" pitchFamily="18" charset="0"/>
            </a:endParaRPr>
          </a:p>
        </p:txBody>
      </p:sp>
    </p:spTree>
    <p:extLst>
      <p:ext uri="{BB962C8B-B14F-4D97-AF65-F5344CB8AC3E}">
        <p14:creationId xmlns:p14="http://schemas.microsoft.com/office/powerpoint/2010/main" val="4191609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0" y="1066860"/>
            <a:ext cx="11551920" cy="4524315"/>
          </a:xfrm>
          <a:prstGeom prst="rect">
            <a:avLst/>
          </a:prstGeom>
        </p:spPr>
        <p:txBody>
          <a:bodyPr wrap="square">
            <a:spAutoFit/>
          </a:bodyPr>
          <a:lstStyle/>
          <a:p>
            <a:pPr marL="457200" indent="-457200" algn="just">
              <a:lnSpc>
                <a:spcPct val="150000"/>
              </a:lnSpc>
              <a:buFontTx/>
              <a:buChar char="-"/>
            </a:pPr>
            <a:r>
              <a:rPr lang="fr-FR" sz="3200" dirty="0">
                <a:solidFill>
                  <a:prstClr val="black"/>
                </a:solidFill>
              </a:rPr>
              <a:t>Les </a:t>
            </a:r>
            <a:r>
              <a:rPr lang="fr-FR" sz="3200" dirty="0">
                <a:solidFill>
                  <a:prstClr val="black"/>
                </a:solidFill>
              </a:rPr>
              <a:t>cellules consistent principalement en </a:t>
            </a:r>
            <a:r>
              <a:rPr lang="fr-FR" sz="3200" b="1" dirty="0">
                <a:solidFill>
                  <a:srgbClr val="FF0000"/>
                </a:solidFill>
              </a:rPr>
              <a:t>eau</a:t>
            </a:r>
            <a:r>
              <a:rPr lang="fr-FR" sz="3200" dirty="0">
                <a:solidFill>
                  <a:prstClr val="black"/>
                </a:solidFill>
              </a:rPr>
              <a:t>, représentant jusqu'à 90% de leur poids </a:t>
            </a:r>
            <a:r>
              <a:rPr lang="fr-FR" sz="3200" dirty="0">
                <a:solidFill>
                  <a:prstClr val="black"/>
                </a:solidFill>
              </a:rPr>
              <a:t>total. </a:t>
            </a:r>
          </a:p>
          <a:p>
            <a:pPr marL="457200" indent="-457200" algn="just">
              <a:lnSpc>
                <a:spcPct val="150000"/>
              </a:lnSpc>
              <a:buFontTx/>
              <a:buChar char="-"/>
            </a:pPr>
            <a:r>
              <a:rPr lang="fr-FR" sz="3200" dirty="0">
                <a:solidFill>
                  <a:prstClr val="black"/>
                </a:solidFill>
              </a:rPr>
              <a:t>Toutes </a:t>
            </a:r>
            <a:r>
              <a:rPr lang="fr-FR" sz="3200" dirty="0">
                <a:solidFill>
                  <a:prstClr val="black"/>
                </a:solidFill>
              </a:rPr>
              <a:t>les réactions chimiques qui se produisent à l'intérieur des cellules se déroulent dans un </a:t>
            </a:r>
            <a:r>
              <a:rPr lang="fr-FR" sz="3200" b="1" dirty="0">
                <a:solidFill>
                  <a:srgbClr val="FF0000"/>
                </a:solidFill>
              </a:rPr>
              <a:t>environnement </a:t>
            </a:r>
            <a:r>
              <a:rPr lang="fr-FR" sz="3200" b="1" dirty="0">
                <a:solidFill>
                  <a:srgbClr val="FF0000"/>
                </a:solidFill>
              </a:rPr>
              <a:t>aqueux</a:t>
            </a:r>
            <a:r>
              <a:rPr lang="fr-FR" sz="3200" dirty="0">
                <a:solidFill>
                  <a:prstClr val="black"/>
                </a:solidFill>
              </a:rPr>
              <a:t>.</a:t>
            </a:r>
          </a:p>
          <a:p>
            <a:pPr marL="457200" indent="-457200" algn="just">
              <a:lnSpc>
                <a:spcPct val="150000"/>
              </a:lnSpc>
              <a:buFontTx/>
              <a:buChar char="-"/>
            </a:pPr>
            <a:r>
              <a:rPr lang="fr-FR" sz="3200" dirty="0">
                <a:solidFill>
                  <a:prstClr val="black"/>
                </a:solidFill>
              </a:rPr>
              <a:t>L'eau </a:t>
            </a:r>
            <a:r>
              <a:rPr lang="fr-FR" sz="3200" dirty="0">
                <a:solidFill>
                  <a:prstClr val="black"/>
                </a:solidFill>
              </a:rPr>
              <a:t>et les sels minéraux sont considérés comme </a:t>
            </a:r>
            <a:r>
              <a:rPr lang="fr-FR" sz="3200" b="1" dirty="0">
                <a:solidFill>
                  <a:srgbClr val="FF0000"/>
                </a:solidFill>
              </a:rPr>
              <a:t>les composants minéraux essentiels. </a:t>
            </a:r>
            <a:endParaRPr lang="fr-FR" sz="3200" b="1" dirty="0">
              <a:solidFill>
                <a:srgbClr val="FF0000"/>
              </a:solidFill>
            </a:endParaRPr>
          </a:p>
        </p:txBody>
      </p:sp>
      <p:sp>
        <p:nvSpPr>
          <p:cNvPr id="3" name="ZoneTexte 2"/>
          <p:cNvSpPr txBox="1"/>
          <p:nvPr/>
        </p:nvSpPr>
        <p:spPr>
          <a:xfrm>
            <a:off x="670560" y="304800"/>
            <a:ext cx="2462534" cy="646331"/>
          </a:xfrm>
          <a:prstGeom prst="rect">
            <a:avLst/>
          </a:prstGeom>
          <a:noFill/>
        </p:spPr>
        <p:txBody>
          <a:bodyPr wrap="none" rtlCol="0">
            <a:spAutoFit/>
          </a:bodyPr>
          <a:lstStyle/>
          <a:p>
            <a:r>
              <a:rPr lang="fr-FR" sz="3600" dirty="0">
                <a:solidFill>
                  <a:srgbClr val="FF0000"/>
                </a:solidFill>
              </a:rPr>
              <a:t>Généralités </a:t>
            </a:r>
            <a:endParaRPr lang="fr-FR" sz="3600" dirty="0">
              <a:solidFill>
                <a:srgbClr val="FF0000"/>
              </a:solidFill>
            </a:endParaRPr>
          </a:p>
        </p:txBody>
      </p:sp>
    </p:spTree>
    <p:extLst>
      <p:ext uri="{BB962C8B-B14F-4D97-AF65-F5344CB8AC3E}">
        <p14:creationId xmlns:p14="http://schemas.microsoft.com/office/powerpoint/2010/main" val="2385117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20" y="1059656"/>
            <a:ext cx="11292840" cy="5262979"/>
          </a:xfrm>
          <a:prstGeom prst="rect">
            <a:avLst/>
          </a:prstGeom>
        </p:spPr>
        <p:txBody>
          <a:bodyPr wrap="square">
            <a:spAutoFit/>
          </a:bodyPr>
          <a:lstStyle/>
          <a:p>
            <a:pPr marL="457200" indent="-457200" algn="just">
              <a:lnSpc>
                <a:spcPct val="150000"/>
              </a:lnSpc>
              <a:buFontTx/>
              <a:buChar char="-"/>
            </a:pPr>
            <a:r>
              <a:rPr lang="fr-FR" sz="2800" dirty="0">
                <a:solidFill>
                  <a:prstClr val="black"/>
                </a:solidFill>
              </a:rPr>
              <a:t>En formant des liaisons avec l'hydrogène, l'oxygène, l'azote (et d'autres atomes en moindre quantité), </a:t>
            </a:r>
            <a:r>
              <a:rPr lang="fr-FR" sz="2800" dirty="0">
                <a:solidFill>
                  <a:prstClr val="black"/>
                </a:solidFill>
              </a:rPr>
              <a:t> les </a:t>
            </a:r>
            <a:r>
              <a:rPr lang="fr-FR" sz="2800" dirty="0">
                <a:solidFill>
                  <a:prstClr val="black"/>
                </a:solidFill>
              </a:rPr>
              <a:t>atomes de carbone sont à l'origine des quatre principales catégories de molécules présentes dans les cellules : </a:t>
            </a:r>
            <a:endParaRPr lang="fr-FR" sz="2800" dirty="0">
              <a:solidFill>
                <a:prstClr val="black"/>
              </a:solidFill>
            </a:endParaRPr>
          </a:p>
          <a:p>
            <a:pPr marL="457200" indent="-457200" algn="just">
              <a:lnSpc>
                <a:spcPct val="150000"/>
              </a:lnSpc>
              <a:buFontTx/>
              <a:buChar char="-"/>
            </a:pPr>
            <a:r>
              <a:rPr lang="fr-FR" sz="2800" b="1" dirty="0">
                <a:solidFill>
                  <a:srgbClr val="002060"/>
                </a:solidFill>
                <a:effectLst>
                  <a:outerShdw blurRad="38100" dist="38100" dir="2700000" algn="tl">
                    <a:srgbClr val="000000">
                      <a:alpha val="43137"/>
                    </a:srgbClr>
                  </a:outerShdw>
                </a:effectLst>
              </a:rPr>
              <a:t>les </a:t>
            </a:r>
            <a:r>
              <a:rPr lang="fr-FR" sz="2800" b="1" dirty="0">
                <a:solidFill>
                  <a:srgbClr val="002060"/>
                </a:solidFill>
                <a:effectLst>
                  <a:outerShdw blurRad="38100" dist="38100" dir="2700000" algn="tl">
                    <a:srgbClr val="000000">
                      <a:alpha val="43137"/>
                    </a:srgbClr>
                  </a:outerShdw>
                </a:effectLst>
              </a:rPr>
              <a:t>protéines, </a:t>
            </a:r>
            <a:endParaRPr lang="fr-FR" sz="2800" b="1" dirty="0">
              <a:solidFill>
                <a:srgbClr val="002060"/>
              </a:solidFill>
              <a:effectLst>
                <a:outerShdw blurRad="38100" dist="38100" dir="2700000" algn="tl">
                  <a:srgbClr val="000000">
                    <a:alpha val="43137"/>
                  </a:srgbClr>
                </a:outerShdw>
              </a:effectLst>
            </a:endParaRPr>
          </a:p>
          <a:p>
            <a:pPr marL="457200" indent="-457200" algn="just">
              <a:lnSpc>
                <a:spcPct val="150000"/>
              </a:lnSpc>
              <a:buFontTx/>
              <a:buChar char="-"/>
            </a:pPr>
            <a:r>
              <a:rPr lang="fr-FR" sz="2800" b="1" dirty="0">
                <a:solidFill>
                  <a:srgbClr val="002060"/>
                </a:solidFill>
                <a:effectLst>
                  <a:outerShdw blurRad="38100" dist="38100" dir="2700000" algn="tl">
                    <a:srgbClr val="000000">
                      <a:alpha val="43137"/>
                    </a:srgbClr>
                  </a:outerShdw>
                </a:effectLst>
              </a:rPr>
              <a:t>les </a:t>
            </a:r>
            <a:r>
              <a:rPr lang="fr-FR" sz="2800" b="1" dirty="0">
                <a:solidFill>
                  <a:srgbClr val="002060"/>
                </a:solidFill>
                <a:effectLst>
                  <a:outerShdw blurRad="38100" dist="38100" dir="2700000" algn="tl">
                    <a:srgbClr val="000000">
                      <a:alpha val="43137"/>
                    </a:srgbClr>
                  </a:outerShdw>
                </a:effectLst>
              </a:rPr>
              <a:t>lipides, </a:t>
            </a:r>
            <a:endParaRPr lang="fr-FR" sz="2800" b="1" dirty="0">
              <a:solidFill>
                <a:srgbClr val="002060"/>
              </a:solidFill>
              <a:effectLst>
                <a:outerShdw blurRad="38100" dist="38100" dir="2700000" algn="tl">
                  <a:srgbClr val="000000">
                    <a:alpha val="43137"/>
                  </a:srgbClr>
                </a:outerShdw>
              </a:effectLst>
            </a:endParaRPr>
          </a:p>
          <a:p>
            <a:pPr marL="457200" indent="-457200" algn="just">
              <a:lnSpc>
                <a:spcPct val="150000"/>
              </a:lnSpc>
              <a:buFontTx/>
              <a:buChar char="-"/>
            </a:pPr>
            <a:r>
              <a:rPr lang="fr-FR" sz="2800" b="1" dirty="0">
                <a:solidFill>
                  <a:srgbClr val="002060"/>
                </a:solidFill>
                <a:effectLst>
                  <a:outerShdw blurRad="38100" dist="38100" dir="2700000" algn="tl">
                    <a:srgbClr val="000000">
                      <a:alpha val="43137"/>
                    </a:srgbClr>
                  </a:outerShdw>
                </a:effectLst>
              </a:rPr>
              <a:t>les glucides</a:t>
            </a:r>
          </a:p>
          <a:p>
            <a:pPr marL="457200" indent="-457200" algn="just">
              <a:lnSpc>
                <a:spcPct val="150000"/>
              </a:lnSpc>
              <a:buFontTx/>
              <a:buChar char="-"/>
            </a:pPr>
            <a:r>
              <a:rPr lang="fr-FR" sz="2800" b="1" dirty="0">
                <a:solidFill>
                  <a:srgbClr val="002060"/>
                </a:solidFill>
                <a:effectLst>
                  <a:outerShdw blurRad="38100" dist="38100" dir="2700000" algn="tl">
                    <a:srgbClr val="000000">
                      <a:alpha val="43137"/>
                    </a:srgbClr>
                  </a:outerShdw>
                </a:effectLst>
              </a:rPr>
              <a:t>les </a:t>
            </a:r>
            <a:r>
              <a:rPr lang="fr-FR" sz="2800" b="1" dirty="0">
                <a:solidFill>
                  <a:srgbClr val="002060"/>
                </a:solidFill>
                <a:effectLst>
                  <a:outerShdw blurRad="38100" dist="38100" dir="2700000" algn="tl">
                    <a:srgbClr val="000000">
                      <a:alpha val="43137"/>
                    </a:srgbClr>
                  </a:outerShdw>
                </a:effectLst>
              </a:rPr>
              <a:t>acides nucléiques.</a:t>
            </a:r>
            <a:r>
              <a:rPr lang="fr-FR" sz="2800" dirty="0">
                <a:solidFill>
                  <a:prstClr val="black"/>
                </a:solidFill>
              </a:rPr>
              <a:t> </a:t>
            </a:r>
            <a:endParaRPr lang="fr-FR" sz="2800" dirty="0">
              <a:solidFill>
                <a:prstClr val="black"/>
              </a:solidFill>
            </a:endParaRPr>
          </a:p>
          <a:p>
            <a:pPr marL="457200" indent="-457200" algn="just">
              <a:lnSpc>
                <a:spcPct val="150000"/>
              </a:lnSpc>
              <a:buFontTx/>
              <a:buChar char="-"/>
            </a:pPr>
            <a:r>
              <a:rPr lang="fr-FR" sz="2800" dirty="0">
                <a:solidFill>
                  <a:prstClr val="black"/>
                </a:solidFill>
              </a:rPr>
              <a:t>Ces </a:t>
            </a:r>
            <a:r>
              <a:rPr lang="fr-FR" sz="2800" dirty="0">
                <a:solidFill>
                  <a:prstClr val="black"/>
                </a:solidFill>
              </a:rPr>
              <a:t>molécules sont ce que l'on appelle </a:t>
            </a:r>
            <a:r>
              <a:rPr lang="fr-FR" sz="2800" b="1" dirty="0">
                <a:solidFill>
                  <a:srgbClr val="FF0000"/>
                </a:solidFill>
              </a:rPr>
              <a:t>des composés organiques.</a:t>
            </a:r>
          </a:p>
        </p:txBody>
      </p:sp>
      <p:sp>
        <p:nvSpPr>
          <p:cNvPr id="4" name="ZoneTexte 3"/>
          <p:cNvSpPr txBox="1"/>
          <p:nvPr/>
        </p:nvSpPr>
        <p:spPr>
          <a:xfrm>
            <a:off x="670560" y="304800"/>
            <a:ext cx="2462534" cy="646331"/>
          </a:xfrm>
          <a:prstGeom prst="rect">
            <a:avLst/>
          </a:prstGeom>
          <a:noFill/>
        </p:spPr>
        <p:txBody>
          <a:bodyPr wrap="none" rtlCol="0">
            <a:spAutoFit/>
          </a:bodyPr>
          <a:lstStyle/>
          <a:p>
            <a:r>
              <a:rPr lang="fr-FR" sz="3600" dirty="0">
                <a:solidFill>
                  <a:srgbClr val="FF0000"/>
                </a:solidFill>
              </a:rPr>
              <a:t>Généralités </a:t>
            </a:r>
            <a:endParaRPr lang="fr-FR" sz="3600" dirty="0">
              <a:solidFill>
                <a:srgbClr val="FF0000"/>
              </a:solidFill>
            </a:endParaRPr>
          </a:p>
        </p:txBody>
      </p:sp>
    </p:spTree>
    <p:extLst>
      <p:ext uri="{BB962C8B-B14F-4D97-AF65-F5344CB8AC3E}">
        <p14:creationId xmlns:p14="http://schemas.microsoft.com/office/powerpoint/2010/main" val="87684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2066836"/>
            <a:ext cx="10972800" cy="1955407"/>
          </a:xfrm>
          <a:prstGeom prst="rect">
            <a:avLst/>
          </a:prstGeom>
        </p:spPr>
        <p:txBody>
          <a:bodyPr wrap="square">
            <a:spAutoFit/>
          </a:bodyPr>
          <a:lstStyle/>
          <a:p>
            <a:pPr>
              <a:lnSpc>
                <a:spcPct val="150000"/>
              </a:lnSpc>
            </a:pPr>
            <a:r>
              <a:rPr lang="fr-FR" sz="2800" dirty="0">
                <a:solidFill>
                  <a:prstClr val="black"/>
                </a:solidFill>
              </a:rPr>
              <a:t>La cellule est constituée à la fois </a:t>
            </a:r>
            <a:r>
              <a:rPr lang="fr-FR" sz="2800" dirty="0">
                <a:solidFill>
                  <a:srgbClr val="FF0000"/>
                </a:solidFill>
              </a:rPr>
              <a:t>d'éléments minéraux </a:t>
            </a:r>
            <a:r>
              <a:rPr lang="fr-FR" sz="2800" dirty="0">
                <a:solidFill>
                  <a:prstClr val="black"/>
                </a:solidFill>
              </a:rPr>
              <a:t>et </a:t>
            </a:r>
            <a:r>
              <a:rPr lang="fr-FR" sz="2800" dirty="0">
                <a:solidFill>
                  <a:srgbClr val="FF0000"/>
                </a:solidFill>
              </a:rPr>
              <a:t>d'éléments organiques </a:t>
            </a:r>
            <a:r>
              <a:rPr lang="fr-FR" sz="2800" dirty="0">
                <a:solidFill>
                  <a:prstClr val="black"/>
                </a:solidFill>
              </a:rPr>
              <a:t>qui jouent un rôle </a:t>
            </a:r>
            <a:r>
              <a:rPr lang="fr-FR" sz="2800" dirty="0">
                <a:solidFill>
                  <a:prstClr val="black"/>
                </a:solidFill>
              </a:rPr>
              <a:t>fondamental </a:t>
            </a:r>
            <a:r>
              <a:rPr lang="fr-FR" sz="2800" dirty="0">
                <a:solidFill>
                  <a:prstClr val="black"/>
                </a:solidFill>
              </a:rPr>
              <a:t>dans les processus de </a:t>
            </a:r>
            <a:r>
              <a:rPr lang="fr-FR" sz="2800" dirty="0">
                <a:solidFill>
                  <a:prstClr val="black"/>
                </a:solidFill>
              </a:rPr>
              <a:t>synthèse (</a:t>
            </a:r>
            <a:r>
              <a:rPr lang="fr-FR" sz="2800" b="1" dirty="0">
                <a:solidFill>
                  <a:srgbClr val="7030A0"/>
                </a:solidFill>
              </a:rPr>
              <a:t>anabolisme</a:t>
            </a:r>
            <a:r>
              <a:rPr lang="fr-FR" sz="2800" dirty="0">
                <a:solidFill>
                  <a:prstClr val="black"/>
                </a:solidFill>
              </a:rPr>
              <a:t>) et de </a:t>
            </a:r>
            <a:r>
              <a:rPr lang="fr-FR" sz="2800" dirty="0">
                <a:solidFill>
                  <a:prstClr val="black"/>
                </a:solidFill>
              </a:rPr>
              <a:t>dégradation (</a:t>
            </a:r>
            <a:r>
              <a:rPr lang="fr-FR" sz="2800" b="1" dirty="0">
                <a:solidFill>
                  <a:srgbClr val="7030A0"/>
                </a:solidFill>
              </a:rPr>
              <a:t>catabolisme</a:t>
            </a:r>
            <a:r>
              <a:rPr lang="fr-FR" sz="2800" dirty="0">
                <a:solidFill>
                  <a:prstClr val="black"/>
                </a:solidFill>
              </a:rPr>
              <a:t>).</a:t>
            </a:r>
          </a:p>
        </p:txBody>
      </p:sp>
      <p:sp>
        <p:nvSpPr>
          <p:cNvPr id="4" name="ZoneTexte 3"/>
          <p:cNvSpPr txBox="1"/>
          <p:nvPr/>
        </p:nvSpPr>
        <p:spPr>
          <a:xfrm>
            <a:off x="670560" y="304800"/>
            <a:ext cx="2462534" cy="646331"/>
          </a:xfrm>
          <a:prstGeom prst="rect">
            <a:avLst/>
          </a:prstGeom>
          <a:noFill/>
        </p:spPr>
        <p:txBody>
          <a:bodyPr wrap="none" rtlCol="0">
            <a:spAutoFit/>
          </a:bodyPr>
          <a:lstStyle/>
          <a:p>
            <a:r>
              <a:rPr lang="fr-FR" sz="3600" dirty="0">
                <a:solidFill>
                  <a:srgbClr val="FF0000"/>
                </a:solidFill>
              </a:rPr>
              <a:t>Généralités </a:t>
            </a:r>
            <a:endParaRPr lang="fr-FR" sz="3600" dirty="0">
              <a:solidFill>
                <a:srgbClr val="FF0000"/>
              </a:solidFill>
            </a:endParaRPr>
          </a:p>
        </p:txBody>
      </p:sp>
    </p:spTree>
    <p:extLst>
      <p:ext uri="{BB962C8B-B14F-4D97-AF65-F5344CB8AC3E}">
        <p14:creationId xmlns:p14="http://schemas.microsoft.com/office/powerpoint/2010/main" val="348934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p:cNvGraphicFramePr>
            <a:graphicFrameLocks noGrp="1"/>
          </p:cNvGraphicFramePr>
          <p:nvPr>
            <p:extLst/>
          </p:nvPr>
        </p:nvGraphicFramePr>
        <p:xfrm>
          <a:off x="351541" y="1776031"/>
          <a:ext cx="10972800" cy="4450080"/>
        </p:xfrm>
        <a:graphic>
          <a:graphicData uri="http://schemas.openxmlformats.org/drawingml/2006/table">
            <a:tbl>
              <a:tblPr firstRow="1" bandRow="1">
                <a:tableStyleId>{2A488322-F2BA-4B5B-9748-0D474271808F}</a:tableStyleId>
              </a:tblPr>
              <a:tblGrid>
                <a:gridCol w="5486400"/>
                <a:gridCol w="5486400"/>
              </a:tblGrid>
              <a:tr h="944880">
                <a:tc>
                  <a:txBody>
                    <a:bodyPr/>
                    <a:lstStyle/>
                    <a:p>
                      <a:pPr marL="1426210" marR="799465" indent="-618490">
                        <a:lnSpc>
                          <a:spcPts val="3310"/>
                        </a:lnSpc>
                      </a:pPr>
                      <a:r>
                        <a:rPr sz="2800" spc="-5" dirty="0"/>
                        <a:t>El</a:t>
                      </a:r>
                      <a:r>
                        <a:rPr sz="2800" spc="5" dirty="0"/>
                        <a:t>é</a:t>
                      </a:r>
                      <a:r>
                        <a:rPr sz="2800" spc="-5" dirty="0"/>
                        <a:t>m</a:t>
                      </a:r>
                      <a:r>
                        <a:rPr sz="2800" spc="5" dirty="0"/>
                        <a:t>e</a:t>
                      </a:r>
                      <a:r>
                        <a:rPr sz="2800" dirty="0"/>
                        <a:t>n</a:t>
                      </a:r>
                      <a:r>
                        <a:rPr sz="2800" spc="5" dirty="0"/>
                        <a:t>t</a:t>
                      </a:r>
                      <a:r>
                        <a:rPr sz="2800" dirty="0"/>
                        <a:t>s de </a:t>
                      </a:r>
                      <a:r>
                        <a:rPr sz="2800" spc="-5" dirty="0"/>
                        <a:t>l</a:t>
                      </a:r>
                      <a:r>
                        <a:rPr sz="2800" dirty="0"/>
                        <a:t>a </a:t>
                      </a:r>
                      <a:r>
                        <a:rPr sz="2800" spc="-5" dirty="0"/>
                        <a:t>m</a:t>
                      </a:r>
                      <a:r>
                        <a:rPr sz="2800" spc="5" dirty="0"/>
                        <a:t>at</a:t>
                      </a:r>
                      <a:r>
                        <a:rPr sz="2800" spc="-5" dirty="0"/>
                        <a:t>i</a:t>
                      </a:r>
                      <a:r>
                        <a:rPr sz="2800" spc="5" dirty="0"/>
                        <a:t>è</a:t>
                      </a:r>
                      <a:r>
                        <a:rPr sz="2800" spc="-5" dirty="0"/>
                        <a:t>r</a:t>
                      </a:r>
                      <a:r>
                        <a:rPr sz="2800" dirty="0"/>
                        <a:t>e </a:t>
                      </a:r>
                      <a:r>
                        <a:rPr sz="2800" spc="-5" dirty="0"/>
                        <a:t>mi</a:t>
                      </a:r>
                      <a:r>
                        <a:rPr sz="2800" dirty="0"/>
                        <a:t>n</a:t>
                      </a:r>
                      <a:r>
                        <a:rPr sz="2800" spc="5" dirty="0"/>
                        <a:t>é</a:t>
                      </a:r>
                      <a:r>
                        <a:rPr sz="2800" spc="-5" dirty="0"/>
                        <a:t>r</a:t>
                      </a:r>
                      <a:r>
                        <a:rPr sz="2800" spc="5" dirty="0"/>
                        <a:t>a</a:t>
                      </a:r>
                      <a:r>
                        <a:rPr sz="2800" spc="-5" dirty="0"/>
                        <a:t>l</a:t>
                      </a:r>
                      <a:r>
                        <a:rPr sz="2800" dirty="0"/>
                        <a:t>e (~</a:t>
                      </a:r>
                      <a:r>
                        <a:rPr sz="2800" spc="-5" dirty="0"/>
                        <a:t> </a:t>
                      </a:r>
                      <a:r>
                        <a:rPr sz="2800" spc="5" dirty="0"/>
                        <a:t>2</a:t>
                      </a:r>
                      <a:r>
                        <a:rPr sz="2800" spc="-5" dirty="0"/>
                        <a:t>%)</a:t>
                      </a:r>
                      <a:endParaRPr sz="2800">
                        <a:latin typeface="Arial"/>
                        <a:cs typeface="Arial"/>
                      </a:endParaRPr>
                    </a:p>
                  </a:txBody>
                  <a:tcPr marL="0" marR="0" marT="0" marB="0"/>
                </a:tc>
                <a:tc>
                  <a:txBody>
                    <a:bodyPr/>
                    <a:lstStyle/>
                    <a:p>
                      <a:pPr marL="515620" marR="509270" indent="133985">
                        <a:lnSpc>
                          <a:spcPts val="3310"/>
                        </a:lnSpc>
                      </a:pPr>
                      <a:r>
                        <a:rPr sz="2800" spc="-5" dirty="0"/>
                        <a:t>El</a:t>
                      </a:r>
                      <a:r>
                        <a:rPr sz="2800" spc="5" dirty="0"/>
                        <a:t>é</a:t>
                      </a:r>
                      <a:r>
                        <a:rPr sz="2800" spc="-5" dirty="0"/>
                        <a:t>m</a:t>
                      </a:r>
                      <a:r>
                        <a:rPr sz="2800" spc="5" dirty="0"/>
                        <a:t>e</a:t>
                      </a:r>
                      <a:r>
                        <a:rPr sz="2800" dirty="0"/>
                        <a:t>n</a:t>
                      </a:r>
                      <a:r>
                        <a:rPr sz="2800" spc="5" dirty="0"/>
                        <a:t>t</a:t>
                      </a:r>
                      <a:r>
                        <a:rPr sz="2800" dirty="0"/>
                        <a:t>s </a:t>
                      </a:r>
                      <a:r>
                        <a:rPr sz="2800" spc="5" dirty="0"/>
                        <a:t>at</a:t>
                      </a:r>
                      <a:r>
                        <a:rPr sz="2800" dirty="0"/>
                        <a:t>o</a:t>
                      </a:r>
                      <a:r>
                        <a:rPr sz="2800" spc="-5" dirty="0"/>
                        <a:t>mi</a:t>
                      </a:r>
                      <a:r>
                        <a:rPr sz="2800" dirty="0"/>
                        <a:t>que de </a:t>
                      </a:r>
                      <a:r>
                        <a:rPr sz="2800" spc="-5" dirty="0"/>
                        <a:t>l</a:t>
                      </a:r>
                      <a:r>
                        <a:rPr sz="2800" dirty="0"/>
                        <a:t>a </a:t>
                      </a:r>
                      <a:r>
                        <a:rPr sz="2800" spc="-5" dirty="0"/>
                        <a:t>m</a:t>
                      </a:r>
                      <a:r>
                        <a:rPr sz="2800" spc="5" dirty="0"/>
                        <a:t>a</a:t>
                      </a:r>
                      <a:r>
                        <a:rPr sz="2800" dirty="0"/>
                        <a:t>t</a:t>
                      </a:r>
                      <a:r>
                        <a:rPr sz="2800" spc="-5" dirty="0"/>
                        <a:t>i</a:t>
                      </a:r>
                      <a:r>
                        <a:rPr sz="2800" spc="5" dirty="0"/>
                        <a:t>è</a:t>
                      </a:r>
                      <a:r>
                        <a:rPr sz="2800" spc="-5" dirty="0"/>
                        <a:t>r</a:t>
                      </a:r>
                      <a:r>
                        <a:rPr sz="2800" dirty="0"/>
                        <a:t>e o</a:t>
                      </a:r>
                      <a:r>
                        <a:rPr sz="2800" spc="-5" dirty="0"/>
                        <a:t>r</a:t>
                      </a:r>
                      <a:r>
                        <a:rPr sz="2800" dirty="0"/>
                        <a:t>g</a:t>
                      </a:r>
                      <a:r>
                        <a:rPr sz="2800" spc="5" dirty="0"/>
                        <a:t>a</a:t>
                      </a:r>
                      <a:r>
                        <a:rPr sz="2800" dirty="0"/>
                        <a:t>n</a:t>
                      </a:r>
                      <a:r>
                        <a:rPr sz="2800" spc="-5" dirty="0"/>
                        <a:t>i</a:t>
                      </a:r>
                      <a:r>
                        <a:rPr sz="2800" dirty="0"/>
                        <a:t>que (~</a:t>
                      </a:r>
                      <a:r>
                        <a:rPr sz="2800" spc="-5" dirty="0"/>
                        <a:t> </a:t>
                      </a:r>
                      <a:r>
                        <a:rPr sz="2800" spc="5" dirty="0"/>
                        <a:t>98</a:t>
                      </a:r>
                      <a:r>
                        <a:rPr sz="2800" spc="-5" dirty="0"/>
                        <a:t>%)</a:t>
                      </a:r>
                      <a:endParaRPr sz="2800" dirty="0">
                        <a:latin typeface="Arial"/>
                        <a:cs typeface="Arial"/>
                      </a:endParaRPr>
                    </a:p>
                  </a:txBody>
                  <a:tcPr marL="0" marR="0" marT="0" marB="0"/>
                </a:tc>
              </a:tr>
              <a:tr h="3505200">
                <a:tc>
                  <a:txBody>
                    <a:bodyPr/>
                    <a:lstStyle/>
                    <a:p>
                      <a:pPr marL="370840" indent="-285750">
                        <a:lnSpc>
                          <a:spcPts val="3335"/>
                        </a:lnSpc>
                        <a:buFont typeface="Arial"/>
                        <a:buChar char="•"/>
                        <a:tabLst>
                          <a:tab pos="370840" algn="l"/>
                        </a:tabLst>
                      </a:pPr>
                      <a:r>
                        <a:rPr sz="2800" dirty="0"/>
                        <a:t>C</a:t>
                      </a:r>
                      <a:r>
                        <a:rPr sz="2800" spc="5" dirty="0"/>
                        <a:t>a</a:t>
                      </a:r>
                      <a:r>
                        <a:rPr sz="2800" dirty="0"/>
                        <a:t>lci</a:t>
                      </a:r>
                      <a:r>
                        <a:rPr sz="2800" spc="5" dirty="0"/>
                        <a:t>u</a:t>
                      </a:r>
                      <a:r>
                        <a:rPr sz="2800" dirty="0"/>
                        <a:t>m </a:t>
                      </a:r>
                      <a:r>
                        <a:rPr sz="2800" spc="5" dirty="0"/>
                        <a:t>(</a:t>
                      </a:r>
                      <a:r>
                        <a:rPr sz="2800" dirty="0"/>
                        <a:t>C</a:t>
                      </a:r>
                      <a:r>
                        <a:rPr sz="2800" spc="5" dirty="0"/>
                        <a:t>a</a:t>
                      </a:r>
                      <a:r>
                        <a:rPr sz="2850" spc="-30" baseline="23391" dirty="0"/>
                        <a:t>2</a:t>
                      </a:r>
                      <a:r>
                        <a:rPr sz="2850" spc="-37" baseline="23391" dirty="0"/>
                        <a:t>+</a:t>
                      </a:r>
                      <a:r>
                        <a:rPr sz="2800" dirty="0"/>
                        <a:t>)</a:t>
                      </a:r>
                      <a:endParaRPr sz="2800"/>
                    </a:p>
                    <a:p>
                      <a:pPr marL="370840" indent="-285750">
                        <a:lnSpc>
                          <a:spcPts val="3335"/>
                        </a:lnSpc>
                        <a:buFont typeface="Arial"/>
                        <a:buChar char="•"/>
                        <a:tabLst>
                          <a:tab pos="370840" algn="l"/>
                          <a:tab pos="1618615" algn="l"/>
                        </a:tabLst>
                      </a:pPr>
                      <a:r>
                        <a:rPr sz="2800" dirty="0"/>
                        <a:t>C</a:t>
                      </a:r>
                      <a:r>
                        <a:rPr sz="2800" spc="5" dirty="0"/>
                        <a:t>h</a:t>
                      </a:r>
                      <a:r>
                        <a:rPr sz="2800" dirty="0"/>
                        <a:t>l</a:t>
                      </a:r>
                      <a:r>
                        <a:rPr sz="2800" spc="5" dirty="0"/>
                        <a:t>or</a:t>
                      </a:r>
                      <a:r>
                        <a:rPr sz="2800" dirty="0"/>
                        <a:t>e	</a:t>
                      </a:r>
                      <a:r>
                        <a:rPr sz="2800" spc="5" dirty="0"/>
                        <a:t>(</a:t>
                      </a:r>
                      <a:r>
                        <a:rPr sz="2800" dirty="0"/>
                        <a:t>C</a:t>
                      </a:r>
                      <a:r>
                        <a:rPr sz="2800" spc="-5" dirty="0"/>
                        <a:t>l</a:t>
                      </a:r>
                      <a:r>
                        <a:rPr sz="2850" spc="-15" baseline="23391" dirty="0"/>
                        <a:t>-</a:t>
                      </a:r>
                      <a:r>
                        <a:rPr sz="2800" dirty="0"/>
                        <a:t>)</a:t>
                      </a:r>
                      <a:endParaRPr sz="2800"/>
                    </a:p>
                    <a:p>
                      <a:pPr marL="370840" indent="-285750">
                        <a:lnSpc>
                          <a:spcPct val="100000"/>
                        </a:lnSpc>
                        <a:spcBef>
                          <a:spcPts val="20"/>
                        </a:spcBef>
                        <a:buFont typeface="Arial"/>
                        <a:buChar char="•"/>
                        <a:tabLst>
                          <a:tab pos="370840" algn="l"/>
                        </a:tabLst>
                      </a:pPr>
                      <a:r>
                        <a:rPr sz="2800" spc="5" dirty="0"/>
                        <a:t>Magné</a:t>
                      </a:r>
                      <a:r>
                        <a:rPr sz="2800" dirty="0"/>
                        <a:t>si</a:t>
                      </a:r>
                      <a:r>
                        <a:rPr sz="2800" spc="5" dirty="0"/>
                        <a:t>u</a:t>
                      </a:r>
                      <a:r>
                        <a:rPr sz="2800" dirty="0"/>
                        <a:t>m </a:t>
                      </a:r>
                      <a:r>
                        <a:rPr sz="2800" spc="5" dirty="0"/>
                        <a:t>(Mg</a:t>
                      </a:r>
                      <a:r>
                        <a:rPr sz="2850" spc="-30" baseline="23391" dirty="0"/>
                        <a:t>2</a:t>
                      </a:r>
                      <a:r>
                        <a:rPr sz="2850" spc="-37" baseline="23391" dirty="0"/>
                        <a:t>+</a:t>
                      </a:r>
                      <a:r>
                        <a:rPr sz="2800" dirty="0"/>
                        <a:t>)</a:t>
                      </a:r>
                      <a:endParaRPr sz="2800"/>
                    </a:p>
                    <a:p>
                      <a:pPr marL="370840" indent="-285750">
                        <a:lnSpc>
                          <a:spcPts val="3325"/>
                        </a:lnSpc>
                        <a:spcBef>
                          <a:spcPts val="45"/>
                        </a:spcBef>
                        <a:buFont typeface="Arial"/>
                        <a:buChar char="•"/>
                        <a:tabLst>
                          <a:tab pos="370840" algn="l"/>
                        </a:tabLst>
                      </a:pPr>
                      <a:r>
                        <a:rPr sz="2800" dirty="0"/>
                        <a:t>Fer (F</a:t>
                      </a:r>
                      <a:r>
                        <a:rPr sz="2800" spc="5" dirty="0"/>
                        <a:t>e</a:t>
                      </a:r>
                      <a:r>
                        <a:rPr sz="2850" spc="-30" baseline="23391" dirty="0"/>
                        <a:t>2</a:t>
                      </a:r>
                      <a:r>
                        <a:rPr sz="2850" spc="-37" baseline="23391" dirty="0"/>
                        <a:t>+</a:t>
                      </a:r>
                      <a:r>
                        <a:rPr sz="2800" dirty="0"/>
                        <a:t>)</a:t>
                      </a:r>
                      <a:endParaRPr sz="2800"/>
                    </a:p>
                    <a:p>
                      <a:pPr marL="370840" indent="-285750">
                        <a:lnSpc>
                          <a:spcPts val="3325"/>
                        </a:lnSpc>
                        <a:buFont typeface="Arial"/>
                        <a:buChar char="•"/>
                        <a:tabLst>
                          <a:tab pos="370840" algn="l"/>
                        </a:tabLst>
                      </a:pPr>
                      <a:r>
                        <a:rPr sz="2800" spc="-5" dirty="0"/>
                        <a:t>P</a:t>
                      </a:r>
                      <a:r>
                        <a:rPr sz="2800" spc="5" dirty="0"/>
                        <a:t>o</a:t>
                      </a:r>
                      <a:r>
                        <a:rPr sz="2800" spc="-5" dirty="0"/>
                        <a:t>t</a:t>
                      </a:r>
                      <a:r>
                        <a:rPr sz="2800" spc="5" dirty="0"/>
                        <a:t>a</a:t>
                      </a:r>
                      <a:r>
                        <a:rPr sz="2800" dirty="0"/>
                        <a:t>ssi</a:t>
                      </a:r>
                      <a:r>
                        <a:rPr sz="2800" spc="5" dirty="0"/>
                        <a:t>u</a:t>
                      </a:r>
                      <a:r>
                        <a:rPr sz="2800" dirty="0"/>
                        <a:t>m </a:t>
                      </a:r>
                      <a:r>
                        <a:rPr sz="2800" spc="5" dirty="0"/>
                        <a:t>(</a:t>
                      </a:r>
                      <a:r>
                        <a:rPr sz="2800" spc="-5" dirty="0"/>
                        <a:t>K</a:t>
                      </a:r>
                      <a:r>
                        <a:rPr sz="2850" spc="-37" baseline="23391" dirty="0"/>
                        <a:t>+</a:t>
                      </a:r>
                      <a:r>
                        <a:rPr sz="2800" dirty="0"/>
                        <a:t>)</a:t>
                      </a:r>
                      <a:endParaRPr sz="2800"/>
                    </a:p>
                    <a:p>
                      <a:pPr marL="370840" indent="-285750">
                        <a:lnSpc>
                          <a:spcPts val="3335"/>
                        </a:lnSpc>
                        <a:spcBef>
                          <a:spcPts val="45"/>
                        </a:spcBef>
                        <a:buFont typeface="Arial"/>
                        <a:buChar char="•"/>
                        <a:tabLst>
                          <a:tab pos="370840" algn="l"/>
                        </a:tabLst>
                      </a:pPr>
                      <a:r>
                        <a:rPr sz="2800" spc="-5" dirty="0"/>
                        <a:t>S</a:t>
                      </a:r>
                      <a:r>
                        <a:rPr sz="2800" spc="5" dirty="0"/>
                        <a:t>od</a:t>
                      </a:r>
                      <a:r>
                        <a:rPr sz="2800" dirty="0"/>
                        <a:t>i</a:t>
                      </a:r>
                      <a:r>
                        <a:rPr sz="2800" spc="5" dirty="0"/>
                        <a:t>u</a:t>
                      </a:r>
                      <a:r>
                        <a:rPr sz="2800" dirty="0"/>
                        <a:t>m </a:t>
                      </a:r>
                      <a:r>
                        <a:rPr sz="2800" spc="5" dirty="0"/>
                        <a:t>(</a:t>
                      </a:r>
                      <a:r>
                        <a:rPr sz="2800" dirty="0"/>
                        <a:t>Na</a:t>
                      </a:r>
                      <a:r>
                        <a:rPr sz="2850" spc="-37" baseline="23391" dirty="0"/>
                        <a:t>+</a:t>
                      </a:r>
                      <a:r>
                        <a:rPr sz="2800" dirty="0"/>
                        <a:t>)</a:t>
                      </a:r>
                      <a:endParaRPr sz="2800"/>
                    </a:p>
                    <a:p>
                      <a:pPr marL="370840" indent="-285750">
                        <a:lnSpc>
                          <a:spcPts val="2405"/>
                        </a:lnSpc>
                        <a:buFont typeface="Arial"/>
                        <a:buChar char="•"/>
                        <a:tabLst>
                          <a:tab pos="370840" algn="l"/>
                        </a:tabLst>
                      </a:pPr>
                      <a:r>
                        <a:rPr sz="2800" spc="-5" dirty="0"/>
                        <a:t>P</a:t>
                      </a:r>
                      <a:r>
                        <a:rPr sz="2800" spc="5" dirty="0"/>
                        <a:t>ho</a:t>
                      </a:r>
                      <a:r>
                        <a:rPr sz="2800" dirty="0"/>
                        <a:t>s</a:t>
                      </a:r>
                      <a:r>
                        <a:rPr sz="2800" spc="5" dirty="0"/>
                        <a:t>pha</a:t>
                      </a:r>
                      <a:r>
                        <a:rPr sz="2800" spc="-5" dirty="0"/>
                        <a:t>t</a:t>
                      </a:r>
                      <a:r>
                        <a:rPr sz="2800" dirty="0"/>
                        <a:t>e </a:t>
                      </a:r>
                      <a:r>
                        <a:rPr sz="2800" spc="5" dirty="0"/>
                        <a:t>(</a:t>
                      </a:r>
                      <a:r>
                        <a:rPr sz="2800" spc="-5" dirty="0"/>
                        <a:t>P</a:t>
                      </a:r>
                      <a:r>
                        <a:rPr sz="2800" dirty="0"/>
                        <a:t>O</a:t>
                      </a:r>
                      <a:r>
                        <a:rPr sz="2800" spc="254" dirty="0"/>
                        <a:t> </a:t>
                      </a:r>
                      <a:r>
                        <a:rPr sz="2850" spc="-30" baseline="23391" dirty="0"/>
                        <a:t>3</a:t>
                      </a:r>
                      <a:r>
                        <a:rPr sz="2850" spc="-15" baseline="23391" dirty="0"/>
                        <a:t>-</a:t>
                      </a:r>
                      <a:r>
                        <a:rPr sz="2800" dirty="0"/>
                        <a:t>)</a:t>
                      </a:r>
                      <a:endParaRPr sz="2800"/>
                    </a:p>
                    <a:p>
                      <a:pPr marL="269240" algn="ctr">
                        <a:lnSpc>
                          <a:spcPts val="1350"/>
                        </a:lnSpc>
                      </a:pPr>
                      <a:r>
                        <a:rPr sz="1900" dirty="0"/>
                        <a:t>4</a:t>
                      </a:r>
                      <a:endParaRPr sz="1900">
                        <a:latin typeface="Arial"/>
                        <a:cs typeface="Arial"/>
                      </a:endParaRPr>
                    </a:p>
                  </a:txBody>
                  <a:tcPr marL="0" marR="0" marT="0" marB="0"/>
                </a:tc>
                <a:tc>
                  <a:txBody>
                    <a:bodyPr/>
                    <a:lstStyle/>
                    <a:p>
                      <a:pPr marL="84455">
                        <a:lnSpc>
                          <a:spcPts val="3335"/>
                        </a:lnSpc>
                        <a:tabLst>
                          <a:tab pos="370205" algn="l"/>
                          <a:tab pos="2824480" algn="l"/>
                        </a:tabLst>
                      </a:pPr>
                      <a:r>
                        <a:rPr sz="2800" dirty="0"/>
                        <a:t>•	C</a:t>
                      </a:r>
                      <a:r>
                        <a:rPr sz="2800" spc="5" dirty="0"/>
                        <a:t>arbon</a:t>
                      </a:r>
                      <a:r>
                        <a:rPr sz="2800" dirty="0"/>
                        <a:t>e </a:t>
                      </a:r>
                      <a:r>
                        <a:rPr sz="2800" spc="5" dirty="0"/>
                        <a:t>(</a:t>
                      </a:r>
                      <a:r>
                        <a:rPr sz="2800" dirty="0"/>
                        <a:t>C)	……</a:t>
                      </a:r>
                      <a:r>
                        <a:rPr sz="2800" spc="-5" dirty="0"/>
                        <a:t>.</a:t>
                      </a:r>
                      <a:r>
                        <a:rPr sz="2800" dirty="0"/>
                        <a:t>…</a:t>
                      </a:r>
                      <a:r>
                        <a:rPr sz="2800" spc="-5" dirty="0"/>
                        <a:t> </a:t>
                      </a:r>
                      <a:r>
                        <a:rPr sz="2800" dirty="0"/>
                        <a:t>~</a:t>
                      </a:r>
                      <a:r>
                        <a:rPr sz="2800" spc="5" dirty="0"/>
                        <a:t>20</a:t>
                      </a:r>
                      <a:r>
                        <a:rPr sz="2800" dirty="0"/>
                        <a:t>%</a:t>
                      </a:r>
                    </a:p>
                    <a:p>
                      <a:pPr marL="370840" indent="-285750">
                        <a:lnSpc>
                          <a:spcPts val="3335"/>
                        </a:lnSpc>
                        <a:buFont typeface="Arial"/>
                        <a:buChar char="•"/>
                        <a:tabLst>
                          <a:tab pos="370840" algn="l"/>
                        </a:tabLst>
                      </a:pPr>
                      <a:r>
                        <a:rPr sz="2800" dirty="0"/>
                        <a:t>Hy</a:t>
                      </a:r>
                      <a:r>
                        <a:rPr sz="2800" spc="5" dirty="0"/>
                        <a:t>drogèn</a:t>
                      </a:r>
                      <a:r>
                        <a:rPr sz="2800" dirty="0"/>
                        <a:t>e </a:t>
                      </a:r>
                      <a:r>
                        <a:rPr sz="2800" spc="5" dirty="0"/>
                        <a:t>(</a:t>
                      </a:r>
                      <a:r>
                        <a:rPr sz="2800" dirty="0"/>
                        <a:t>H) ……….</a:t>
                      </a:r>
                      <a:r>
                        <a:rPr sz="2800" spc="-10" dirty="0"/>
                        <a:t> </a:t>
                      </a:r>
                      <a:r>
                        <a:rPr sz="2800" dirty="0"/>
                        <a:t>~</a:t>
                      </a:r>
                      <a:r>
                        <a:rPr sz="2800" spc="-5" dirty="0"/>
                        <a:t> </a:t>
                      </a:r>
                      <a:r>
                        <a:rPr sz="2800" spc="5" dirty="0"/>
                        <a:t>10</a:t>
                      </a:r>
                      <a:r>
                        <a:rPr sz="2800" dirty="0"/>
                        <a:t>%</a:t>
                      </a:r>
                    </a:p>
                    <a:p>
                      <a:pPr marL="84455">
                        <a:lnSpc>
                          <a:spcPct val="100000"/>
                        </a:lnSpc>
                        <a:spcBef>
                          <a:spcPts val="20"/>
                        </a:spcBef>
                        <a:tabLst>
                          <a:tab pos="370205" algn="l"/>
                          <a:tab pos="2802255" algn="l"/>
                        </a:tabLst>
                      </a:pPr>
                      <a:r>
                        <a:rPr sz="2800" dirty="0"/>
                        <a:t>•	</a:t>
                      </a:r>
                      <a:r>
                        <a:rPr sz="2800" spc="-5" dirty="0"/>
                        <a:t>O</a:t>
                      </a:r>
                      <a:r>
                        <a:rPr sz="2800" dirty="0"/>
                        <a:t>xy</a:t>
                      </a:r>
                      <a:r>
                        <a:rPr sz="2800" spc="5" dirty="0"/>
                        <a:t>gèn</a:t>
                      </a:r>
                      <a:r>
                        <a:rPr sz="2800" dirty="0"/>
                        <a:t>e </a:t>
                      </a:r>
                      <a:r>
                        <a:rPr sz="2800" spc="5" dirty="0"/>
                        <a:t>(</a:t>
                      </a:r>
                      <a:r>
                        <a:rPr sz="2800" spc="-5" dirty="0"/>
                        <a:t>O</a:t>
                      </a:r>
                      <a:r>
                        <a:rPr sz="2800" dirty="0"/>
                        <a:t>)	……….</a:t>
                      </a:r>
                      <a:r>
                        <a:rPr sz="2800" spc="-10" dirty="0"/>
                        <a:t> </a:t>
                      </a:r>
                      <a:r>
                        <a:rPr sz="2800" dirty="0"/>
                        <a:t>~</a:t>
                      </a:r>
                      <a:r>
                        <a:rPr sz="2800" spc="5" dirty="0"/>
                        <a:t>63</a:t>
                      </a:r>
                      <a:r>
                        <a:rPr sz="2800" dirty="0"/>
                        <a:t>%</a:t>
                      </a:r>
                    </a:p>
                    <a:p>
                      <a:pPr marL="84455">
                        <a:lnSpc>
                          <a:spcPts val="3325"/>
                        </a:lnSpc>
                        <a:spcBef>
                          <a:spcPts val="45"/>
                        </a:spcBef>
                        <a:tabLst>
                          <a:tab pos="370205" algn="l"/>
                          <a:tab pos="2780030" algn="l"/>
                        </a:tabLst>
                      </a:pPr>
                      <a:r>
                        <a:rPr sz="2800" dirty="0"/>
                        <a:t>•	</a:t>
                      </a:r>
                      <a:r>
                        <a:rPr sz="2800" spc="-5" dirty="0"/>
                        <a:t>S</a:t>
                      </a:r>
                      <a:r>
                        <a:rPr sz="2800" spc="5" dirty="0"/>
                        <a:t>ou</a:t>
                      </a:r>
                      <a:r>
                        <a:rPr sz="2800" spc="-5" dirty="0"/>
                        <a:t>f</a:t>
                      </a:r>
                      <a:r>
                        <a:rPr sz="2800" spc="5" dirty="0"/>
                        <a:t>r</a:t>
                      </a:r>
                      <a:r>
                        <a:rPr sz="2800" dirty="0"/>
                        <a:t>e </a:t>
                      </a:r>
                      <a:r>
                        <a:rPr sz="2800" spc="5" dirty="0"/>
                        <a:t>(</a:t>
                      </a:r>
                      <a:r>
                        <a:rPr sz="2800" spc="-5" dirty="0"/>
                        <a:t>S</a:t>
                      </a:r>
                      <a:r>
                        <a:rPr sz="2800" dirty="0"/>
                        <a:t>)	……….</a:t>
                      </a:r>
                      <a:r>
                        <a:rPr sz="2800" spc="-10" dirty="0"/>
                        <a:t> </a:t>
                      </a:r>
                      <a:r>
                        <a:rPr sz="2800" spc="5" dirty="0"/>
                        <a:t>0</a:t>
                      </a:r>
                      <a:r>
                        <a:rPr sz="2800" spc="-5" dirty="0"/>
                        <a:t>.</a:t>
                      </a:r>
                      <a:r>
                        <a:rPr sz="2800" spc="5" dirty="0"/>
                        <a:t>6</a:t>
                      </a:r>
                      <a:r>
                        <a:rPr sz="2800" dirty="0"/>
                        <a:t>%</a:t>
                      </a:r>
                    </a:p>
                    <a:p>
                      <a:pPr marL="370840" indent="-285750">
                        <a:lnSpc>
                          <a:spcPts val="3325"/>
                        </a:lnSpc>
                        <a:buFont typeface="Arial"/>
                        <a:buChar char="•"/>
                        <a:tabLst>
                          <a:tab pos="370840" algn="l"/>
                          <a:tab pos="4721860" algn="l"/>
                        </a:tabLst>
                      </a:pPr>
                      <a:r>
                        <a:rPr sz="2800" spc="-5" dirty="0"/>
                        <a:t>P</a:t>
                      </a:r>
                      <a:r>
                        <a:rPr sz="2800" spc="5" dirty="0"/>
                        <a:t>ho</a:t>
                      </a:r>
                      <a:r>
                        <a:rPr sz="2800" dirty="0"/>
                        <a:t>s</a:t>
                      </a:r>
                      <a:r>
                        <a:rPr sz="2800" spc="5" dirty="0"/>
                        <a:t>phor</a:t>
                      </a:r>
                      <a:r>
                        <a:rPr sz="2800" dirty="0"/>
                        <a:t>e </a:t>
                      </a:r>
                      <a:r>
                        <a:rPr sz="2800" spc="5" dirty="0"/>
                        <a:t>(</a:t>
                      </a:r>
                      <a:r>
                        <a:rPr sz="2800" spc="-5" dirty="0"/>
                        <a:t>P</a:t>
                      </a:r>
                      <a:r>
                        <a:rPr sz="2800" dirty="0"/>
                        <a:t>) ……….</a:t>
                      </a:r>
                      <a:r>
                        <a:rPr sz="2800" spc="-10" dirty="0"/>
                        <a:t> </a:t>
                      </a:r>
                      <a:r>
                        <a:rPr sz="2800" spc="5" dirty="0"/>
                        <a:t>0</a:t>
                      </a:r>
                      <a:r>
                        <a:rPr sz="2800" spc="-5" dirty="0"/>
                        <a:t>.</a:t>
                      </a:r>
                      <a:r>
                        <a:rPr sz="2800" dirty="0"/>
                        <a:t>6	%</a:t>
                      </a:r>
                    </a:p>
                    <a:p>
                      <a:pPr marL="84455">
                        <a:lnSpc>
                          <a:spcPct val="100000"/>
                        </a:lnSpc>
                        <a:spcBef>
                          <a:spcPts val="45"/>
                        </a:spcBef>
                        <a:tabLst>
                          <a:tab pos="370205" algn="l"/>
                        </a:tabLst>
                      </a:pPr>
                      <a:r>
                        <a:rPr sz="2800" dirty="0"/>
                        <a:t>•	</a:t>
                      </a:r>
                      <a:r>
                        <a:rPr sz="2800" spc="-5" dirty="0"/>
                        <a:t>A</a:t>
                      </a:r>
                      <a:r>
                        <a:rPr sz="2800" dirty="0"/>
                        <a:t>z</a:t>
                      </a:r>
                      <a:r>
                        <a:rPr sz="2800" spc="5" dirty="0"/>
                        <a:t>o</a:t>
                      </a:r>
                      <a:r>
                        <a:rPr sz="2800" spc="-5" dirty="0"/>
                        <a:t>t</a:t>
                      </a:r>
                      <a:r>
                        <a:rPr sz="2800" dirty="0"/>
                        <a:t>e </a:t>
                      </a:r>
                      <a:r>
                        <a:rPr sz="2800" spc="5" dirty="0"/>
                        <a:t>(</a:t>
                      </a:r>
                      <a:r>
                        <a:rPr sz="2800" dirty="0"/>
                        <a:t>N) ……………….</a:t>
                      </a:r>
                      <a:r>
                        <a:rPr sz="2800" spc="-10" dirty="0"/>
                        <a:t> </a:t>
                      </a:r>
                      <a:r>
                        <a:rPr sz="2800" dirty="0"/>
                        <a:t>~</a:t>
                      </a:r>
                      <a:r>
                        <a:rPr sz="2800" spc="-5" dirty="0"/>
                        <a:t> </a:t>
                      </a:r>
                      <a:r>
                        <a:rPr sz="2800" spc="5" dirty="0"/>
                        <a:t>5</a:t>
                      </a:r>
                      <a:r>
                        <a:rPr sz="2800" dirty="0"/>
                        <a:t>%</a:t>
                      </a:r>
                      <a:endParaRPr sz="2800" dirty="0">
                        <a:latin typeface="Arial"/>
                        <a:cs typeface="Arial"/>
                      </a:endParaRPr>
                    </a:p>
                  </a:txBody>
                  <a:tcPr marL="0" marR="0" marT="0" marB="0"/>
                </a:tc>
              </a:tr>
            </a:tbl>
          </a:graphicData>
        </a:graphic>
      </p:graphicFrame>
      <p:sp>
        <p:nvSpPr>
          <p:cNvPr id="4" name="ZoneTexte 3"/>
          <p:cNvSpPr txBox="1"/>
          <p:nvPr/>
        </p:nvSpPr>
        <p:spPr>
          <a:xfrm>
            <a:off x="655320" y="661571"/>
            <a:ext cx="2462534" cy="646331"/>
          </a:xfrm>
          <a:prstGeom prst="rect">
            <a:avLst/>
          </a:prstGeom>
          <a:noFill/>
        </p:spPr>
        <p:txBody>
          <a:bodyPr wrap="none" rtlCol="0">
            <a:spAutoFit/>
          </a:bodyPr>
          <a:lstStyle/>
          <a:p>
            <a:r>
              <a:rPr lang="fr-FR" sz="3600" dirty="0">
                <a:solidFill>
                  <a:srgbClr val="FF0000"/>
                </a:solidFill>
              </a:rPr>
              <a:t>Généralités </a:t>
            </a:r>
            <a:endParaRPr lang="fr-FR" sz="3600" dirty="0">
              <a:solidFill>
                <a:srgbClr val="FF0000"/>
              </a:solidFill>
            </a:endParaRPr>
          </a:p>
        </p:txBody>
      </p:sp>
    </p:spTree>
    <p:extLst>
      <p:ext uri="{BB962C8B-B14F-4D97-AF65-F5344CB8AC3E}">
        <p14:creationId xmlns:p14="http://schemas.microsoft.com/office/powerpoint/2010/main" val="13537018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520" y="5340117"/>
            <a:ext cx="11704320" cy="1308050"/>
          </a:xfrm>
          <a:prstGeom prst="rect">
            <a:avLst/>
          </a:prstGeom>
        </p:spPr>
        <p:txBody>
          <a:bodyPr wrap="square">
            <a:spAutoFit/>
          </a:bodyPr>
          <a:lstStyle/>
          <a:p>
            <a:pPr marL="241300" indent="-228600">
              <a:spcBef>
                <a:spcPts val="1845"/>
              </a:spcBef>
              <a:buFont typeface="Arial"/>
              <a:buChar char="•"/>
              <a:tabLst>
                <a:tab pos="241300" algn="l"/>
              </a:tabLst>
            </a:pPr>
            <a:r>
              <a:rPr lang="fr-FR" sz="3200" b="1" spc="5" dirty="0">
                <a:solidFill>
                  <a:prstClr val="black"/>
                </a:solidFill>
                <a:cs typeface="Arial"/>
              </a:rPr>
              <a:t>Le</a:t>
            </a:r>
            <a:r>
              <a:rPr lang="fr-FR" sz="3200" b="1" dirty="0">
                <a:solidFill>
                  <a:prstClr val="black"/>
                </a:solidFill>
                <a:cs typeface="Arial"/>
              </a:rPr>
              <a:t>s</a:t>
            </a:r>
            <a:r>
              <a:rPr lang="fr-FR" sz="3200" b="1" spc="-5" dirty="0">
                <a:solidFill>
                  <a:prstClr val="black"/>
                </a:solidFill>
                <a:cs typeface="Arial"/>
              </a:rPr>
              <a:t> </a:t>
            </a:r>
            <a:r>
              <a:rPr lang="fr-FR" sz="3200" b="1" spc="5" dirty="0">
                <a:solidFill>
                  <a:prstClr val="black"/>
                </a:solidFill>
                <a:cs typeface="Arial"/>
              </a:rPr>
              <a:t>mo</a:t>
            </a:r>
            <a:r>
              <a:rPr lang="fr-FR" sz="3200" b="1" dirty="0">
                <a:solidFill>
                  <a:prstClr val="black"/>
                </a:solidFill>
                <a:cs typeface="Arial"/>
              </a:rPr>
              <a:t>l</a:t>
            </a:r>
            <a:r>
              <a:rPr lang="fr-FR" sz="3200" b="1" spc="5" dirty="0">
                <a:solidFill>
                  <a:prstClr val="black"/>
                </a:solidFill>
                <a:cs typeface="Arial"/>
              </a:rPr>
              <a:t>é</a:t>
            </a:r>
            <a:r>
              <a:rPr lang="fr-FR" sz="3200" b="1" dirty="0">
                <a:solidFill>
                  <a:prstClr val="black"/>
                </a:solidFill>
                <a:cs typeface="Arial"/>
              </a:rPr>
              <a:t>c</a:t>
            </a:r>
            <a:r>
              <a:rPr lang="fr-FR" sz="3200" b="1" spc="5" dirty="0">
                <a:solidFill>
                  <a:prstClr val="black"/>
                </a:solidFill>
                <a:cs typeface="Arial"/>
              </a:rPr>
              <a:t>u</a:t>
            </a:r>
            <a:r>
              <a:rPr lang="fr-FR" sz="3200" b="1" dirty="0">
                <a:solidFill>
                  <a:prstClr val="black"/>
                </a:solidFill>
                <a:cs typeface="Arial"/>
              </a:rPr>
              <a:t>l</a:t>
            </a:r>
            <a:r>
              <a:rPr lang="fr-FR" sz="3200" b="1" spc="5" dirty="0">
                <a:solidFill>
                  <a:prstClr val="black"/>
                </a:solidFill>
                <a:cs typeface="Arial"/>
              </a:rPr>
              <a:t>e</a:t>
            </a:r>
            <a:r>
              <a:rPr lang="fr-FR" sz="3200" b="1" dirty="0">
                <a:solidFill>
                  <a:prstClr val="black"/>
                </a:solidFill>
                <a:cs typeface="Arial"/>
              </a:rPr>
              <a:t>s</a:t>
            </a:r>
            <a:r>
              <a:rPr lang="fr-FR" sz="3200" b="1" spc="-5" dirty="0">
                <a:solidFill>
                  <a:prstClr val="black"/>
                </a:solidFill>
                <a:cs typeface="Arial"/>
              </a:rPr>
              <a:t> </a:t>
            </a:r>
            <a:r>
              <a:rPr lang="fr-FR" sz="3200" b="1" dirty="0">
                <a:solidFill>
                  <a:prstClr val="black"/>
                </a:solidFill>
                <a:cs typeface="Arial"/>
              </a:rPr>
              <a:t>i</a:t>
            </a:r>
            <a:r>
              <a:rPr lang="fr-FR" sz="3200" b="1" spc="5" dirty="0">
                <a:solidFill>
                  <a:prstClr val="black"/>
                </a:solidFill>
                <a:cs typeface="Arial"/>
              </a:rPr>
              <a:t>norgan</a:t>
            </a:r>
            <a:r>
              <a:rPr lang="fr-FR" sz="3200" b="1" dirty="0">
                <a:solidFill>
                  <a:prstClr val="black"/>
                </a:solidFill>
                <a:cs typeface="Arial"/>
              </a:rPr>
              <a:t>i</a:t>
            </a:r>
            <a:r>
              <a:rPr lang="fr-FR" sz="3200" b="1" spc="5" dirty="0">
                <a:solidFill>
                  <a:prstClr val="black"/>
                </a:solidFill>
                <a:cs typeface="Arial"/>
              </a:rPr>
              <a:t>que</a:t>
            </a:r>
            <a:r>
              <a:rPr lang="fr-FR" sz="3200" b="1" dirty="0">
                <a:solidFill>
                  <a:prstClr val="black"/>
                </a:solidFill>
                <a:cs typeface="Arial"/>
              </a:rPr>
              <a:t>s</a:t>
            </a:r>
            <a:r>
              <a:rPr lang="fr-FR" sz="3200" b="1" spc="-5" dirty="0">
                <a:solidFill>
                  <a:prstClr val="black"/>
                </a:solidFill>
                <a:cs typeface="Arial"/>
              </a:rPr>
              <a:t> </a:t>
            </a:r>
            <a:r>
              <a:rPr lang="fr-FR" sz="3200" b="1" spc="-20" dirty="0">
                <a:solidFill>
                  <a:prstClr val="black"/>
                </a:solidFill>
                <a:cs typeface="Arial"/>
              </a:rPr>
              <a:t>ne</a:t>
            </a:r>
            <a:r>
              <a:rPr lang="fr-FR" sz="3200" b="1" dirty="0">
                <a:solidFill>
                  <a:prstClr val="black"/>
                </a:solidFill>
                <a:cs typeface="Arial"/>
              </a:rPr>
              <a:t> s</a:t>
            </a:r>
            <a:r>
              <a:rPr lang="fr-FR" sz="3200" b="1" spc="-15" dirty="0">
                <a:solidFill>
                  <a:prstClr val="black"/>
                </a:solidFill>
                <a:cs typeface="Arial"/>
              </a:rPr>
              <a:t>ont</a:t>
            </a:r>
            <a:r>
              <a:rPr lang="fr-FR" sz="3200" b="1" dirty="0">
                <a:solidFill>
                  <a:prstClr val="black"/>
                </a:solidFill>
                <a:cs typeface="Arial"/>
              </a:rPr>
              <a:t> </a:t>
            </a:r>
            <a:r>
              <a:rPr lang="fr-FR" sz="3200" b="1" spc="-20" dirty="0">
                <a:solidFill>
                  <a:prstClr val="black"/>
                </a:solidFill>
                <a:cs typeface="Arial"/>
              </a:rPr>
              <a:t>pa</a:t>
            </a:r>
            <a:r>
              <a:rPr lang="fr-FR" sz="3200" b="1" dirty="0">
                <a:solidFill>
                  <a:prstClr val="black"/>
                </a:solidFill>
                <a:cs typeface="Arial"/>
              </a:rPr>
              <a:t>s </a:t>
            </a:r>
            <a:r>
              <a:rPr lang="fr-FR" sz="3200" b="1" spc="-20" dirty="0">
                <a:solidFill>
                  <a:prstClr val="black"/>
                </a:solidFill>
                <a:cs typeface="Arial"/>
              </a:rPr>
              <a:t>une</a:t>
            </a:r>
            <a:r>
              <a:rPr lang="fr-FR" sz="3200" b="1" dirty="0">
                <a:solidFill>
                  <a:prstClr val="black"/>
                </a:solidFill>
                <a:cs typeface="Arial"/>
              </a:rPr>
              <a:t> s</a:t>
            </a:r>
            <a:r>
              <a:rPr lang="fr-FR" sz="3200" b="1" spc="-20" dirty="0">
                <a:solidFill>
                  <a:prstClr val="black"/>
                </a:solidFill>
                <a:cs typeface="Arial"/>
              </a:rPr>
              <a:t>our</a:t>
            </a:r>
            <a:r>
              <a:rPr lang="fr-FR" sz="3200" b="1" dirty="0">
                <a:solidFill>
                  <a:prstClr val="black"/>
                </a:solidFill>
                <a:cs typeface="Arial"/>
              </a:rPr>
              <a:t>ce </a:t>
            </a:r>
            <a:endParaRPr lang="fr-FR" sz="3200" b="1" dirty="0">
              <a:solidFill>
                <a:prstClr val="black"/>
              </a:solidFill>
              <a:cs typeface="Arial"/>
            </a:endParaRPr>
          </a:p>
          <a:p>
            <a:pPr marL="12700">
              <a:spcBef>
                <a:spcPts val="1845"/>
              </a:spcBef>
              <a:tabLst>
                <a:tab pos="241300" algn="l"/>
              </a:tabLst>
            </a:pPr>
            <a:r>
              <a:rPr lang="fr-FR" sz="3200" b="1" spc="-15" dirty="0">
                <a:solidFill>
                  <a:prstClr val="black"/>
                </a:solidFill>
                <a:cs typeface="Arial"/>
              </a:rPr>
              <a:t>d</a:t>
            </a:r>
            <a:r>
              <a:rPr lang="fr-FR" sz="3200" b="1" spc="-15" dirty="0">
                <a:solidFill>
                  <a:prstClr val="black"/>
                </a:solidFill>
                <a:cs typeface="Arial"/>
              </a:rPr>
              <a:t>’</a:t>
            </a:r>
            <a:r>
              <a:rPr lang="fr-FR" sz="3200" b="1" spc="-165" dirty="0">
                <a:solidFill>
                  <a:prstClr val="black"/>
                </a:solidFill>
                <a:cs typeface="Arial"/>
              </a:rPr>
              <a:t> </a:t>
            </a:r>
            <a:r>
              <a:rPr lang="fr-FR" sz="3200" b="1" dirty="0">
                <a:solidFill>
                  <a:prstClr val="black"/>
                </a:solidFill>
                <a:cs typeface="Arial"/>
              </a:rPr>
              <a:t>é</a:t>
            </a:r>
            <a:r>
              <a:rPr lang="fr-FR" sz="3200" b="1" spc="-20" dirty="0">
                <a:solidFill>
                  <a:prstClr val="black"/>
                </a:solidFill>
                <a:cs typeface="Arial"/>
              </a:rPr>
              <a:t>ne</a:t>
            </a:r>
            <a:r>
              <a:rPr lang="fr-FR" sz="3200" b="1" spc="-5" dirty="0">
                <a:solidFill>
                  <a:prstClr val="black"/>
                </a:solidFill>
                <a:cs typeface="Arial"/>
              </a:rPr>
              <a:t>r</a:t>
            </a:r>
            <a:r>
              <a:rPr lang="fr-FR" sz="3200" b="1" spc="-20" dirty="0">
                <a:solidFill>
                  <a:prstClr val="black"/>
                </a:solidFill>
                <a:cs typeface="Arial"/>
              </a:rPr>
              <a:t>g</a:t>
            </a:r>
            <a:r>
              <a:rPr lang="fr-FR" sz="3200" b="1" spc="-15" dirty="0">
                <a:solidFill>
                  <a:prstClr val="black"/>
                </a:solidFill>
                <a:cs typeface="Arial"/>
              </a:rPr>
              <a:t>i</a:t>
            </a:r>
            <a:r>
              <a:rPr lang="fr-FR" sz="3200" b="1" dirty="0">
                <a:solidFill>
                  <a:prstClr val="black"/>
                </a:solidFill>
                <a:cs typeface="Arial"/>
              </a:rPr>
              <a:t>e </a:t>
            </a:r>
            <a:r>
              <a:rPr lang="fr-FR" sz="3200" b="1" spc="5" dirty="0">
                <a:solidFill>
                  <a:prstClr val="black"/>
                </a:solidFill>
                <a:cs typeface="Arial"/>
              </a:rPr>
              <a:t>(e</a:t>
            </a:r>
            <a:r>
              <a:rPr lang="fr-FR" sz="3200" b="1" spc="-15" dirty="0">
                <a:solidFill>
                  <a:prstClr val="black"/>
                </a:solidFill>
                <a:cs typeface="Arial"/>
              </a:rPr>
              <a:t>x</a:t>
            </a:r>
            <a:r>
              <a:rPr lang="fr-FR" sz="3200" b="1" spc="-15" dirty="0">
                <a:solidFill>
                  <a:prstClr val="black"/>
                </a:solidFill>
                <a:cs typeface="Arial"/>
              </a:rPr>
              <a:t>.</a:t>
            </a:r>
            <a:r>
              <a:rPr lang="fr-FR" sz="3200" b="1" spc="-10" dirty="0">
                <a:solidFill>
                  <a:prstClr val="black"/>
                </a:solidFill>
                <a:cs typeface="Arial"/>
              </a:rPr>
              <a:t> </a:t>
            </a:r>
            <a:r>
              <a:rPr lang="fr-FR" sz="3200" b="1" dirty="0">
                <a:solidFill>
                  <a:prstClr val="black"/>
                </a:solidFill>
                <a:cs typeface="Arial"/>
              </a:rPr>
              <a:t>le </a:t>
            </a:r>
            <a:r>
              <a:rPr lang="fr-FR" sz="3200" b="1" spc="5" dirty="0">
                <a:solidFill>
                  <a:prstClr val="black"/>
                </a:solidFill>
                <a:cs typeface="Arial"/>
              </a:rPr>
              <a:t>d</a:t>
            </a:r>
            <a:r>
              <a:rPr lang="fr-FR" sz="3200" b="1" dirty="0">
                <a:solidFill>
                  <a:prstClr val="black"/>
                </a:solidFill>
                <a:cs typeface="Arial"/>
              </a:rPr>
              <a:t>i</a:t>
            </a:r>
            <a:r>
              <a:rPr lang="fr-FR" sz="3200" b="1" spc="5" dirty="0">
                <a:solidFill>
                  <a:prstClr val="black"/>
                </a:solidFill>
                <a:cs typeface="Arial"/>
              </a:rPr>
              <a:t>o</a:t>
            </a:r>
            <a:r>
              <a:rPr lang="fr-FR" sz="3200" b="1" dirty="0">
                <a:solidFill>
                  <a:prstClr val="black"/>
                </a:solidFill>
                <a:cs typeface="Arial"/>
              </a:rPr>
              <a:t>xy</a:t>
            </a:r>
            <a:r>
              <a:rPr lang="fr-FR" sz="3200" b="1" spc="5" dirty="0">
                <a:solidFill>
                  <a:prstClr val="black"/>
                </a:solidFill>
                <a:cs typeface="Arial"/>
              </a:rPr>
              <a:t>d</a:t>
            </a:r>
            <a:r>
              <a:rPr lang="fr-FR" sz="3200" b="1" dirty="0">
                <a:solidFill>
                  <a:prstClr val="black"/>
                </a:solidFill>
                <a:cs typeface="Arial"/>
              </a:rPr>
              <a:t>e </a:t>
            </a:r>
            <a:r>
              <a:rPr lang="fr-FR" sz="3200" b="1" spc="5" dirty="0">
                <a:solidFill>
                  <a:prstClr val="black"/>
                </a:solidFill>
                <a:cs typeface="Arial"/>
              </a:rPr>
              <a:t>d</a:t>
            </a:r>
            <a:r>
              <a:rPr lang="fr-FR" sz="3200" b="1" dirty="0">
                <a:solidFill>
                  <a:prstClr val="black"/>
                </a:solidFill>
                <a:cs typeface="Arial"/>
              </a:rPr>
              <a:t>e c</a:t>
            </a:r>
            <a:r>
              <a:rPr lang="fr-FR" sz="3200" b="1" spc="5" dirty="0">
                <a:solidFill>
                  <a:prstClr val="black"/>
                </a:solidFill>
                <a:cs typeface="Arial"/>
              </a:rPr>
              <a:t>arbon</a:t>
            </a:r>
            <a:r>
              <a:rPr lang="fr-FR" sz="3200" b="1" dirty="0">
                <a:solidFill>
                  <a:prstClr val="black"/>
                </a:solidFill>
                <a:cs typeface="Arial"/>
              </a:rPr>
              <a:t>e C</a:t>
            </a:r>
            <a:r>
              <a:rPr lang="fr-FR" sz="3200" b="1" spc="-30" dirty="0">
                <a:solidFill>
                  <a:prstClr val="black"/>
                </a:solidFill>
                <a:cs typeface="Arial"/>
              </a:rPr>
              <a:t>O</a:t>
            </a:r>
            <a:r>
              <a:rPr lang="fr-FR" sz="3600" b="1" spc="-30" baseline="-17543" dirty="0">
                <a:solidFill>
                  <a:prstClr val="black"/>
                </a:solidFill>
                <a:cs typeface="Arial"/>
              </a:rPr>
              <a:t>2</a:t>
            </a:r>
            <a:r>
              <a:rPr lang="fr-FR" sz="3200" b="1" spc="-10" dirty="0">
                <a:solidFill>
                  <a:prstClr val="black"/>
                </a:solidFill>
                <a:cs typeface="Arial"/>
              </a:rPr>
              <a:t>, </a:t>
            </a:r>
            <a:r>
              <a:rPr lang="fr-FR" sz="3200" b="1" dirty="0">
                <a:solidFill>
                  <a:prstClr val="black"/>
                </a:solidFill>
                <a:cs typeface="Arial"/>
              </a:rPr>
              <a:t>l’eau </a:t>
            </a:r>
            <a:r>
              <a:rPr lang="fr-FR" sz="3200" b="1" spc="5" dirty="0">
                <a:solidFill>
                  <a:prstClr val="black"/>
                </a:solidFill>
                <a:cs typeface="Arial"/>
              </a:rPr>
              <a:t>H</a:t>
            </a:r>
            <a:r>
              <a:rPr lang="fr-FR" sz="3600" b="1" spc="-30" baseline="-17543" dirty="0">
                <a:solidFill>
                  <a:prstClr val="black"/>
                </a:solidFill>
                <a:cs typeface="Arial"/>
              </a:rPr>
              <a:t>2</a:t>
            </a:r>
            <a:r>
              <a:rPr lang="fr-FR" sz="3200" b="1" spc="-25" dirty="0">
                <a:solidFill>
                  <a:prstClr val="black"/>
                </a:solidFill>
                <a:cs typeface="Arial"/>
              </a:rPr>
              <a:t>O)</a:t>
            </a:r>
            <a:endParaRPr lang="fr-FR" sz="3200" b="1" dirty="0">
              <a:solidFill>
                <a:prstClr val="black"/>
              </a:solidFill>
              <a:cs typeface="Arial"/>
            </a:endParaRPr>
          </a:p>
        </p:txBody>
      </p:sp>
      <p:graphicFrame>
        <p:nvGraphicFramePr>
          <p:cNvPr id="3" name="Tableau 2"/>
          <p:cNvGraphicFramePr>
            <a:graphicFrameLocks noGrp="1"/>
          </p:cNvGraphicFramePr>
          <p:nvPr>
            <p:extLst/>
          </p:nvPr>
        </p:nvGraphicFramePr>
        <p:xfrm>
          <a:off x="0" y="552026"/>
          <a:ext cx="12192000" cy="4380784"/>
        </p:xfrm>
        <a:graphic>
          <a:graphicData uri="http://schemas.openxmlformats.org/drawingml/2006/table">
            <a:tbl>
              <a:tblPr firstRow="1" bandRow="1">
                <a:tableStyleId>{9DCAF9ED-07DC-4A11-8D7F-57B35C25682E}</a:tableStyleId>
              </a:tblPr>
              <a:tblGrid>
                <a:gridCol w="5440680"/>
                <a:gridCol w="6751320"/>
              </a:tblGrid>
              <a:tr h="1546144">
                <a:tc>
                  <a:txBody>
                    <a:bodyPr/>
                    <a:lstStyle/>
                    <a:p>
                      <a:pPr algn="ctr"/>
                      <a:endParaRPr lang="fr-FR" dirty="0" smtClean="0"/>
                    </a:p>
                    <a:p>
                      <a:pPr algn="ctr"/>
                      <a:r>
                        <a:rPr lang="fr-FR" dirty="0" smtClean="0"/>
                        <a:t>MOLÉCULES MINÉRALES :</a:t>
                      </a:r>
                    </a:p>
                    <a:p>
                      <a:pPr algn="ctr"/>
                      <a:r>
                        <a:rPr lang="fr-FR" dirty="0" smtClean="0"/>
                        <a:t>Eau, sels minéraux</a:t>
                      </a:r>
                      <a:endParaRPr lang="fr-FR" dirty="0" smtClean="0">
                        <a:solidFill>
                          <a:srgbClr val="002060"/>
                        </a:solidFill>
                      </a:endParaRPr>
                    </a:p>
                  </a:txBody>
                  <a:tcPr/>
                </a:tc>
                <a:tc>
                  <a:txBody>
                    <a:bodyPr/>
                    <a:lstStyle/>
                    <a:p>
                      <a:pPr algn="ctr"/>
                      <a:endParaRPr lang="fr-FR" dirty="0" smtClean="0"/>
                    </a:p>
                    <a:p>
                      <a:pPr algn="ctr"/>
                      <a:r>
                        <a:rPr lang="fr-FR" dirty="0" smtClean="0"/>
                        <a:t>MOLÉCULES ORGANIQUES :</a:t>
                      </a:r>
                    </a:p>
                    <a:p>
                      <a:pPr algn="ctr"/>
                      <a:r>
                        <a:rPr lang="fr-FR" dirty="0" smtClean="0"/>
                        <a:t>Protéines, glucides, lipides et acides</a:t>
                      </a:r>
                    </a:p>
                    <a:p>
                      <a:pPr algn="ctr"/>
                      <a:r>
                        <a:rPr lang="fr-FR" dirty="0" smtClean="0"/>
                        <a:t>nucléique</a:t>
                      </a:r>
                      <a:endParaRPr lang="fr-FR" dirty="0">
                        <a:solidFill>
                          <a:srgbClr val="002060"/>
                        </a:solidFill>
                      </a:endParaRPr>
                    </a:p>
                  </a:txBody>
                  <a:tcPr/>
                </a:tc>
              </a:tr>
              <a:tr h="2473830">
                <a:tc>
                  <a:txBody>
                    <a:bodyPr/>
                    <a:lstStyle/>
                    <a:p>
                      <a:pPr marL="285750" indent="-285750" algn="just">
                        <a:lnSpc>
                          <a:spcPct val="200000"/>
                        </a:lnSpc>
                        <a:buFont typeface="Arial" panose="020B0604020202020204" pitchFamily="34" charset="0"/>
                        <a:buChar char="•"/>
                      </a:pPr>
                      <a:r>
                        <a:rPr lang="fr-FR" dirty="0" smtClean="0"/>
                        <a:t>Molécules ne contenant pas de</a:t>
                      </a:r>
                      <a:r>
                        <a:rPr lang="fr-FR" baseline="0" dirty="0" smtClean="0"/>
                        <a:t> </a:t>
                      </a:r>
                      <a:r>
                        <a:rPr lang="fr-FR" dirty="0" smtClean="0"/>
                        <a:t>carbone</a:t>
                      </a:r>
                    </a:p>
                    <a:p>
                      <a:pPr algn="just">
                        <a:lnSpc>
                          <a:spcPct val="200000"/>
                        </a:lnSpc>
                      </a:pPr>
                      <a:r>
                        <a:rPr lang="fr-FR" dirty="0" smtClean="0"/>
                        <a:t>• Unies par des liaisons ioniques</a:t>
                      </a:r>
                    </a:p>
                    <a:p>
                      <a:pPr algn="just">
                        <a:lnSpc>
                          <a:spcPct val="200000"/>
                        </a:lnSpc>
                      </a:pPr>
                      <a:r>
                        <a:rPr lang="fr-FR" dirty="0" smtClean="0"/>
                        <a:t>• De petite taille, peuvent servir de</a:t>
                      </a:r>
                      <a:r>
                        <a:rPr lang="fr-FR" baseline="0" dirty="0" smtClean="0"/>
                        <a:t> </a:t>
                      </a:r>
                      <a:r>
                        <a:rPr lang="fr-FR" dirty="0" smtClean="0"/>
                        <a:t>support structural aux êtres vivants</a:t>
                      </a:r>
                    </a:p>
                    <a:p>
                      <a:pPr algn="just">
                        <a:lnSpc>
                          <a:spcPct val="200000"/>
                        </a:lnSpc>
                      </a:pPr>
                      <a:r>
                        <a:rPr lang="fr-FR" dirty="0" smtClean="0"/>
                        <a:t>• Appelées aussi molécules</a:t>
                      </a:r>
                      <a:r>
                        <a:rPr lang="fr-FR" baseline="0" dirty="0" smtClean="0"/>
                        <a:t> </a:t>
                      </a:r>
                      <a:r>
                        <a:rPr lang="fr-FR" dirty="0" smtClean="0"/>
                        <a:t>inorganiques</a:t>
                      </a:r>
                      <a:endParaRPr lang="fr-FR" b="1" dirty="0">
                        <a:solidFill>
                          <a:srgbClr val="FF0000"/>
                        </a:solidFill>
                      </a:endParaRPr>
                    </a:p>
                  </a:txBody>
                  <a:tcPr/>
                </a:tc>
                <a:tc>
                  <a:txBody>
                    <a:bodyPr/>
                    <a:lstStyle/>
                    <a:p>
                      <a:pPr marL="285750" indent="-285750">
                        <a:lnSpc>
                          <a:spcPct val="200000"/>
                        </a:lnSpc>
                        <a:buFont typeface="Arial" panose="020B0604020202020204" pitchFamily="34" charset="0"/>
                        <a:buChar char="•"/>
                      </a:pPr>
                      <a:r>
                        <a:rPr lang="fr-FR" dirty="0" smtClean="0"/>
                        <a:t>Molécules à base de carbone sous</a:t>
                      </a:r>
                      <a:r>
                        <a:rPr lang="fr-FR" baseline="0" dirty="0" smtClean="0"/>
                        <a:t> </a:t>
                      </a:r>
                      <a:r>
                        <a:rPr lang="fr-FR" dirty="0" smtClean="0"/>
                        <a:t>forme de chaînes carbonées</a:t>
                      </a:r>
                    </a:p>
                    <a:p>
                      <a:pPr>
                        <a:lnSpc>
                          <a:spcPct val="200000"/>
                        </a:lnSpc>
                      </a:pPr>
                      <a:r>
                        <a:rPr lang="fr-FR" dirty="0" smtClean="0"/>
                        <a:t>• Unies par liaisons covalentes</a:t>
                      </a:r>
                    </a:p>
                    <a:p>
                      <a:pPr>
                        <a:lnSpc>
                          <a:spcPct val="200000"/>
                        </a:lnSpc>
                      </a:pPr>
                      <a:r>
                        <a:rPr lang="fr-FR" dirty="0" smtClean="0"/>
                        <a:t>•Très petites ou très grandes tailles</a:t>
                      </a:r>
                      <a:r>
                        <a:rPr lang="fr-FR" baseline="0" dirty="0" smtClean="0"/>
                        <a:t> </a:t>
                      </a:r>
                      <a:r>
                        <a:rPr lang="fr-FR" dirty="0" smtClean="0"/>
                        <a:t>et servent de molécules structurantes</a:t>
                      </a:r>
                      <a:endParaRPr lang="fr-FR" dirty="0"/>
                    </a:p>
                  </a:txBody>
                  <a:tcPr/>
                </a:tc>
              </a:tr>
            </a:tbl>
          </a:graphicData>
        </a:graphic>
      </p:graphicFrame>
      <p:sp>
        <p:nvSpPr>
          <p:cNvPr id="5" name="ZoneTexte 4"/>
          <p:cNvSpPr txBox="1"/>
          <p:nvPr/>
        </p:nvSpPr>
        <p:spPr>
          <a:xfrm>
            <a:off x="15240" y="-54709"/>
            <a:ext cx="2462534" cy="646331"/>
          </a:xfrm>
          <a:prstGeom prst="rect">
            <a:avLst/>
          </a:prstGeom>
          <a:noFill/>
        </p:spPr>
        <p:txBody>
          <a:bodyPr wrap="none" rtlCol="0">
            <a:spAutoFit/>
          </a:bodyPr>
          <a:lstStyle/>
          <a:p>
            <a:r>
              <a:rPr lang="fr-FR" sz="3600" dirty="0">
                <a:solidFill>
                  <a:srgbClr val="FF0000"/>
                </a:solidFill>
              </a:rPr>
              <a:t>Généralités </a:t>
            </a:r>
            <a:endParaRPr lang="fr-FR" sz="3600" dirty="0">
              <a:solidFill>
                <a:srgbClr val="FF0000"/>
              </a:solidFill>
            </a:endParaRPr>
          </a:p>
        </p:txBody>
      </p:sp>
    </p:spTree>
    <p:extLst>
      <p:ext uri="{BB962C8B-B14F-4D97-AF65-F5344CB8AC3E}">
        <p14:creationId xmlns:p14="http://schemas.microsoft.com/office/powerpoint/2010/main" val="3927232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6355" y="2589014"/>
            <a:ext cx="9720931" cy="1015663"/>
          </a:xfrm>
          <a:prstGeom prst="rect">
            <a:avLst/>
          </a:prstGeom>
        </p:spPr>
        <p:txBody>
          <a:bodyPr wrap="none">
            <a:spAutoFit/>
          </a:bodyPr>
          <a:lstStyle/>
          <a:p>
            <a:r>
              <a:rPr lang="fr-FR" sz="6000" b="1" dirty="0">
                <a:solidFill>
                  <a:srgbClr val="0033CC"/>
                </a:solidFill>
              </a:rPr>
              <a:t>I- Les </a:t>
            </a:r>
            <a:r>
              <a:rPr lang="fr-FR" sz="6000" b="1" dirty="0">
                <a:solidFill>
                  <a:srgbClr val="0033CC"/>
                </a:solidFill>
              </a:rPr>
              <a:t>molécules minérales</a:t>
            </a:r>
            <a:endParaRPr lang="fr-FR" sz="6000" dirty="0">
              <a:solidFill>
                <a:prstClr val="black"/>
              </a:solidFill>
            </a:endParaRPr>
          </a:p>
        </p:txBody>
      </p:sp>
    </p:spTree>
    <p:extLst>
      <p:ext uri="{BB962C8B-B14F-4D97-AF65-F5344CB8AC3E}">
        <p14:creationId xmlns:p14="http://schemas.microsoft.com/office/powerpoint/2010/main" val="41660265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p:cNvSpPr txBox="1"/>
          <p:nvPr/>
        </p:nvSpPr>
        <p:spPr>
          <a:xfrm>
            <a:off x="63500" y="1221100"/>
            <a:ext cx="12128500" cy="2863220"/>
          </a:xfrm>
          <a:prstGeom prst="rect">
            <a:avLst/>
          </a:prstGeom>
        </p:spPr>
        <p:txBody>
          <a:bodyPr vert="horz" wrap="square" lIns="0" tIns="0" rIns="0" bIns="0" rtlCol="0">
            <a:spAutoFit/>
          </a:bodyPr>
          <a:lstStyle/>
          <a:p>
            <a:pPr marL="12700"/>
            <a:r>
              <a:rPr sz="2000" b="1" spc="-150" dirty="0">
                <a:solidFill>
                  <a:srgbClr val="011893"/>
                </a:solidFill>
                <a:cs typeface="Arial"/>
              </a:rPr>
              <a:t>L</a:t>
            </a:r>
            <a:r>
              <a:rPr sz="2000" b="1" dirty="0">
                <a:solidFill>
                  <a:srgbClr val="011893"/>
                </a:solidFill>
                <a:cs typeface="Arial"/>
              </a:rPr>
              <a:t>’</a:t>
            </a:r>
            <a:r>
              <a:rPr sz="2000" b="1" spc="5" dirty="0">
                <a:solidFill>
                  <a:srgbClr val="011893"/>
                </a:solidFill>
                <a:cs typeface="Arial"/>
              </a:rPr>
              <a:t>ea</a:t>
            </a:r>
            <a:r>
              <a:rPr sz="2000" b="1" dirty="0">
                <a:solidFill>
                  <a:srgbClr val="011893"/>
                </a:solidFill>
                <a:cs typeface="Arial"/>
              </a:rPr>
              <a:t>u </a:t>
            </a:r>
            <a:r>
              <a:rPr sz="2000" b="1" spc="5" dirty="0">
                <a:solidFill>
                  <a:srgbClr val="011893"/>
                </a:solidFill>
                <a:cs typeface="Arial"/>
              </a:rPr>
              <a:t>e</a:t>
            </a:r>
            <a:r>
              <a:rPr sz="2000" b="1" spc="-15" dirty="0">
                <a:solidFill>
                  <a:srgbClr val="011893"/>
                </a:solidFill>
                <a:cs typeface="Arial"/>
              </a:rPr>
              <a:t>st</a:t>
            </a:r>
            <a:r>
              <a:rPr sz="2000" b="1" spc="-10" dirty="0">
                <a:solidFill>
                  <a:srgbClr val="011893"/>
                </a:solidFill>
                <a:cs typeface="Arial"/>
              </a:rPr>
              <a:t> </a:t>
            </a:r>
            <a:r>
              <a:rPr sz="2000" b="1" spc="5" dirty="0">
                <a:solidFill>
                  <a:srgbClr val="011893"/>
                </a:solidFill>
                <a:cs typeface="Arial"/>
              </a:rPr>
              <a:t>u</a:t>
            </a:r>
            <a:r>
              <a:rPr sz="2000" b="1" dirty="0">
                <a:solidFill>
                  <a:srgbClr val="011893"/>
                </a:solidFill>
                <a:cs typeface="Arial"/>
              </a:rPr>
              <a:t>n c</a:t>
            </a:r>
            <a:r>
              <a:rPr sz="2000" b="1" spc="5" dirty="0">
                <a:solidFill>
                  <a:srgbClr val="011893"/>
                </a:solidFill>
                <a:cs typeface="Arial"/>
              </a:rPr>
              <a:t>on</a:t>
            </a:r>
            <a:r>
              <a:rPr sz="2000" b="1" spc="-15" dirty="0">
                <a:solidFill>
                  <a:srgbClr val="011893"/>
                </a:solidFill>
                <a:cs typeface="Arial"/>
              </a:rPr>
              <a:t>st</a:t>
            </a:r>
            <a:r>
              <a:rPr sz="2000" b="1" dirty="0">
                <a:solidFill>
                  <a:srgbClr val="011893"/>
                </a:solidFill>
                <a:cs typeface="Arial"/>
              </a:rPr>
              <a:t>i</a:t>
            </a:r>
            <a:r>
              <a:rPr sz="2000" b="1" spc="-15" dirty="0">
                <a:solidFill>
                  <a:srgbClr val="011893"/>
                </a:solidFill>
                <a:cs typeface="Arial"/>
              </a:rPr>
              <a:t>t</a:t>
            </a:r>
            <a:r>
              <a:rPr sz="2000" b="1" spc="5" dirty="0">
                <a:solidFill>
                  <a:srgbClr val="011893"/>
                </a:solidFill>
                <a:cs typeface="Arial"/>
              </a:rPr>
              <a:t>uan</a:t>
            </a:r>
            <a:r>
              <a:rPr sz="2000" b="1" spc="-10" dirty="0">
                <a:solidFill>
                  <a:srgbClr val="011893"/>
                </a:solidFill>
                <a:cs typeface="Arial"/>
              </a:rPr>
              <a:t>t </a:t>
            </a:r>
            <a:r>
              <a:rPr sz="2000" b="1" spc="-15" dirty="0">
                <a:solidFill>
                  <a:srgbClr val="011893"/>
                </a:solidFill>
                <a:cs typeface="Arial"/>
              </a:rPr>
              <a:t>f</a:t>
            </a:r>
            <a:r>
              <a:rPr sz="2000" b="1" spc="5" dirty="0">
                <a:solidFill>
                  <a:srgbClr val="011893"/>
                </a:solidFill>
                <a:cs typeface="Arial"/>
              </a:rPr>
              <a:t>ondamen</a:t>
            </a:r>
            <a:r>
              <a:rPr sz="2000" b="1" spc="-15" dirty="0">
                <a:solidFill>
                  <a:srgbClr val="011893"/>
                </a:solidFill>
                <a:cs typeface="Arial"/>
              </a:rPr>
              <a:t>t</a:t>
            </a:r>
            <a:r>
              <a:rPr sz="2000" b="1" spc="5" dirty="0">
                <a:solidFill>
                  <a:srgbClr val="011893"/>
                </a:solidFill>
                <a:cs typeface="Arial"/>
              </a:rPr>
              <a:t>a</a:t>
            </a:r>
            <a:r>
              <a:rPr sz="2000" b="1" dirty="0">
                <a:solidFill>
                  <a:srgbClr val="011893"/>
                </a:solidFill>
                <a:cs typeface="Arial"/>
              </a:rPr>
              <a:t>l</a:t>
            </a:r>
            <a:r>
              <a:rPr sz="2000" b="1" spc="-5" dirty="0">
                <a:solidFill>
                  <a:srgbClr val="011893"/>
                </a:solidFill>
                <a:cs typeface="Arial"/>
              </a:rPr>
              <a:t> </a:t>
            </a:r>
            <a:r>
              <a:rPr sz="2000" b="1" spc="5" dirty="0">
                <a:solidFill>
                  <a:srgbClr val="011893"/>
                </a:solidFill>
                <a:cs typeface="Arial"/>
              </a:rPr>
              <a:t>de</a:t>
            </a:r>
            <a:r>
              <a:rPr sz="2000" b="1" dirty="0">
                <a:solidFill>
                  <a:srgbClr val="011893"/>
                </a:solidFill>
                <a:cs typeface="Arial"/>
              </a:rPr>
              <a:t>s</a:t>
            </a:r>
            <a:r>
              <a:rPr sz="2000" b="1" spc="-5" dirty="0">
                <a:solidFill>
                  <a:srgbClr val="011893"/>
                </a:solidFill>
                <a:cs typeface="Arial"/>
              </a:rPr>
              <a:t> </a:t>
            </a:r>
            <a:r>
              <a:rPr sz="2000" b="1" dirty="0">
                <a:solidFill>
                  <a:srgbClr val="011893"/>
                </a:solidFill>
                <a:cs typeface="Arial"/>
              </a:rPr>
              <a:t>c</a:t>
            </a:r>
            <a:r>
              <a:rPr sz="2000" b="1" spc="5" dirty="0">
                <a:solidFill>
                  <a:srgbClr val="011893"/>
                </a:solidFill>
                <a:cs typeface="Arial"/>
              </a:rPr>
              <a:t>e</a:t>
            </a:r>
            <a:r>
              <a:rPr sz="2000" b="1" dirty="0">
                <a:solidFill>
                  <a:srgbClr val="011893"/>
                </a:solidFill>
                <a:cs typeface="Arial"/>
              </a:rPr>
              <a:t>ll</a:t>
            </a:r>
            <a:r>
              <a:rPr sz="2000" b="1" spc="5" dirty="0">
                <a:solidFill>
                  <a:srgbClr val="011893"/>
                </a:solidFill>
                <a:cs typeface="Arial"/>
              </a:rPr>
              <a:t>u</a:t>
            </a:r>
            <a:r>
              <a:rPr sz="2000" b="1" dirty="0">
                <a:solidFill>
                  <a:srgbClr val="011893"/>
                </a:solidFill>
                <a:cs typeface="Arial"/>
              </a:rPr>
              <a:t>l</a:t>
            </a:r>
            <a:r>
              <a:rPr sz="2000" b="1" spc="5" dirty="0">
                <a:solidFill>
                  <a:srgbClr val="011893"/>
                </a:solidFill>
                <a:cs typeface="Arial"/>
              </a:rPr>
              <a:t>e</a:t>
            </a:r>
            <a:r>
              <a:rPr sz="2000" b="1" spc="-15" dirty="0">
                <a:solidFill>
                  <a:srgbClr val="011893"/>
                </a:solidFill>
                <a:cs typeface="Arial"/>
              </a:rPr>
              <a:t>s:</a:t>
            </a:r>
            <a:endParaRPr sz="2000" b="1" dirty="0">
              <a:solidFill>
                <a:prstClr val="black"/>
              </a:solidFill>
              <a:cs typeface="Arial"/>
            </a:endParaRPr>
          </a:p>
          <a:p>
            <a:pPr marL="241300" indent="-228600">
              <a:spcBef>
                <a:spcPts val="1820"/>
              </a:spcBef>
              <a:buFont typeface="Arial"/>
              <a:buChar char="•"/>
              <a:tabLst>
                <a:tab pos="241300" algn="l"/>
              </a:tabLst>
            </a:pPr>
            <a:r>
              <a:rPr sz="2000" dirty="0">
                <a:solidFill>
                  <a:prstClr val="black"/>
                </a:solidFill>
                <a:cs typeface="Arial"/>
              </a:rPr>
              <a:t>le c</a:t>
            </a:r>
            <a:r>
              <a:rPr sz="2000" spc="5" dirty="0">
                <a:solidFill>
                  <a:prstClr val="black"/>
                </a:solidFill>
                <a:cs typeface="Arial"/>
              </a:rPr>
              <a:t>orp</a:t>
            </a:r>
            <a:r>
              <a:rPr sz="2000" dirty="0">
                <a:solidFill>
                  <a:prstClr val="black"/>
                </a:solidFill>
                <a:cs typeface="Arial"/>
              </a:rPr>
              <a:t>s</a:t>
            </a:r>
            <a:r>
              <a:rPr sz="2000" spc="-5" dirty="0">
                <a:solidFill>
                  <a:prstClr val="black"/>
                </a:solidFill>
                <a:cs typeface="Arial"/>
              </a:rPr>
              <a:t> </a:t>
            </a:r>
            <a:r>
              <a:rPr sz="2000" spc="5" dirty="0">
                <a:solidFill>
                  <a:prstClr val="black"/>
                </a:solidFill>
                <a:cs typeface="Arial"/>
              </a:rPr>
              <a:t>huma</a:t>
            </a:r>
            <a:r>
              <a:rPr sz="2000" dirty="0">
                <a:solidFill>
                  <a:prstClr val="black"/>
                </a:solidFill>
                <a:cs typeface="Arial"/>
              </a:rPr>
              <a:t>in c</a:t>
            </a:r>
            <a:r>
              <a:rPr sz="2000" spc="5" dirty="0">
                <a:solidFill>
                  <a:prstClr val="black"/>
                </a:solidFill>
                <a:cs typeface="Arial"/>
              </a:rPr>
              <a:t>on</a:t>
            </a:r>
            <a:r>
              <a:rPr sz="2000" spc="-15" dirty="0">
                <a:solidFill>
                  <a:prstClr val="black"/>
                </a:solidFill>
                <a:cs typeface="Arial"/>
              </a:rPr>
              <a:t>t</a:t>
            </a:r>
            <a:r>
              <a:rPr sz="2000" dirty="0">
                <a:solidFill>
                  <a:prstClr val="black"/>
                </a:solidFill>
                <a:cs typeface="Arial"/>
              </a:rPr>
              <a:t>i</a:t>
            </a:r>
            <a:r>
              <a:rPr sz="2000" spc="5" dirty="0">
                <a:solidFill>
                  <a:prstClr val="black"/>
                </a:solidFill>
                <a:cs typeface="Arial"/>
              </a:rPr>
              <a:t>en</a:t>
            </a:r>
            <a:r>
              <a:rPr sz="2000" spc="-10" dirty="0">
                <a:solidFill>
                  <a:prstClr val="black"/>
                </a:solidFill>
                <a:cs typeface="Arial"/>
              </a:rPr>
              <a:t>t </a:t>
            </a:r>
            <a:r>
              <a:rPr sz="2000" spc="-20" dirty="0">
                <a:solidFill>
                  <a:prstClr val="black"/>
                </a:solidFill>
                <a:cs typeface="Arial"/>
              </a:rPr>
              <a:t>~</a:t>
            </a:r>
            <a:r>
              <a:rPr sz="2000" spc="5" dirty="0">
                <a:solidFill>
                  <a:prstClr val="black"/>
                </a:solidFill>
                <a:cs typeface="Arial"/>
              </a:rPr>
              <a:t>60</a:t>
            </a:r>
            <a:r>
              <a:rPr sz="2000" dirty="0">
                <a:solidFill>
                  <a:prstClr val="black"/>
                </a:solidFill>
                <a:cs typeface="Arial"/>
              </a:rPr>
              <a:t>%</a:t>
            </a:r>
            <a:r>
              <a:rPr sz="2000" spc="-10" dirty="0">
                <a:solidFill>
                  <a:prstClr val="black"/>
                </a:solidFill>
                <a:cs typeface="Arial"/>
              </a:rPr>
              <a:t> </a:t>
            </a:r>
            <a:r>
              <a:rPr sz="2000" spc="5" dirty="0">
                <a:solidFill>
                  <a:prstClr val="black"/>
                </a:solidFill>
                <a:cs typeface="Arial"/>
              </a:rPr>
              <a:t>d</a:t>
            </a:r>
            <a:r>
              <a:rPr sz="2000" dirty="0">
                <a:solidFill>
                  <a:prstClr val="black"/>
                </a:solidFill>
                <a:cs typeface="Arial"/>
              </a:rPr>
              <a:t>’</a:t>
            </a:r>
            <a:r>
              <a:rPr sz="2000" spc="5" dirty="0">
                <a:solidFill>
                  <a:prstClr val="black"/>
                </a:solidFill>
                <a:cs typeface="Arial"/>
              </a:rPr>
              <a:t>ea</a:t>
            </a:r>
            <a:r>
              <a:rPr sz="2000" dirty="0">
                <a:solidFill>
                  <a:prstClr val="black"/>
                </a:solidFill>
                <a:cs typeface="Arial"/>
              </a:rPr>
              <a:t>u</a:t>
            </a:r>
          </a:p>
          <a:p>
            <a:pPr marL="241300" marR="5080" indent="-228600">
              <a:lnSpc>
                <a:spcPct val="125000"/>
              </a:lnSpc>
              <a:spcBef>
                <a:spcPts val="1005"/>
              </a:spcBef>
              <a:buFont typeface="Arial"/>
              <a:buChar char="•"/>
              <a:tabLst>
                <a:tab pos="241300" algn="l"/>
              </a:tabLst>
            </a:pPr>
            <a:r>
              <a:rPr sz="2000" b="1" spc="-25" dirty="0">
                <a:solidFill>
                  <a:prstClr val="black"/>
                </a:solidFill>
                <a:cs typeface="Arial"/>
              </a:rPr>
              <a:t>P</a:t>
            </a:r>
            <a:r>
              <a:rPr sz="2000" b="1" spc="5" dirty="0">
                <a:solidFill>
                  <a:prstClr val="black"/>
                </a:solidFill>
                <a:cs typeface="Arial"/>
              </a:rPr>
              <a:t>o</a:t>
            </a:r>
            <a:r>
              <a:rPr sz="2000" b="1" dirty="0">
                <a:solidFill>
                  <a:prstClr val="black"/>
                </a:solidFill>
                <a:cs typeface="Arial"/>
              </a:rPr>
              <a:t>i</a:t>
            </a:r>
            <a:r>
              <a:rPr sz="2000" b="1" spc="5" dirty="0">
                <a:solidFill>
                  <a:prstClr val="black"/>
                </a:solidFill>
                <a:cs typeface="Arial"/>
              </a:rPr>
              <a:t>n</a:t>
            </a:r>
            <a:r>
              <a:rPr sz="2000" b="1" spc="-10" dirty="0">
                <a:solidFill>
                  <a:prstClr val="black"/>
                </a:solidFill>
                <a:cs typeface="Arial"/>
              </a:rPr>
              <a:t>t </a:t>
            </a:r>
            <a:r>
              <a:rPr sz="2000" b="1" spc="5" dirty="0">
                <a:solidFill>
                  <a:prstClr val="black"/>
                </a:solidFill>
                <a:cs typeface="Arial"/>
              </a:rPr>
              <a:t>d</a:t>
            </a:r>
            <a:r>
              <a:rPr sz="2000" b="1" dirty="0">
                <a:solidFill>
                  <a:prstClr val="black"/>
                </a:solidFill>
                <a:cs typeface="Arial"/>
              </a:rPr>
              <a:t>e v</a:t>
            </a:r>
            <a:r>
              <a:rPr sz="2000" b="1" spc="5" dirty="0">
                <a:solidFill>
                  <a:prstClr val="black"/>
                </a:solidFill>
                <a:cs typeface="Arial"/>
              </a:rPr>
              <a:t>u</a:t>
            </a:r>
            <a:r>
              <a:rPr sz="2000" b="1" dirty="0">
                <a:solidFill>
                  <a:prstClr val="black"/>
                </a:solidFill>
                <a:cs typeface="Arial"/>
              </a:rPr>
              <a:t>e c</a:t>
            </a:r>
            <a:r>
              <a:rPr sz="2000" b="1" spc="5" dirty="0">
                <a:solidFill>
                  <a:prstClr val="black"/>
                </a:solidFill>
                <a:cs typeface="Arial"/>
              </a:rPr>
              <a:t>h</a:t>
            </a:r>
            <a:r>
              <a:rPr sz="2000" b="1" dirty="0">
                <a:solidFill>
                  <a:prstClr val="black"/>
                </a:solidFill>
                <a:cs typeface="Arial"/>
              </a:rPr>
              <a:t>i</a:t>
            </a:r>
            <a:r>
              <a:rPr sz="2000" b="1" spc="5" dirty="0">
                <a:solidFill>
                  <a:prstClr val="black"/>
                </a:solidFill>
                <a:cs typeface="Arial"/>
              </a:rPr>
              <a:t>m</a:t>
            </a:r>
            <a:r>
              <a:rPr sz="2000" b="1" dirty="0">
                <a:solidFill>
                  <a:prstClr val="black"/>
                </a:solidFill>
                <a:cs typeface="Arial"/>
              </a:rPr>
              <a:t>i</a:t>
            </a:r>
            <a:r>
              <a:rPr sz="2000" b="1" spc="5" dirty="0">
                <a:solidFill>
                  <a:prstClr val="black"/>
                </a:solidFill>
                <a:cs typeface="Arial"/>
              </a:rPr>
              <a:t>que</a:t>
            </a:r>
            <a:r>
              <a:rPr sz="2000" spc="-10" dirty="0">
                <a:solidFill>
                  <a:prstClr val="black"/>
                </a:solidFill>
                <a:cs typeface="Arial"/>
              </a:rPr>
              <a:t>: </a:t>
            </a:r>
            <a:r>
              <a:rPr sz="2000" b="1" spc="-5" dirty="0" err="1">
                <a:solidFill>
                  <a:srgbClr val="00B050"/>
                </a:solidFill>
                <a:cs typeface="Arial"/>
              </a:rPr>
              <a:t>m</a:t>
            </a:r>
            <a:r>
              <a:rPr sz="2000" b="1" dirty="0" err="1">
                <a:solidFill>
                  <a:srgbClr val="00B050"/>
                </a:solidFill>
                <a:cs typeface="Arial"/>
              </a:rPr>
              <a:t>o</a:t>
            </a:r>
            <a:r>
              <a:rPr sz="2000" b="1" spc="-15" dirty="0" err="1">
                <a:solidFill>
                  <a:srgbClr val="00B050"/>
                </a:solidFill>
                <a:cs typeface="Arial"/>
              </a:rPr>
              <a:t>l</a:t>
            </a:r>
            <a:r>
              <a:rPr sz="2000" b="1" spc="5" dirty="0" err="1">
                <a:solidFill>
                  <a:srgbClr val="00B050"/>
                </a:solidFill>
                <a:cs typeface="Arial"/>
              </a:rPr>
              <a:t>éc</a:t>
            </a:r>
            <a:r>
              <a:rPr sz="2000" b="1" spc="-20" dirty="0" err="1">
                <a:solidFill>
                  <a:srgbClr val="00B050"/>
                </a:solidFill>
                <a:cs typeface="Arial"/>
              </a:rPr>
              <a:t>u</a:t>
            </a:r>
            <a:r>
              <a:rPr sz="2000" b="1" spc="-15" dirty="0" err="1">
                <a:solidFill>
                  <a:srgbClr val="00B050"/>
                </a:solidFill>
                <a:cs typeface="Arial"/>
              </a:rPr>
              <a:t>l</a:t>
            </a:r>
            <a:r>
              <a:rPr sz="2000" b="1" dirty="0" err="1">
                <a:solidFill>
                  <a:srgbClr val="00B050"/>
                </a:solidFill>
                <a:cs typeface="Arial"/>
              </a:rPr>
              <a:t>e</a:t>
            </a:r>
            <a:r>
              <a:rPr sz="2000" b="1" dirty="0">
                <a:solidFill>
                  <a:srgbClr val="00B050"/>
                </a:solidFill>
                <a:cs typeface="Arial"/>
              </a:rPr>
              <a:t> </a:t>
            </a:r>
            <a:r>
              <a:rPr sz="2000" b="1" spc="-20" dirty="0" err="1">
                <a:solidFill>
                  <a:srgbClr val="00B050"/>
                </a:solidFill>
                <a:cs typeface="Arial"/>
              </a:rPr>
              <a:t>d</a:t>
            </a:r>
            <a:r>
              <a:rPr sz="2000" b="1" spc="-15" dirty="0" err="1">
                <a:solidFill>
                  <a:srgbClr val="00B050"/>
                </a:solidFill>
                <a:cs typeface="Arial"/>
              </a:rPr>
              <a:t>i</a:t>
            </a:r>
            <a:r>
              <a:rPr sz="2000" b="1" spc="-20" dirty="0" err="1">
                <a:solidFill>
                  <a:srgbClr val="00B050"/>
                </a:solidFill>
                <a:cs typeface="Arial"/>
              </a:rPr>
              <a:t>po</a:t>
            </a:r>
            <a:r>
              <a:rPr sz="2000" b="1" spc="-15" dirty="0" err="1">
                <a:solidFill>
                  <a:srgbClr val="00B050"/>
                </a:solidFill>
                <a:cs typeface="Arial"/>
              </a:rPr>
              <a:t>l</a:t>
            </a:r>
            <a:r>
              <a:rPr sz="2000" b="1" spc="5" dirty="0" err="1">
                <a:solidFill>
                  <a:srgbClr val="00B050"/>
                </a:solidFill>
                <a:cs typeface="Arial"/>
              </a:rPr>
              <a:t>a</a:t>
            </a:r>
            <a:r>
              <a:rPr sz="2000" b="1" spc="-15" dirty="0" err="1">
                <a:solidFill>
                  <a:srgbClr val="00B050"/>
                </a:solidFill>
                <a:cs typeface="Arial"/>
              </a:rPr>
              <a:t>i</a:t>
            </a:r>
            <a:r>
              <a:rPr sz="2000" b="1" spc="-5" dirty="0" err="1">
                <a:solidFill>
                  <a:srgbClr val="00B050"/>
                </a:solidFill>
                <a:cs typeface="Arial"/>
              </a:rPr>
              <a:t>r</a:t>
            </a:r>
            <a:r>
              <a:rPr sz="2000" b="1" spc="10" dirty="0" err="1">
                <a:solidFill>
                  <a:srgbClr val="00B050"/>
                </a:solidFill>
                <a:cs typeface="Arial"/>
              </a:rPr>
              <a:t>e</a:t>
            </a:r>
            <a:endParaRPr lang="fr-FR" sz="2000" spc="-10" dirty="0">
              <a:solidFill>
                <a:prstClr val="black"/>
              </a:solidFill>
              <a:cs typeface="Arial"/>
            </a:endParaRPr>
          </a:p>
          <a:p>
            <a:pPr marL="241300" marR="5080" indent="-228600">
              <a:lnSpc>
                <a:spcPct val="125000"/>
              </a:lnSpc>
              <a:spcBef>
                <a:spcPts val="1005"/>
              </a:spcBef>
              <a:buFont typeface="Arial"/>
              <a:buChar char="•"/>
              <a:tabLst>
                <a:tab pos="241300" algn="l"/>
              </a:tabLst>
            </a:pPr>
            <a:r>
              <a:rPr lang="fr-FR" sz="2000" spc="5" dirty="0" err="1">
                <a:solidFill>
                  <a:prstClr val="black"/>
                </a:solidFill>
                <a:cs typeface="Arial"/>
              </a:rPr>
              <a:t>E</a:t>
            </a:r>
            <a:r>
              <a:rPr sz="2000" spc="-15" dirty="0" err="1">
                <a:solidFill>
                  <a:prstClr val="black"/>
                </a:solidFill>
                <a:cs typeface="Arial"/>
              </a:rPr>
              <a:t>t</a:t>
            </a:r>
            <a:r>
              <a:rPr sz="2000" spc="5" dirty="0" err="1">
                <a:solidFill>
                  <a:prstClr val="black"/>
                </a:solidFill>
                <a:cs typeface="Arial"/>
              </a:rPr>
              <a:t>ab</a:t>
            </a:r>
            <a:r>
              <a:rPr sz="2000" dirty="0" err="1">
                <a:solidFill>
                  <a:prstClr val="black"/>
                </a:solidFill>
                <a:cs typeface="Arial"/>
              </a:rPr>
              <a:t>liss</a:t>
            </a:r>
            <a:r>
              <a:rPr sz="2000" spc="5" dirty="0" err="1">
                <a:solidFill>
                  <a:prstClr val="black"/>
                </a:solidFill>
                <a:cs typeface="Arial"/>
              </a:rPr>
              <a:t>emen</a:t>
            </a:r>
            <a:r>
              <a:rPr sz="2000" spc="-10" dirty="0" err="1">
                <a:solidFill>
                  <a:prstClr val="black"/>
                </a:solidFill>
                <a:cs typeface="Arial"/>
              </a:rPr>
              <a:t>t</a:t>
            </a:r>
            <a:r>
              <a:rPr sz="2000" spc="-10" dirty="0">
                <a:solidFill>
                  <a:prstClr val="black"/>
                </a:solidFill>
                <a:cs typeface="Arial"/>
              </a:rPr>
              <a:t> </a:t>
            </a:r>
            <a:r>
              <a:rPr sz="2000" spc="5" dirty="0">
                <a:solidFill>
                  <a:prstClr val="black"/>
                </a:solidFill>
                <a:cs typeface="Arial"/>
              </a:rPr>
              <a:t>d</a:t>
            </a:r>
            <a:r>
              <a:rPr sz="2000" dirty="0">
                <a:solidFill>
                  <a:prstClr val="black"/>
                </a:solidFill>
                <a:cs typeface="Arial"/>
              </a:rPr>
              <a:t>e </a:t>
            </a:r>
            <a:r>
              <a:rPr sz="2000" b="1" spc="-15" dirty="0">
                <a:solidFill>
                  <a:srgbClr val="00B050"/>
                </a:solidFill>
                <a:cs typeface="Arial"/>
              </a:rPr>
              <a:t>li</a:t>
            </a:r>
            <a:r>
              <a:rPr sz="2000" b="1" spc="-20" dirty="0">
                <a:solidFill>
                  <a:srgbClr val="00B050"/>
                </a:solidFill>
                <a:cs typeface="Arial"/>
              </a:rPr>
              <a:t>a</a:t>
            </a:r>
            <a:r>
              <a:rPr sz="2000" b="1" spc="-15" dirty="0">
                <a:solidFill>
                  <a:srgbClr val="00B050"/>
                </a:solidFill>
                <a:cs typeface="Arial"/>
              </a:rPr>
              <a:t>i</a:t>
            </a:r>
            <a:r>
              <a:rPr sz="2000" b="1" spc="-20" dirty="0">
                <a:solidFill>
                  <a:srgbClr val="00B050"/>
                </a:solidFill>
                <a:cs typeface="Arial"/>
              </a:rPr>
              <a:t>son</a:t>
            </a:r>
            <a:r>
              <a:rPr sz="2000" b="1" dirty="0">
                <a:solidFill>
                  <a:srgbClr val="00B050"/>
                </a:solidFill>
                <a:cs typeface="Arial"/>
              </a:rPr>
              <a:t>s é</a:t>
            </a:r>
            <a:r>
              <a:rPr sz="2000" b="1" spc="-15" dirty="0">
                <a:solidFill>
                  <a:srgbClr val="00B050"/>
                </a:solidFill>
                <a:cs typeface="Arial"/>
              </a:rPr>
              <a:t>l</a:t>
            </a:r>
            <a:r>
              <a:rPr sz="2000" b="1" spc="-20" dirty="0">
                <a:solidFill>
                  <a:srgbClr val="00B050"/>
                </a:solidFill>
                <a:cs typeface="Arial"/>
              </a:rPr>
              <a:t>e</a:t>
            </a:r>
            <a:r>
              <a:rPr sz="2000" b="1" dirty="0">
                <a:solidFill>
                  <a:srgbClr val="00B050"/>
                </a:solidFill>
                <a:cs typeface="Arial"/>
              </a:rPr>
              <a:t>c</a:t>
            </a:r>
            <a:r>
              <a:rPr sz="2000" b="1" spc="5" dirty="0">
                <a:solidFill>
                  <a:srgbClr val="00B050"/>
                </a:solidFill>
                <a:cs typeface="Arial"/>
              </a:rPr>
              <a:t>t</a:t>
            </a:r>
            <a:r>
              <a:rPr sz="2000" b="1" spc="-5" dirty="0">
                <a:solidFill>
                  <a:srgbClr val="00B050"/>
                </a:solidFill>
                <a:cs typeface="Arial"/>
              </a:rPr>
              <a:t>r</a:t>
            </a:r>
            <a:r>
              <a:rPr sz="2000" b="1" spc="-20" dirty="0">
                <a:solidFill>
                  <a:srgbClr val="00B050"/>
                </a:solidFill>
                <a:cs typeface="Arial"/>
              </a:rPr>
              <a:t>o</a:t>
            </a:r>
            <a:r>
              <a:rPr sz="2000" b="1" dirty="0">
                <a:solidFill>
                  <a:srgbClr val="00B050"/>
                </a:solidFill>
                <a:cs typeface="Arial"/>
              </a:rPr>
              <a:t>s</a:t>
            </a:r>
            <a:r>
              <a:rPr sz="2000" b="1" spc="5" dirty="0">
                <a:solidFill>
                  <a:srgbClr val="00B050"/>
                </a:solidFill>
                <a:cs typeface="Arial"/>
              </a:rPr>
              <a:t>t</a:t>
            </a:r>
            <a:r>
              <a:rPr sz="2000" b="1" dirty="0">
                <a:solidFill>
                  <a:srgbClr val="00B050"/>
                </a:solidFill>
                <a:cs typeface="Arial"/>
              </a:rPr>
              <a:t>a</a:t>
            </a:r>
            <a:r>
              <a:rPr sz="2000" b="1" spc="5" dirty="0">
                <a:solidFill>
                  <a:srgbClr val="00B050"/>
                </a:solidFill>
                <a:cs typeface="Arial"/>
              </a:rPr>
              <a:t>t</a:t>
            </a:r>
            <a:r>
              <a:rPr sz="2000" b="1" spc="-15" dirty="0">
                <a:solidFill>
                  <a:srgbClr val="00B050"/>
                </a:solidFill>
                <a:cs typeface="Arial"/>
              </a:rPr>
              <a:t>i</a:t>
            </a:r>
            <a:r>
              <a:rPr sz="2000" b="1" spc="-20" dirty="0">
                <a:solidFill>
                  <a:srgbClr val="00B050"/>
                </a:solidFill>
                <a:cs typeface="Arial"/>
              </a:rPr>
              <a:t>qu</a:t>
            </a:r>
            <a:r>
              <a:rPr sz="2000" b="1" dirty="0">
                <a:solidFill>
                  <a:srgbClr val="00B050"/>
                </a:solidFill>
                <a:cs typeface="Arial"/>
              </a:rPr>
              <a:t>es </a:t>
            </a:r>
            <a:r>
              <a:rPr sz="2000" spc="5" dirty="0">
                <a:solidFill>
                  <a:prstClr val="black"/>
                </a:solidFill>
                <a:cs typeface="Arial"/>
              </a:rPr>
              <a:t>a</a:t>
            </a:r>
            <a:r>
              <a:rPr sz="2000" dirty="0">
                <a:solidFill>
                  <a:prstClr val="black"/>
                </a:solidFill>
                <a:cs typeface="Arial"/>
              </a:rPr>
              <a:t>v</a:t>
            </a:r>
            <a:r>
              <a:rPr sz="2000" spc="5" dirty="0">
                <a:solidFill>
                  <a:prstClr val="black"/>
                </a:solidFill>
                <a:cs typeface="Arial"/>
              </a:rPr>
              <a:t>e</a:t>
            </a:r>
            <a:r>
              <a:rPr sz="2000" dirty="0">
                <a:solidFill>
                  <a:prstClr val="black"/>
                </a:solidFill>
                <a:cs typeface="Arial"/>
              </a:rPr>
              <a:t>c</a:t>
            </a:r>
            <a:r>
              <a:rPr sz="2000" spc="-5" dirty="0">
                <a:solidFill>
                  <a:prstClr val="black"/>
                </a:solidFill>
                <a:cs typeface="Arial"/>
              </a:rPr>
              <a:t> </a:t>
            </a:r>
            <a:r>
              <a:rPr sz="2000" spc="5" dirty="0">
                <a:solidFill>
                  <a:prstClr val="black"/>
                </a:solidFill>
                <a:cs typeface="Arial"/>
              </a:rPr>
              <a:t>de</a:t>
            </a:r>
            <a:r>
              <a:rPr sz="2000" dirty="0">
                <a:solidFill>
                  <a:prstClr val="black"/>
                </a:solidFill>
                <a:cs typeface="Arial"/>
              </a:rPr>
              <a:t>s</a:t>
            </a:r>
            <a:r>
              <a:rPr sz="2000" spc="-5" dirty="0">
                <a:solidFill>
                  <a:prstClr val="black"/>
                </a:solidFill>
                <a:cs typeface="Arial"/>
              </a:rPr>
              <a:t> </a:t>
            </a:r>
            <a:r>
              <a:rPr sz="2000" spc="5" dirty="0" err="1">
                <a:solidFill>
                  <a:prstClr val="black"/>
                </a:solidFill>
                <a:cs typeface="Arial"/>
              </a:rPr>
              <a:t>mo</a:t>
            </a:r>
            <a:r>
              <a:rPr sz="2000" dirty="0" err="1">
                <a:solidFill>
                  <a:prstClr val="black"/>
                </a:solidFill>
                <a:cs typeface="Arial"/>
              </a:rPr>
              <a:t>l</a:t>
            </a:r>
            <a:r>
              <a:rPr sz="2000" spc="5" dirty="0" err="1">
                <a:solidFill>
                  <a:prstClr val="black"/>
                </a:solidFill>
                <a:cs typeface="Arial"/>
              </a:rPr>
              <a:t>é</a:t>
            </a:r>
            <a:r>
              <a:rPr sz="2000" dirty="0" err="1">
                <a:solidFill>
                  <a:prstClr val="black"/>
                </a:solidFill>
                <a:cs typeface="Arial"/>
              </a:rPr>
              <a:t>c</a:t>
            </a:r>
            <a:r>
              <a:rPr sz="2000" spc="5" dirty="0" err="1">
                <a:solidFill>
                  <a:prstClr val="black"/>
                </a:solidFill>
                <a:cs typeface="Arial"/>
              </a:rPr>
              <a:t>u</a:t>
            </a:r>
            <a:r>
              <a:rPr sz="2000" dirty="0" err="1">
                <a:solidFill>
                  <a:prstClr val="black"/>
                </a:solidFill>
                <a:cs typeface="Arial"/>
              </a:rPr>
              <a:t>l</a:t>
            </a:r>
            <a:r>
              <a:rPr sz="2000" spc="5" dirty="0" err="1">
                <a:solidFill>
                  <a:prstClr val="black"/>
                </a:solidFill>
                <a:cs typeface="Arial"/>
              </a:rPr>
              <a:t>e</a:t>
            </a:r>
            <a:r>
              <a:rPr sz="2000" dirty="0" err="1">
                <a:solidFill>
                  <a:prstClr val="black"/>
                </a:solidFill>
                <a:cs typeface="Arial"/>
              </a:rPr>
              <a:t>s</a:t>
            </a:r>
            <a:r>
              <a:rPr sz="2000" spc="-5" dirty="0">
                <a:solidFill>
                  <a:prstClr val="black"/>
                </a:solidFill>
                <a:cs typeface="Arial"/>
              </a:rPr>
              <a:t> </a:t>
            </a:r>
            <a:r>
              <a:rPr sz="2000" dirty="0" err="1">
                <a:solidFill>
                  <a:prstClr val="black"/>
                </a:solidFill>
                <a:cs typeface="Arial"/>
              </a:rPr>
              <a:t>c</a:t>
            </a:r>
            <a:r>
              <a:rPr sz="2000" spc="5" dirty="0" err="1">
                <a:solidFill>
                  <a:prstClr val="black"/>
                </a:solidFill>
                <a:cs typeface="Arial"/>
              </a:rPr>
              <a:t>hargée</a:t>
            </a:r>
            <a:r>
              <a:rPr sz="2000" spc="-15" dirty="0" err="1">
                <a:solidFill>
                  <a:prstClr val="black"/>
                </a:solidFill>
                <a:cs typeface="Arial"/>
              </a:rPr>
              <a:t>s</a:t>
            </a:r>
            <a:r>
              <a:rPr sz="2000" spc="-15" dirty="0">
                <a:solidFill>
                  <a:prstClr val="black"/>
                </a:solidFill>
                <a:cs typeface="Arial"/>
              </a:rPr>
              <a:t>;</a:t>
            </a:r>
            <a:endParaRPr lang="fr-FR" sz="2000" spc="-10" dirty="0">
              <a:solidFill>
                <a:prstClr val="black"/>
              </a:solidFill>
              <a:cs typeface="Arial"/>
            </a:endParaRPr>
          </a:p>
          <a:p>
            <a:pPr marL="241300" marR="5080" indent="-228600">
              <a:lnSpc>
                <a:spcPct val="125000"/>
              </a:lnSpc>
              <a:spcBef>
                <a:spcPts val="1005"/>
              </a:spcBef>
              <a:buFont typeface="Arial"/>
              <a:buChar char="•"/>
              <a:tabLst>
                <a:tab pos="241300" algn="l"/>
              </a:tabLst>
            </a:pPr>
            <a:r>
              <a:rPr lang="fr-FR" sz="2000" spc="5" dirty="0" err="1">
                <a:solidFill>
                  <a:prstClr val="black"/>
                </a:solidFill>
                <a:cs typeface="Arial"/>
              </a:rPr>
              <a:t>E</a:t>
            </a:r>
            <a:r>
              <a:rPr sz="2000" spc="-15" dirty="0" err="1">
                <a:solidFill>
                  <a:prstClr val="black"/>
                </a:solidFill>
                <a:cs typeface="Arial"/>
              </a:rPr>
              <a:t>t</a:t>
            </a:r>
            <a:r>
              <a:rPr sz="2000" spc="5" dirty="0" err="1">
                <a:solidFill>
                  <a:prstClr val="black"/>
                </a:solidFill>
                <a:cs typeface="Arial"/>
              </a:rPr>
              <a:t>ab</a:t>
            </a:r>
            <a:r>
              <a:rPr sz="2000" dirty="0" err="1">
                <a:solidFill>
                  <a:prstClr val="black"/>
                </a:solidFill>
                <a:cs typeface="Arial"/>
              </a:rPr>
              <a:t>liss</a:t>
            </a:r>
            <a:r>
              <a:rPr sz="2000" spc="5" dirty="0" err="1">
                <a:solidFill>
                  <a:prstClr val="black"/>
                </a:solidFill>
                <a:cs typeface="Arial"/>
              </a:rPr>
              <a:t>emen</a:t>
            </a:r>
            <a:r>
              <a:rPr sz="2000" spc="-10" dirty="0" err="1">
                <a:solidFill>
                  <a:prstClr val="black"/>
                </a:solidFill>
                <a:cs typeface="Arial"/>
              </a:rPr>
              <a:t>t</a:t>
            </a:r>
            <a:r>
              <a:rPr sz="2000" spc="-10" dirty="0">
                <a:solidFill>
                  <a:prstClr val="black"/>
                </a:solidFill>
                <a:cs typeface="Arial"/>
              </a:rPr>
              <a:t> </a:t>
            </a:r>
            <a:r>
              <a:rPr sz="2000" spc="5" dirty="0">
                <a:solidFill>
                  <a:prstClr val="black"/>
                </a:solidFill>
                <a:cs typeface="Arial"/>
              </a:rPr>
              <a:t>d</a:t>
            </a:r>
            <a:r>
              <a:rPr sz="2000" dirty="0">
                <a:solidFill>
                  <a:prstClr val="black"/>
                </a:solidFill>
                <a:cs typeface="Arial"/>
              </a:rPr>
              <a:t>e </a:t>
            </a:r>
            <a:r>
              <a:rPr sz="2000" b="1" spc="-15" dirty="0">
                <a:solidFill>
                  <a:srgbClr val="00B050"/>
                </a:solidFill>
                <a:cs typeface="Arial"/>
              </a:rPr>
              <a:t>li</a:t>
            </a:r>
            <a:r>
              <a:rPr sz="2000" b="1" spc="-20" dirty="0">
                <a:solidFill>
                  <a:srgbClr val="00B050"/>
                </a:solidFill>
                <a:cs typeface="Arial"/>
              </a:rPr>
              <a:t>a</a:t>
            </a:r>
            <a:r>
              <a:rPr sz="2000" b="1" spc="-15" dirty="0">
                <a:solidFill>
                  <a:srgbClr val="00B050"/>
                </a:solidFill>
                <a:cs typeface="Arial"/>
              </a:rPr>
              <a:t>i</a:t>
            </a:r>
            <a:r>
              <a:rPr sz="2000" b="1" spc="-20" dirty="0">
                <a:solidFill>
                  <a:srgbClr val="00B050"/>
                </a:solidFill>
                <a:cs typeface="Arial"/>
              </a:rPr>
              <a:t>son</a:t>
            </a:r>
            <a:r>
              <a:rPr sz="2000" b="1" dirty="0">
                <a:solidFill>
                  <a:srgbClr val="00B050"/>
                </a:solidFill>
                <a:cs typeface="Arial"/>
              </a:rPr>
              <a:t>s </a:t>
            </a:r>
            <a:r>
              <a:rPr sz="2000" b="1" spc="-20" dirty="0">
                <a:solidFill>
                  <a:srgbClr val="00B050"/>
                </a:solidFill>
                <a:cs typeface="Arial"/>
              </a:rPr>
              <a:t>h</a:t>
            </a:r>
            <a:r>
              <a:rPr sz="2000" b="1" dirty="0">
                <a:solidFill>
                  <a:srgbClr val="00B050"/>
                </a:solidFill>
                <a:cs typeface="Arial"/>
              </a:rPr>
              <a:t>y</a:t>
            </a:r>
            <a:r>
              <a:rPr sz="2000" b="1" spc="-20" dirty="0">
                <a:solidFill>
                  <a:srgbClr val="00B050"/>
                </a:solidFill>
                <a:cs typeface="Arial"/>
              </a:rPr>
              <a:t>d</a:t>
            </a:r>
            <a:r>
              <a:rPr sz="2000" b="1" spc="-5" dirty="0">
                <a:solidFill>
                  <a:srgbClr val="00B050"/>
                </a:solidFill>
                <a:cs typeface="Arial"/>
              </a:rPr>
              <a:t>r</a:t>
            </a:r>
            <a:r>
              <a:rPr sz="2000" b="1" spc="-20" dirty="0">
                <a:solidFill>
                  <a:srgbClr val="00B050"/>
                </a:solidFill>
                <a:cs typeface="Arial"/>
              </a:rPr>
              <a:t>og</a:t>
            </a:r>
            <a:r>
              <a:rPr sz="2000" b="1" dirty="0">
                <a:solidFill>
                  <a:srgbClr val="00B050"/>
                </a:solidFill>
                <a:cs typeface="Arial"/>
              </a:rPr>
              <a:t>è</a:t>
            </a:r>
            <a:r>
              <a:rPr sz="2000" b="1" spc="-20" dirty="0">
                <a:solidFill>
                  <a:srgbClr val="00B050"/>
                </a:solidFill>
                <a:cs typeface="Arial"/>
              </a:rPr>
              <a:t>n</a:t>
            </a:r>
            <a:r>
              <a:rPr sz="2000" b="1" dirty="0">
                <a:solidFill>
                  <a:srgbClr val="00B050"/>
                </a:solidFill>
                <a:cs typeface="Arial"/>
              </a:rPr>
              <a:t>es</a:t>
            </a:r>
            <a:endParaRPr sz="2000" dirty="0">
              <a:solidFill>
                <a:srgbClr val="00B050"/>
              </a:solidFill>
              <a:cs typeface="Arial"/>
            </a:endParaRPr>
          </a:p>
          <a:p>
            <a:pPr marL="241300" marR="648335" indent="-228600">
              <a:lnSpc>
                <a:spcPct val="125000"/>
              </a:lnSpc>
              <a:spcBef>
                <a:spcPts val="1005"/>
              </a:spcBef>
              <a:buFont typeface="Arial"/>
              <a:buChar char="•"/>
              <a:tabLst>
                <a:tab pos="241300" algn="l"/>
              </a:tabLst>
            </a:pPr>
            <a:r>
              <a:rPr sz="2000" spc="-5" dirty="0">
                <a:solidFill>
                  <a:prstClr val="black"/>
                </a:solidFill>
                <a:cs typeface="Arial"/>
              </a:rPr>
              <a:t>E</a:t>
            </a:r>
            <a:r>
              <a:rPr sz="2000" spc="5" dirty="0">
                <a:solidFill>
                  <a:prstClr val="black"/>
                </a:solidFill>
                <a:cs typeface="Arial"/>
              </a:rPr>
              <a:t>a</a:t>
            </a:r>
            <a:r>
              <a:rPr sz="2000" dirty="0">
                <a:solidFill>
                  <a:prstClr val="black"/>
                </a:solidFill>
                <a:cs typeface="Arial"/>
              </a:rPr>
              <a:t>u j</a:t>
            </a:r>
            <a:r>
              <a:rPr sz="2000" spc="5" dirty="0">
                <a:solidFill>
                  <a:prstClr val="black"/>
                </a:solidFill>
                <a:cs typeface="Arial"/>
              </a:rPr>
              <a:t>ou</a:t>
            </a:r>
            <a:r>
              <a:rPr sz="2000" dirty="0">
                <a:solidFill>
                  <a:prstClr val="black"/>
                </a:solidFill>
                <a:cs typeface="Arial"/>
              </a:rPr>
              <a:t>e </a:t>
            </a:r>
            <a:r>
              <a:rPr sz="2000" spc="5" dirty="0">
                <a:solidFill>
                  <a:prstClr val="black"/>
                </a:solidFill>
                <a:cs typeface="Arial"/>
              </a:rPr>
              <a:t>u</a:t>
            </a:r>
            <a:r>
              <a:rPr sz="2000" dirty="0">
                <a:solidFill>
                  <a:prstClr val="black"/>
                </a:solidFill>
                <a:cs typeface="Arial"/>
              </a:rPr>
              <a:t>n </a:t>
            </a:r>
            <a:r>
              <a:rPr sz="2000" spc="5" dirty="0">
                <a:solidFill>
                  <a:prstClr val="black"/>
                </a:solidFill>
                <a:cs typeface="Arial"/>
              </a:rPr>
              <a:t>rô</a:t>
            </a:r>
            <a:r>
              <a:rPr sz="2000" dirty="0">
                <a:solidFill>
                  <a:prstClr val="black"/>
                </a:solidFill>
                <a:cs typeface="Arial"/>
              </a:rPr>
              <a:t>le </a:t>
            </a:r>
            <a:r>
              <a:rPr sz="2000" spc="5" dirty="0">
                <a:solidFill>
                  <a:prstClr val="black"/>
                </a:solidFill>
                <a:cs typeface="Arial"/>
              </a:rPr>
              <a:t>d</a:t>
            </a:r>
            <a:r>
              <a:rPr sz="2000" dirty="0">
                <a:solidFill>
                  <a:prstClr val="black"/>
                </a:solidFill>
                <a:cs typeface="Arial"/>
              </a:rPr>
              <a:t>e</a:t>
            </a:r>
            <a:r>
              <a:rPr sz="2000" spc="-10" dirty="0">
                <a:solidFill>
                  <a:prstClr val="black"/>
                </a:solidFill>
                <a:cs typeface="Arial"/>
              </a:rPr>
              <a:t> </a:t>
            </a:r>
            <a:r>
              <a:rPr sz="2000" b="1" spc="-15" dirty="0">
                <a:solidFill>
                  <a:prstClr val="black"/>
                </a:solidFill>
                <a:cs typeface="Arial"/>
              </a:rPr>
              <a:t>s</a:t>
            </a:r>
            <a:r>
              <a:rPr sz="2000" b="1" spc="-20" dirty="0">
                <a:solidFill>
                  <a:prstClr val="black"/>
                </a:solidFill>
                <a:cs typeface="Arial"/>
              </a:rPr>
              <a:t>o</a:t>
            </a:r>
            <a:r>
              <a:rPr sz="2000" b="1" spc="-15" dirty="0">
                <a:solidFill>
                  <a:prstClr val="black"/>
                </a:solidFill>
                <a:cs typeface="Arial"/>
              </a:rPr>
              <a:t>l</a:t>
            </a:r>
            <a:r>
              <a:rPr sz="2000" b="1" spc="5" dirty="0">
                <a:solidFill>
                  <a:prstClr val="black"/>
                </a:solidFill>
                <a:cs typeface="Arial"/>
              </a:rPr>
              <a:t>va</a:t>
            </a:r>
            <a:r>
              <a:rPr sz="2000" b="1" dirty="0">
                <a:solidFill>
                  <a:prstClr val="black"/>
                </a:solidFill>
                <a:cs typeface="Arial"/>
              </a:rPr>
              <a:t>nt</a:t>
            </a:r>
            <a:r>
              <a:rPr sz="2000" b="1" spc="-5" dirty="0">
                <a:solidFill>
                  <a:prstClr val="black"/>
                </a:solidFill>
                <a:cs typeface="Arial"/>
              </a:rPr>
              <a:t> </a:t>
            </a:r>
            <a:r>
              <a:rPr sz="2000" spc="5" dirty="0">
                <a:solidFill>
                  <a:prstClr val="black"/>
                </a:solidFill>
                <a:cs typeface="Arial"/>
              </a:rPr>
              <a:t>de</a:t>
            </a:r>
            <a:r>
              <a:rPr sz="2000" dirty="0">
                <a:solidFill>
                  <a:prstClr val="black"/>
                </a:solidFill>
                <a:cs typeface="Arial"/>
              </a:rPr>
              <a:t>s</a:t>
            </a:r>
            <a:r>
              <a:rPr sz="2000" spc="-5" dirty="0">
                <a:solidFill>
                  <a:prstClr val="black"/>
                </a:solidFill>
                <a:cs typeface="Arial"/>
              </a:rPr>
              <a:t> </a:t>
            </a:r>
            <a:r>
              <a:rPr sz="2000" spc="5" dirty="0">
                <a:solidFill>
                  <a:prstClr val="black"/>
                </a:solidFill>
                <a:cs typeface="Arial"/>
              </a:rPr>
              <a:t>mo</a:t>
            </a:r>
            <a:r>
              <a:rPr sz="2000" dirty="0">
                <a:solidFill>
                  <a:prstClr val="black"/>
                </a:solidFill>
                <a:cs typeface="Arial"/>
              </a:rPr>
              <a:t>l</a:t>
            </a:r>
            <a:r>
              <a:rPr sz="2000" spc="5" dirty="0">
                <a:solidFill>
                  <a:prstClr val="black"/>
                </a:solidFill>
                <a:cs typeface="Arial"/>
              </a:rPr>
              <a:t>é</a:t>
            </a:r>
            <a:r>
              <a:rPr sz="2000" dirty="0">
                <a:solidFill>
                  <a:prstClr val="black"/>
                </a:solidFill>
                <a:cs typeface="Arial"/>
              </a:rPr>
              <a:t>c</a:t>
            </a:r>
            <a:r>
              <a:rPr sz="2000" spc="5" dirty="0">
                <a:solidFill>
                  <a:prstClr val="black"/>
                </a:solidFill>
                <a:cs typeface="Arial"/>
              </a:rPr>
              <a:t>u</a:t>
            </a:r>
            <a:r>
              <a:rPr sz="2000" dirty="0">
                <a:solidFill>
                  <a:prstClr val="black"/>
                </a:solidFill>
                <a:cs typeface="Arial"/>
              </a:rPr>
              <a:t>l</a:t>
            </a:r>
            <a:r>
              <a:rPr sz="2000" spc="5" dirty="0">
                <a:solidFill>
                  <a:prstClr val="black"/>
                </a:solidFill>
                <a:cs typeface="Arial"/>
              </a:rPr>
              <a:t>e</a:t>
            </a:r>
            <a:r>
              <a:rPr sz="2000" dirty="0">
                <a:solidFill>
                  <a:prstClr val="black"/>
                </a:solidFill>
                <a:cs typeface="Arial"/>
              </a:rPr>
              <a:t>s</a:t>
            </a:r>
            <a:r>
              <a:rPr sz="2000" spc="-5" dirty="0">
                <a:solidFill>
                  <a:prstClr val="black"/>
                </a:solidFill>
                <a:cs typeface="Arial"/>
              </a:rPr>
              <a:t> </a:t>
            </a:r>
            <a:r>
              <a:rPr sz="2000" spc="5" dirty="0">
                <a:solidFill>
                  <a:prstClr val="black"/>
                </a:solidFill>
                <a:cs typeface="Arial"/>
              </a:rPr>
              <a:t>organ</a:t>
            </a:r>
            <a:r>
              <a:rPr sz="2000" dirty="0">
                <a:solidFill>
                  <a:prstClr val="black"/>
                </a:solidFill>
                <a:cs typeface="Arial"/>
              </a:rPr>
              <a:t>i</a:t>
            </a:r>
            <a:r>
              <a:rPr sz="2000" spc="5" dirty="0">
                <a:solidFill>
                  <a:prstClr val="black"/>
                </a:solidFill>
                <a:cs typeface="Arial"/>
              </a:rPr>
              <a:t>que</a:t>
            </a:r>
            <a:r>
              <a:rPr sz="2000" dirty="0">
                <a:solidFill>
                  <a:prstClr val="black"/>
                </a:solidFill>
                <a:cs typeface="Arial"/>
              </a:rPr>
              <a:t>s</a:t>
            </a:r>
            <a:r>
              <a:rPr sz="2000" spc="-5" dirty="0">
                <a:solidFill>
                  <a:prstClr val="black"/>
                </a:solidFill>
                <a:cs typeface="Arial"/>
              </a:rPr>
              <a:t> </a:t>
            </a:r>
            <a:r>
              <a:rPr sz="2000" spc="5" dirty="0">
                <a:solidFill>
                  <a:prstClr val="black"/>
                </a:solidFill>
                <a:cs typeface="Arial"/>
              </a:rPr>
              <a:t>e</a:t>
            </a:r>
            <a:r>
              <a:rPr sz="2000" spc="-10" dirty="0">
                <a:solidFill>
                  <a:prstClr val="black"/>
                </a:solidFill>
                <a:cs typeface="Arial"/>
              </a:rPr>
              <a:t>t </a:t>
            </a:r>
            <a:r>
              <a:rPr sz="2000" spc="5" dirty="0">
                <a:solidFill>
                  <a:prstClr val="black"/>
                </a:solidFill>
                <a:cs typeface="Arial"/>
              </a:rPr>
              <a:t>m</a:t>
            </a:r>
            <a:r>
              <a:rPr sz="2000" dirty="0">
                <a:solidFill>
                  <a:prstClr val="black"/>
                </a:solidFill>
                <a:cs typeface="Arial"/>
              </a:rPr>
              <a:t>i</a:t>
            </a:r>
            <a:r>
              <a:rPr sz="2000" spc="5" dirty="0">
                <a:solidFill>
                  <a:prstClr val="black"/>
                </a:solidFill>
                <a:cs typeface="Arial"/>
              </a:rPr>
              <a:t>néra</a:t>
            </a:r>
            <a:r>
              <a:rPr sz="2000" dirty="0">
                <a:solidFill>
                  <a:prstClr val="black"/>
                </a:solidFill>
                <a:cs typeface="Arial"/>
              </a:rPr>
              <a:t>l</a:t>
            </a:r>
            <a:r>
              <a:rPr sz="2000" spc="5" dirty="0">
                <a:solidFill>
                  <a:prstClr val="black"/>
                </a:solidFill>
                <a:cs typeface="Arial"/>
              </a:rPr>
              <a:t>e</a:t>
            </a:r>
            <a:r>
              <a:rPr sz="2000" spc="-15" dirty="0">
                <a:solidFill>
                  <a:prstClr val="black"/>
                </a:solidFill>
                <a:cs typeface="Arial"/>
              </a:rPr>
              <a:t>s;</a:t>
            </a:r>
            <a:endParaRPr sz="2000" dirty="0">
              <a:solidFill>
                <a:prstClr val="black"/>
              </a:solidFill>
              <a:cs typeface="Arial"/>
            </a:endParaRP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3560" y="4084320"/>
            <a:ext cx="8427720" cy="2590800"/>
          </a:xfrm>
          <a:prstGeom prst="rect">
            <a:avLst/>
          </a:prstGeom>
        </p:spPr>
      </p:pic>
      <p:sp>
        <p:nvSpPr>
          <p:cNvPr id="4" name="ZoneTexte 3"/>
          <p:cNvSpPr txBox="1"/>
          <p:nvPr/>
        </p:nvSpPr>
        <p:spPr>
          <a:xfrm>
            <a:off x="548640" y="137160"/>
            <a:ext cx="4134465" cy="830997"/>
          </a:xfrm>
          <a:prstGeom prst="rect">
            <a:avLst/>
          </a:prstGeom>
          <a:noFill/>
        </p:spPr>
        <p:txBody>
          <a:bodyPr wrap="none" rtlCol="0">
            <a:spAutoFit/>
          </a:bodyPr>
          <a:lstStyle/>
          <a:p>
            <a:r>
              <a:rPr lang="fr-FR" sz="2400" b="1" dirty="0">
                <a:solidFill>
                  <a:srgbClr val="0033CC"/>
                </a:solidFill>
              </a:rPr>
              <a:t>I </a:t>
            </a:r>
            <a:r>
              <a:rPr lang="fr-FR" sz="2400" b="1" dirty="0">
                <a:solidFill>
                  <a:srgbClr val="0033CC"/>
                </a:solidFill>
              </a:rPr>
              <a:t>– Les molécules minérales</a:t>
            </a:r>
          </a:p>
          <a:p>
            <a:r>
              <a:rPr lang="fr-FR" sz="2400" b="1" dirty="0">
                <a:solidFill>
                  <a:srgbClr val="0033CC"/>
                </a:solidFill>
              </a:rPr>
              <a:t>1-1  </a:t>
            </a:r>
            <a:r>
              <a:rPr lang="fr-FR" sz="2400" b="1" dirty="0">
                <a:solidFill>
                  <a:srgbClr val="0033CC"/>
                </a:solidFill>
              </a:rPr>
              <a:t>L’eau</a:t>
            </a:r>
          </a:p>
        </p:txBody>
      </p:sp>
    </p:spTree>
    <p:extLst>
      <p:ext uri="{BB962C8B-B14F-4D97-AF65-F5344CB8AC3E}">
        <p14:creationId xmlns:p14="http://schemas.microsoft.com/office/powerpoint/2010/main" val="1886674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 calcmode="lin" valueType="num">
                                      <p:cBhvr additive="base">
                                        <p:cTn id="1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 calcmode="lin" valueType="num">
                                      <p:cBhvr additive="base">
                                        <p:cTn id="2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 calcmode="lin" valueType="num">
                                      <p:cBhvr additive="base">
                                        <p:cTn id="3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p:cNvSpPr txBox="1"/>
          <p:nvPr/>
        </p:nvSpPr>
        <p:spPr>
          <a:xfrm>
            <a:off x="414020" y="1854087"/>
            <a:ext cx="11777980" cy="3272691"/>
          </a:xfrm>
          <a:prstGeom prst="rect">
            <a:avLst/>
          </a:prstGeom>
        </p:spPr>
        <p:txBody>
          <a:bodyPr vert="horz" wrap="square" lIns="0" tIns="0" rIns="0" bIns="0" rtlCol="0">
            <a:spAutoFit/>
          </a:bodyPr>
          <a:lstStyle/>
          <a:p>
            <a:pPr marL="241300" indent="-228600">
              <a:buFont typeface="Arial"/>
              <a:buChar char="•"/>
              <a:tabLst>
                <a:tab pos="241300" algn="l"/>
              </a:tabLst>
            </a:pPr>
            <a:r>
              <a:rPr lang="fr-FR" sz="2800" spc="5" dirty="0">
                <a:solidFill>
                  <a:prstClr val="black"/>
                </a:solidFill>
                <a:cs typeface="Arial"/>
              </a:rPr>
              <a:t>E</a:t>
            </a:r>
            <a:r>
              <a:rPr lang="fr-FR" sz="2800" spc="-15" dirty="0">
                <a:solidFill>
                  <a:prstClr val="black"/>
                </a:solidFill>
                <a:cs typeface="Arial"/>
              </a:rPr>
              <a:t>t</a:t>
            </a:r>
            <a:r>
              <a:rPr lang="fr-FR" sz="2800" spc="5" dirty="0">
                <a:solidFill>
                  <a:prstClr val="black"/>
                </a:solidFill>
                <a:cs typeface="Arial"/>
              </a:rPr>
              <a:t>ab</a:t>
            </a:r>
            <a:r>
              <a:rPr lang="fr-FR" sz="2800" dirty="0">
                <a:solidFill>
                  <a:prstClr val="black"/>
                </a:solidFill>
                <a:cs typeface="Arial"/>
              </a:rPr>
              <a:t>liss</a:t>
            </a:r>
            <a:r>
              <a:rPr lang="fr-FR" sz="2800" spc="5" dirty="0">
                <a:solidFill>
                  <a:prstClr val="black"/>
                </a:solidFill>
                <a:cs typeface="Arial"/>
              </a:rPr>
              <a:t>emen</a:t>
            </a:r>
            <a:r>
              <a:rPr lang="fr-FR" sz="2800" spc="-10" dirty="0">
                <a:solidFill>
                  <a:prstClr val="black"/>
                </a:solidFill>
                <a:cs typeface="Arial"/>
              </a:rPr>
              <a:t>t</a:t>
            </a:r>
            <a:r>
              <a:rPr sz="2800" spc="-10" dirty="0">
                <a:solidFill>
                  <a:prstClr val="black"/>
                </a:solidFill>
                <a:cs typeface="Arial"/>
              </a:rPr>
              <a:t> </a:t>
            </a:r>
            <a:r>
              <a:rPr sz="2800" spc="5" dirty="0">
                <a:solidFill>
                  <a:prstClr val="black"/>
                </a:solidFill>
                <a:cs typeface="Arial"/>
              </a:rPr>
              <a:t>d</a:t>
            </a:r>
            <a:r>
              <a:rPr sz="2800" dirty="0">
                <a:solidFill>
                  <a:prstClr val="black"/>
                </a:solidFill>
                <a:cs typeface="Arial"/>
              </a:rPr>
              <a:t>e li</a:t>
            </a:r>
            <a:r>
              <a:rPr sz="2800" spc="5" dirty="0">
                <a:solidFill>
                  <a:prstClr val="black"/>
                </a:solidFill>
                <a:cs typeface="Arial"/>
              </a:rPr>
              <a:t>a</a:t>
            </a:r>
            <a:r>
              <a:rPr sz="2800" dirty="0">
                <a:solidFill>
                  <a:prstClr val="black"/>
                </a:solidFill>
                <a:cs typeface="Arial"/>
              </a:rPr>
              <a:t>is</a:t>
            </a:r>
            <a:r>
              <a:rPr sz="2800" spc="5" dirty="0">
                <a:solidFill>
                  <a:prstClr val="black"/>
                </a:solidFill>
                <a:cs typeface="Arial"/>
              </a:rPr>
              <a:t>on</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en</a:t>
            </a:r>
            <a:r>
              <a:rPr sz="2800" spc="-15" dirty="0">
                <a:solidFill>
                  <a:prstClr val="black"/>
                </a:solidFill>
                <a:cs typeface="Arial"/>
              </a:rPr>
              <a:t>t</a:t>
            </a:r>
            <a:r>
              <a:rPr sz="2800" spc="5" dirty="0">
                <a:solidFill>
                  <a:prstClr val="black"/>
                </a:solidFill>
                <a:cs typeface="Arial"/>
              </a:rPr>
              <a:t>r</a:t>
            </a:r>
            <a:r>
              <a:rPr sz="2800" dirty="0">
                <a:solidFill>
                  <a:prstClr val="black"/>
                </a:solidFill>
                <a:cs typeface="Arial"/>
              </a:rPr>
              <a:t>e l</a:t>
            </a:r>
            <a:r>
              <a:rPr sz="2800" spc="5" dirty="0">
                <a:solidFill>
                  <a:prstClr val="black"/>
                </a:solidFill>
                <a:cs typeface="Arial"/>
              </a:rPr>
              <a:t>e</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mo</a:t>
            </a:r>
            <a:r>
              <a:rPr sz="2800" dirty="0">
                <a:solidFill>
                  <a:prstClr val="black"/>
                </a:solidFill>
                <a:cs typeface="Arial"/>
              </a:rPr>
              <a:t>l</a:t>
            </a:r>
            <a:r>
              <a:rPr sz="2800" spc="5" dirty="0">
                <a:solidFill>
                  <a:prstClr val="black"/>
                </a:solidFill>
                <a:cs typeface="Arial"/>
              </a:rPr>
              <a:t>é</a:t>
            </a:r>
            <a:r>
              <a:rPr sz="2800" dirty="0">
                <a:solidFill>
                  <a:prstClr val="black"/>
                </a:solidFill>
                <a:cs typeface="Arial"/>
              </a:rPr>
              <a:t>c</a:t>
            </a:r>
            <a:r>
              <a:rPr sz="2800" spc="5" dirty="0">
                <a:solidFill>
                  <a:prstClr val="black"/>
                </a:solidFill>
                <a:cs typeface="Arial"/>
              </a:rPr>
              <a:t>u</a:t>
            </a:r>
            <a:r>
              <a:rPr sz="2800" dirty="0">
                <a:solidFill>
                  <a:prstClr val="black"/>
                </a:solidFill>
                <a:cs typeface="Arial"/>
              </a:rPr>
              <a:t>l</a:t>
            </a:r>
            <a:r>
              <a:rPr sz="2800" spc="5" dirty="0">
                <a:solidFill>
                  <a:prstClr val="black"/>
                </a:solidFill>
                <a:cs typeface="Arial"/>
              </a:rPr>
              <a:t>e</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d</a:t>
            </a:r>
            <a:r>
              <a:rPr sz="2800" dirty="0">
                <a:solidFill>
                  <a:prstClr val="black"/>
                </a:solidFill>
                <a:cs typeface="Arial"/>
              </a:rPr>
              <a:t>’</a:t>
            </a:r>
            <a:r>
              <a:rPr sz="2800" spc="5" dirty="0">
                <a:solidFill>
                  <a:prstClr val="black"/>
                </a:solidFill>
                <a:cs typeface="Arial"/>
              </a:rPr>
              <a:t>ea</a:t>
            </a:r>
            <a:r>
              <a:rPr sz="2800" dirty="0">
                <a:solidFill>
                  <a:prstClr val="black"/>
                </a:solidFill>
                <a:cs typeface="Arial"/>
              </a:rPr>
              <a:t>u </a:t>
            </a:r>
            <a:r>
              <a:rPr sz="2800" spc="5" dirty="0">
                <a:solidFill>
                  <a:prstClr val="black"/>
                </a:solidFill>
                <a:cs typeface="Arial"/>
              </a:rPr>
              <a:t>e</a:t>
            </a:r>
            <a:r>
              <a:rPr sz="2800" spc="-10" dirty="0">
                <a:solidFill>
                  <a:prstClr val="black"/>
                </a:solidFill>
                <a:cs typeface="Arial"/>
              </a:rPr>
              <a:t>t </a:t>
            </a:r>
            <a:r>
              <a:rPr sz="2800" dirty="0">
                <a:solidFill>
                  <a:prstClr val="black"/>
                </a:solidFill>
                <a:cs typeface="Arial"/>
              </a:rPr>
              <a:t>l</a:t>
            </a:r>
            <a:r>
              <a:rPr sz="2800" spc="5" dirty="0">
                <a:solidFill>
                  <a:prstClr val="black"/>
                </a:solidFill>
                <a:cs typeface="Arial"/>
              </a:rPr>
              <a:t>e</a:t>
            </a:r>
            <a:r>
              <a:rPr sz="2800" dirty="0">
                <a:solidFill>
                  <a:prstClr val="black"/>
                </a:solidFill>
                <a:cs typeface="Arial"/>
              </a:rPr>
              <a:t>s</a:t>
            </a:r>
            <a:r>
              <a:rPr lang="fr-FR" sz="2800" dirty="0">
                <a:solidFill>
                  <a:prstClr val="black"/>
                </a:solidFill>
                <a:cs typeface="Arial"/>
              </a:rPr>
              <a:t> </a:t>
            </a:r>
            <a:r>
              <a:rPr lang="fr-FR" sz="2800" b="1" spc="-5" dirty="0">
                <a:solidFill>
                  <a:prstClr val="black"/>
                </a:solidFill>
                <a:cs typeface="Arial"/>
              </a:rPr>
              <a:t>m</a:t>
            </a:r>
            <a:r>
              <a:rPr lang="fr-FR" sz="2800" b="1" dirty="0">
                <a:solidFill>
                  <a:prstClr val="black"/>
                </a:solidFill>
                <a:cs typeface="Arial"/>
              </a:rPr>
              <a:t>o</a:t>
            </a:r>
            <a:r>
              <a:rPr lang="fr-FR" sz="2800" b="1" spc="-15" dirty="0">
                <a:solidFill>
                  <a:prstClr val="black"/>
                </a:solidFill>
                <a:cs typeface="Arial"/>
              </a:rPr>
              <a:t>l</a:t>
            </a:r>
            <a:r>
              <a:rPr lang="fr-FR" sz="2800" b="1" spc="5" dirty="0">
                <a:solidFill>
                  <a:prstClr val="black"/>
                </a:solidFill>
                <a:cs typeface="Arial"/>
              </a:rPr>
              <a:t>éc</a:t>
            </a:r>
            <a:r>
              <a:rPr lang="fr-FR" sz="2800" b="1" spc="-20" dirty="0">
                <a:solidFill>
                  <a:prstClr val="black"/>
                </a:solidFill>
                <a:cs typeface="Arial"/>
              </a:rPr>
              <a:t>u</a:t>
            </a:r>
            <a:r>
              <a:rPr lang="fr-FR" sz="2800" b="1" spc="-15" dirty="0">
                <a:solidFill>
                  <a:prstClr val="black"/>
                </a:solidFill>
                <a:cs typeface="Arial"/>
              </a:rPr>
              <a:t>l</a:t>
            </a:r>
            <a:r>
              <a:rPr lang="fr-FR" sz="2800" b="1" spc="5" dirty="0">
                <a:solidFill>
                  <a:prstClr val="black"/>
                </a:solidFill>
                <a:cs typeface="Arial"/>
              </a:rPr>
              <a:t>e</a:t>
            </a:r>
            <a:r>
              <a:rPr lang="fr-FR" sz="2800" b="1" dirty="0">
                <a:solidFill>
                  <a:prstClr val="black"/>
                </a:solidFill>
                <a:cs typeface="Arial"/>
              </a:rPr>
              <a:t>s</a:t>
            </a:r>
            <a:r>
              <a:rPr sz="2800" b="1" dirty="0">
                <a:solidFill>
                  <a:prstClr val="black"/>
                </a:solidFill>
                <a:cs typeface="Arial"/>
              </a:rPr>
              <a:t> </a:t>
            </a:r>
            <a:r>
              <a:rPr sz="2800" b="1" spc="5" dirty="0">
                <a:solidFill>
                  <a:prstClr val="black"/>
                </a:solidFill>
                <a:cs typeface="Arial"/>
              </a:rPr>
              <a:t>s</a:t>
            </a:r>
            <a:r>
              <a:rPr sz="2800" b="1" spc="-20" dirty="0">
                <a:solidFill>
                  <a:prstClr val="black"/>
                </a:solidFill>
                <a:cs typeface="Arial"/>
              </a:rPr>
              <a:t>o</a:t>
            </a:r>
            <a:r>
              <a:rPr sz="2800" b="1" spc="-15" dirty="0">
                <a:solidFill>
                  <a:prstClr val="black"/>
                </a:solidFill>
                <a:cs typeface="Arial"/>
              </a:rPr>
              <a:t>l</a:t>
            </a:r>
            <a:r>
              <a:rPr sz="2800" b="1" spc="-20" dirty="0">
                <a:solidFill>
                  <a:prstClr val="black"/>
                </a:solidFill>
                <a:cs typeface="Arial"/>
              </a:rPr>
              <a:t>ub</a:t>
            </a:r>
            <a:r>
              <a:rPr sz="2800" b="1" spc="-15" dirty="0">
                <a:solidFill>
                  <a:prstClr val="black"/>
                </a:solidFill>
                <a:cs typeface="Arial"/>
              </a:rPr>
              <a:t>l</a:t>
            </a:r>
            <a:r>
              <a:rPr sz="2800" b="1" spc="5" dirty="0">
                <a:solidFill>
                  <a:prstClr val="black"/>
                </a:solidFill>
                <a:cs typeface="Arial"/>
              </a:rPr>
              <a:t>e</a:t>
            </a:r>
            <a:r>
              <a:rPr sz="2800" b="1" dirty="0">
                <a:solidFill>
                  <a:prstClr val="black"/>
                </a:solidFill>
                <a:cs typeface="Arial"/>
              </a:rPr>
              <a:t>s </a:t>
            </a:r>
            <a:r>
              <a:rPr sz="2800" dirty="0">
                <a:solidFill>
                  <a:prstClr val="black"/>
                </a:solidFill>
                <a:cs typeface="Arial"/>
              </a:rPr>
              <a:t>ou </a:t>
            </a:r>
            <a:r>
              <a:rPr sz="2800" b="1" spc="-5" dirty="0">
                <a:solidFill>
                  <a:srgbClr val="FF0000"/>
                </a:solidFill>
                <a:cs typeface="Arial"/>
              </a:rPr>
              <a:t>m</a:t>
            </a:r>
            <a:r>
              <a:rPr sz="2800" b="1" dirty="0">
                <a:solidFill>
                  <a:srgbClr val="FF0000"/>
                </a:solidFill>
                <a:cs typeface="Arial"/>
              </a:rPr>
              <a:t>o</a:t>
            </a:r>
            <a:r>
              <a:rPr sz="2800" b="1" spc="-15" dirty="0">
                <a:solidFill>
                  <a:srgbClr val="FF0000"/>
                </a:solidFill>
                <a:cs typeface="Arial"/>
              </a:rPr>
              <a:t>l</a:t>
            </a:r>
            <a:r>
              <a:rPr sz="2800" b="1" spc="5" dirty="0">
                <a:solidFill>
                  <a:srgbClr val="FF0000"/>
                </a:solidFill>
                <a:cs typeface="Arial"/>
              </a:rPr>
              <a:t>éc</a:t>
            </a:r>
            <a:r>
              <a:rPr sz="2800" b="1" spc="-20" dirty="0">
                <a:solidFill>
                  <a:srgbClr val="FF0000"/>
                </a:solidFill>
                <a:cs typeface="Arial"/>
              </a:rPr>
              <a:t>u</a:t>
            </a:r>
            <a:r>
              <a:rPr sz="2800" b="1" spc="-15" dirty="0">
                <a:solidFill>
                  <a:srgbClr val="FF0000"/>
                </a:solidFill>
                <a:cs typeface="Arial"/>
              </a:rPr>
              <a:t>l</a:t>
            </a:r>
            <a:r>
              <a:rPr sz="2800" b="1" spc="5" dirty="0">
                <a:solidFill>
                  <a:srgbClr val="FF0000"/>
                </a:solidFill>
                <a:cs typeface="Arial"/>
              </a:rPr>
              <a:t>e</a:t>
            </a:r>
            <a:r>
              <a:rPr sz="2800" b="1" dirty="0">
                <a:solidFill>
                  <a:srgbClr val="FF0000"/>
                </a:solidFill>
                <a:cs typeface="Arial"/>
              </a:rPr>
              <a:t>s </a:t>
            </a:r>
            <a:r>
              <a:rPr sz="2800" b="1" spc="-20" dirty="0">
                <a:solidFill>
                  <a:srgbClr val="FF0000"/>
                </a:solidFill>
                <a:cs typeface="Arial"/>
              </a:rPr>
              <a:t>h</a:t>
            </a:r>
            <a:r>
              <a:rPr sz="2800" b="1" spc="5" dirty="0">
                <a:solidFill>
                  <a:srgbClr val="FF0000"/>
                </a:solidFill>
                <a:cs typeface="Arial"/>
              </a:rPr>
              <a:t>y</a:t>
            </a:r>
            <a:r>
              <a:rPr sz="2800" b="1" spc="-20" dirty="0">
                <a:solidFill>
                  <a:srgbClr val="FF0000"/>
                </a:solidFill>
                <a:cs typeface="Arial"/>
              </a:rPr>
              <a:t>d</a:t>
            </a:r>
            <a:r>
              <a:rPr sz="2800" b="1" spc="-5" dirty="0">
                <a:solidFill>
                  <a:srgbClr val="FF0000"/>
                </a:solidFill>
                <a:cs typeface="Arial"/>
              </a:rPr>
              <a:t>r</a:t>
            </a:r>
            <a:r>
              <a:rPr sz="2800" b="1" dirty="0">
                <a:solidFill>
                  <a:srgbClr val="FF0000"/>
                </a:solidFill>
                <a:cs typeface="Arial"/>
              </a:rPr>
              <a:t>o</a:t>
            </a:r>
            <a:r>
              <a:rPr sz="2800" b="1" spc="-20" dirty="0">
                <a:solidFill>
                  <a:srgbClr val="FF0000"/>
                </a:solidFill>
                <a:cs typeface="Arial"/>
              </a:rPr>
              <a:t>ph</a:t>
            </a:r>
            <a:r>
              <a:rPr sz="2800" b="1" spc="-15" dirty="0">
                <a:solidFill>
                  <a:srgbClr val="FF0000"/>
                </a:solidFill>
                <a:cs typeface="Arial"/>
              </a:rPr>
              <a:t>il</a:t>
            </a:r>
            <a:r>
              <a:rPr sz="2800" b="1" spc="5" dirty="0">
                <a:solidFill>
                  <a:srgbClr val="FF0000"/>
                </a:solidFill>
                <a:cs typeface="Arial"/>
              </a:rPr>
              <a:t>e</a:t>
            </a:r>
            <a:r>
              <a:rPr sz="2800" b="1" dirty="0">
                <a:solidFill>
                  <a:srgbClr val="FF0000"/>
                </a:solidFill>
                <a:cs typeface="Arial"/>
              </a:rPr>
              <a:t>s</a:t>
            </a:r>
          </a:p>
          <a:p>
            <a:pPr marL="241300" marR="5080" indent="-228600">
              <a:lnSpc>
                <a:spcPct val="125000"/>
              </a:lnSpc>
              <a:spcBef>
                <a:spcPts val="980"/>
              </a:spcBef>
              <a:buFont typeface="Arial"/>
              <a:buChar char="•"/>
              <a:tabLst>
                <a:tab pos="241300" algn="l"/>
              </a:tabLst>
            </a:pPr>
            <a:r>
              <a:rPr sz="2800" dirty="0">
                <a:solidFill>
                  <a:prstClr val="black"/>
                </a:solidFill>
                <a:cs typeface="Arial"/>
              </a:rPr>
              <a:t>C</a:t>
            </a:r>
            <a:r>
              <a:rPr sz="2800" spc="5" dirty="0">
                <a:solidFill>
                  <a:prstClr val="black"/>
                </a:solidFill>
                <a:cs typeface="Arial"/>
              </a:rPr>
              <a:t>er</a:t>
            </a:r>
            <a:r>
              <a:rPr sz="2800" spc="-15" dirty="0">
                <a:solidFill>
                  <a:prstClr val="black"/>
                </a:solidFill>
                <a:cs typeface="Arial"/>
              </a:rPr>
              <a:t>t</a:t>
            </a:r>
            <a:r>
              <a:rPr sz="2800" spc="5" dirty="0">
                <a:solidFill>
                  <a:prstClr val="black"/>
                </a:solidFill>
                <a:cs typeface="Arial"/>
              </a:rPr>
              <a:t>a</a:t>
            </a:r>
            <a:r>
              <a:rPr sz="2800" dirty="0">
                <a:solidFill>
                  <a:prstClr val="black"/>
                </a:solidFill>
                <a:cs typeface="Arial"/>
              </a:rPr>
              <a:t>i</a:t>
            </a:r>
            <a:r>
              <a:rPr sz="2800" spc="5" dirty="0">
                <a:solidFill>
                  <a:prstClr val="black"/>
                </a:solidFill>
                <a:cs typeface="Arial"/>
              </a:rPr>
              <a:t>ne</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mo</a:t>
            </a:r>
            <a:r>
              <a:rPr sz="2800" dirty="0">
                <a:solidFill>
                  <a:prstClr val="black"/>
                </a:solidFill>
                <a:cs typeface="Arial"/>
              </a:rPr>
              <a:t>l</a:t>
            </a:r>
            <a:r>
              <a:rPr sz="2800" spc="5" dirty="0">
                <a:solidFill>
                  <a:prstClr val="black"/>
                </a:solidFill>
                <a:cs typeface="Arial"/>
              </a:rPr>
              <a:t>é</a:t>
            </a:r>
            <a:r>
              <a:rPr sz="2800" dirty="0">
                <a:solidFill>
                  <a:prstClr val="black"/>
                </a:solidFill>
                <a:cs typeface="Arial"/>
              </a:rPr>
              <a:t>c</a:t>
            </a:r>
            <a:r>
              <a:rPr sz="2800" spc="5" dirty="0">
                <a:solidFill>
                  <a:prstClr val="black"/>
                </a:solidFill>
                <a:cs typeface="Arial"/>
              </a:rPr>
              <a:t>u</a:t>
            </a:r>
            <a:r>
              <a:rPr sz="2800" dirty="0">
                <a:solidFill>
                  <a:prstClr val="black"/>
                </a:solidFill>
                <a:cs typeface="Arial"/>
              </a:rPr>
              <a:t>l</a:t>
            </a:r>
            <a:r>
              <a:rPr sz="2800" spc="5" dirty="0">
                <a:solidFill>
                  <a:prstClr val="black"/>
                </a:solidFill>
                <a:cs typeface="Arial"/>
              </a:rPr>
              <a:t>e</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n</a:t>
            </a:r>
            <a:r>
              <a:rPr sz="2800" dirty="0">
                <a:solidFill>
                  <a:prstClr val="black"/>
                </a:solidFill>
                <a:cs typeface="Arial"/>
              </a:rPr>
              <a:t>e </a:t>
            </a:r>
            <a:r>
              <a:rPr sz="2800" spc="5" dirty="0">
                <a:solidFill>
                  <a:prstClr val="black"/>
                </a:solidFill>
                <a:cs typeface="Arial"/>
              </a:rPr>
              <a:t>peu</a:t>
            </a:r>
            <a:r>
              <a:rPr sz="2800" dirty="0">
                <a:solidFill>
                  <a:prstClr val="black"/>
                </a:solidFill>
                <a:cs typeface="Arial"/>
              </a:rPr>
              <a:t>v</a:t>
            </a:r>
            <a:r>
              <a:rPr sz="2800" spc="5" dirty="0">
                <a:solidFill>
                  <a:prstClr val="black"/>
                </a:solidFill>
                <a:cs typeface="Arial"/>
              </a:rPr>
              <a:t>en</a:t>
            </a:r>
            <a:r>
              <a:rPr sz="2800" spc="-10" dirty="0">
                <a:solidFill>
                  <a:prstClr val="black"/>
                </a:solidFill>
                <a:cs typeface="Arial"/>
              </a:rPr>
              <a:t>t </a:t>
            </a:r>
            <a:r>
              <a:rPr sz="2800" spc="5" dirty="0">
                <a:solidFill>
                  <a:prstClr val="black"/>
                </a:solidFill>
                <a:cs typeface="Arial"/>
              </a:rPr>
              <a:t>pa</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é</a:t>
            </a:r>
            <a:r>
              <a:rPr sz="2800" spc="-15" dirty="0">
                <a:solidFill>
                  <a:prstClr val="black"/>
                </a:solidFill>
                <a:cs typeface="Arial"/>
              </a:rPr>
              <a:t>t</a:t>
            </a:r>
            <a:r>
              <a:rPr sz="2800" spc="5" dirty="0">
                <a:solidFill>
                  <a:prstClr val="black"/>
                </a:solidFill>
                <a:cs typeface="Arial"/>
              </a:rPr>
              <a:t>ab</a:t>
            </a:r>
            <a:r>
              <a:rPr sz="2800" dirty="0">
                <a:solidFill>
                  <a:prstClr val="black"/>
                </a:solidFill>
                <a:cs typeface="Arial"/>
              </a:rPr>
              <a:t>lir </a:t>
            </a:r>
            <a:r>
              <a:rPr sz="2800" spc="5" dirty="0">
                <a:solidFill>
                  <a:prstClr val="black"/>
                </a:solidFill>
                <a:cs typeface="Arial"/>
              </a:rPr>
              <a:t>d</a:t>
            </a:r>
            <a:r>
              <a:rPr sz="2800" dirty="0">
                <a:solidFill>
                  <a:prstClr val="black"/>
                </a:solidFill>
                <a:cs typeface="Arial"/>
              </a:rPr>
              <a:t>e li</a:t>
            </a:r>
            <a:r>
              <a:rPr sz="2800" spc="5" dirty="0">
                <a:solidFill>
                  <a:prstClr val="black"/>
                </a:solidFill>
                <a:cs typeface="Arial"/>
              </a:rPr>
              <a:t>a</a:t>
            </a:r>
            <a:r>
              <a:rPr sz="2800" dirty="0">
                <a:solidFill>
                  <a:prstClr val="black"/>
                </a:solidFill>
                <a:cs typeface="Arial"/>
              </a:rPr>
              <a:t>is</a:t>
            </a:r>
            <a:r>
              <a:rPr sz="2800" spc="5" dirty="0">
                <a:solidFill>
                  <a:prstClr val="black"/>
                </a:solidFill>
                <a:cs typeface="Arial"/>
              </a:rPr>
              <a:t>on</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a</a:t>
            </a:r>
            <a:r>
              <a:rPr sz="2800" dirty="0">
                <a:solidFill>
                  <a:prstClr val="black"/>
                </a:solidFill>
                <a:cs typeface="Arial"/>
              </a:rPr>
              <a:t>v</a:t>
            </a:r>
            <a:r>
              <a:rPr sz="2800" spc="5" dirty="0">
                <a:solidFill>
                  <a:prstClr val="black"/>
                </a:solidFill>
                <a:cs typeface="Arial"/>
              </a:rPr>
              <a:t>e</a:t>
            </a:r>
            <a:r>
              <a:rPr sz="2800" dirty="0">
                <a:solidFill>
                  <a:prstClr val="black"/>
                </a:solidFill>
                <a:cs typeface="Arial"/>
              </a:rPr>
              <a:t>c</a:t>
            </a:r>
            <a:r>
              <a:rPr sz="2800" spc="-5" dirty="0">
                <a:solidFill>
                  <a:prstClr val="black"/>
                </a:solidFill>
                <a:cs typeface="Arial"/>
              </a:rPr>
              <a:t> </a:t>
            </a:r>
            <a:r>
              <a:rPr lang="fr-FR" sz="2800" dirty="0">
                <a:solidFill>
                  <a:prstClr val="black"/>
                </a:solidFill>
                <a:cs typeface="Arial"/>
              </a:rPr>
              <a:t>l’</a:t>
            </a:r>
            <a:r>
              <a:rPr lang="fr-FR" sz="2800" spc="5" dirty="0">
                <a:solidFill>
                  <a:prstClr val="black"/>
                </a:solidFill>
                <a:cs typeface="Arial"/>
              </a:rPr>
              <a:t>ea</a:t>
            </a:r>
            <a:r>
              <a:rPr lang="fr-FR" sz="2800" dirty="0">
                <a:solidFill>
                  <a:prstClr val="black"/>
                </a:solidFill>
                <a:cs typeface="Arial"/>
              </a:rPr>
              <a:t>u</a:t>
            </a:r>
            <a:r>
              <a:rPr sz="2800" dirty="0">
                <a:solidFill>
                  <a:prstClr val="black"/>
                </a:solidFill>
                <a:cs typeface="Arial"/>
              </a:rPr>
              <a:t> </a:t>
            </a:r>
            <a:r>
              <a:rPr lang="fr-FR" sz="2800" dirty="0">
                <a:solidFill>
                  <a:prstClr val="black"/>
                </a:solidFill>
                <a:cs typeface="Arial"/>
              </a:rPr>
              <a:t>: </a:t>
            </a:r>
            <a:r>
              <a:rPr sz="2800" b="1" spc="-5" dirty="0" err="1">
                <a:solidFill>
                  <a:srgbClr val="FF0000"/>
                </a:solidFill>
                <a:cs typeface="Arial"/>
              </a:rPr>
              <a:t>m</a:t>
            </a:r>
            <a:r>
              <a:rPr sz="2800" b="1" dirty="0" err="1">
                <a:solidFill>
                  <a:srgbClr val="FF0000"/>
                </a:solidFill>
                <a:cs typeface="Arial"/>
              </a:rPr>
              <a:t>o</a:t>
            </a:r>
            <a:r>
              <a:rPr sz="2800" b="1" spc="-15" dirty="0" err="1">
                <a:solidFill>
                  <a:srgbClr val="FF0000"/>
                </a:solidFill>
                <a:cs typeface="Arial"/>
              </a:rPr>
              <a:t>l</a:t>
            </a:r>
            <a:r>
              <a:rPr sz="2800" b="1" spc="5" dirty="0" err="1">
                <a:solidFill>
                  <a:srgbClr val="FF0000"/>
                </a:solidFill>
                <a:cs typeface="Arial"/>
              </a:rPr>
              <a:t>éc</a:t>
            </a:r>
            <a:r>
              <a:rPr sz="2800" b="1" spc="-20" dirty="0" err="1">
                <a:solidFill>
                  <a:srgbClr val="FF0000"/>
                </a:solidFill>
                <a:cs typeface="Arial"/>
              </a:rPr>
              <a:t>u</a:t>
            </a:r>
            <a:r>
              <a:rPr sz="2800" b="1" spc="-15" dirty="0" err="1">
                <a:solidFill>
                  <a:srgbClr val="FF0000"/>
                </a:solidFill>
                <a:cs typeface="Arial"/>
              </a:rPr>
              <a:t>l</a:t>
            </a:r>
            <a:r>
              <a:rPr sz="2800" b="1" spc="5" dirty="0" err="1">
                <a:solidFill>
                  <a:srgbClr val="FF0000"/>
                </a:solidFill>
                <a:cs typeface="Arial"/>
              </a:rPr>
              <a:t>e</a:t>
            </a:r>
            <a:r>
              <a:rPr sz="2800" b="1" dirty="0" err="1">
                <a:solidFill>
                  <a:srgbClr val="FF0000"/>
                </a:solidFill>
                <a:cs typeface="Arial"/>
              </a:rPr>
              <a:t>s</a:t>
            </a:r>
            <a:r>
              <a:rPr sz="2800" b="1" dirty="0">
                <a:solidFill>
                  <a:srgbClr val="FF0000"/>
                </a:solidFill>
                <a:cs typeface="Arial"/>
              </a:rPr>
              <a:t> </a:t>
            </a:r>
            <a:r>
              <a:rPr sz="2800" b="1" spc="-20" dirty="0">
                <a:solidFill>
                  <a:srgbClr val="FF0000"/>
                </a:solidFill>
                <a:cs typeface="Arial"/>
              </a:rPr>
              <a:t>h</a:t>
            </a:r>
            <a:r>
              <a:rPr sz="2800" b="1" spc="5" dirty="0">
                <a:solidFill>
                  <a:srgbClr val="FF0000"/>
                </a:solidFill>
                <a:cs typeface="Arial"/>
              </a:rPr>
              <a:t>y</a:t>
            </a:r>
            <a:r>
              <a:rPr sz="2800" b="1" spc="-20" dirty="0">
                <a:solidFill>
                  <a:srgbClr val="FF0000"/>
                </a:solidFill>
                <a:cs typeface="Arial"/>
              </a:rPr>
              <a:t>d</a:t>
            </a:r>
            <a:r>
              <a:rPr sz="2800" b="1" spc="-5" dirty="0">
                <a:solidFill>
                  <a:srgbClr val="FF0000"/>
                </a:solidFill>
                <a:cs typeface="Arial"/>
              </a:rPr>
              <a:t>r</a:t>
            </a:r>
            <a:r>
              <a:rPr sz="2800" b="1" dirty="0">
                <a:solidFill>
                  <a:srgbClr val="FF0000"/>
                </a:solidFill>
                <a:cs typeface="Arial"/>
              </a:rPr>
              <a:t>o</a:t>
            </a:r>
            <a:r>
              <a:rPr sz="2800" b="1" spc="-20" dirty="0">
                <a:solidFill>
                  <a:srgbClr val="FF0000"/>
                </a:solidFill>
                <a:cs typeface="Arial"/>
              </a:rPr>
              <a:t>phob</a:t>
            </a:r>
            <a:r>
              <a:rPr sz="2800" b="1" spc="5" dirty="0">
                <a:solidFill>
                  <a:srgbClr val="FF0000"/>
                </a:solidFill>
                <a:cs typeface="Arial"/>
              </a:rPr>
              <a:t>es</a:t>
            </a:r>
            <a:r>
              <a:rPr sz="2800" b="1" spc="-10" dirty="0">
                <a:solidFill>
                  <a:srgbClr val="FF0000"/>
                </a:solidFill>
                <a:cs typeface="Arial"/>
              </a:rPr>
              <a:t>.</a:t>
            </a:r>
            <a:endParaRPr sz="2800" dirty="0">
              <a:solidFill>
                <a:srgbClr val="FF0000"/>
              </a:solidFill>
              <a:cs typeface="Arial"/>
            </a:endParaRPr>
          </a:p>
          <a:p>
            <a:pPr marL="241300" marR="1251585" indent="-228600">
              <a:lnSpc>
                <a:spcPct val="125000"/>
              </a:lnSpc>
              <a:spcBef>
                <a:spcPts val="1005"/>
              </a:spcBef>
              <a:buFont typeface="Arial"/>
              <a:buChar char="•"/>
              <a:tabLst>
                <a:tab pos="241300" algn="l"/>
              </a:tabLst>
            </a:pPr>
            <a:r>
              <a:rPr sz="2800" b="1" spc="-150" dirty="0">
                <a:solidFill>
                  <a:prstClr val="black"/>
                </a:solidFill>
                <a:cs typeface="Arial"/>
              </a:rPr>
              <a:t>L</a:t>
            </a:r>
            <a:r>
              <a:rPr sz="2800" b="1" dirty="0">
                <a:solidFill>
                  <a:prstClr val="black"/>
                </a:solidFill>
                <a:cs typeface="Arial"/>
              </a:rPr>
              <a:t>’</a:t>
            </a:r>
            <a:r>
              <a:rPr sz="2800" b="1" spc="5" dirty="0">
                <a:solidFill>
                  <a:prstClr val="black"/>
                </a:solidFill>
                <a:cs typeface="Arial"/>
              </a:rPr>
              <a:t>ea</a:t>
            </a:r>
            <a:r>
              <a:rPr sz="2800" b="1" dirty="0">
                <a:solidFill>
                  <a:prstClr val="black"/>
                </a:solidFill>
                <a:cs typeface="Arial"/>
              </a:rPr>
              <a:t>u i</a:t>
            </a:r>
            <a:r>
              <a:rPr sz="2800" b="1" spc="5" dirty="0">
                <a:solidFill>
                  <a:prstClr val="black"/>
                </a:solidFill>
                <a:cs typeface="Arial"/>
              </a:rPr>
              <a:t>n</a:t>
            </a:r>
            <a:r>
              <a:rPr sz="2800" b="1" spc="-15" dirty="0">
                <a:solidFill>
                  <a:prstClr val="black"/>
                </a:solidFill>
                <a:cs typeface="Arial"/>
              </a:rPr>
              <a:t>t</a:t>
            </a:r>
            <a:r>
              <a:rPr sz="2800" b="1" spc="5" dirty="0">
                <a:solidFill>
                  <a:prstClr val="black"/>
                </a:solidFill>
                <a:cs typeface="Arial"/>
              </a:rPr>
              <a:t>er</a:t>
            </a:r>
            <a:r>
              <a:rPr sz="2800" b="1" dirty="0">
                <a:solidFill>
                  <a:prstClr val="black"/>
                </a:solidFill>
                <a:cs typeface="Arial"/>
              </a:rPr>
              <a:t>vi</a:t>
            </a:r>
            <a:r>
              <a:rPr sz="2800" b="1" spc="5" dirty="0">
                <a:solidFill>
                  <a:prstClr val="black"/>
                </a:solidFill>
                <a:cs typeface="Arial"/>
              </a:rPr>
              <a:t>en</a:t>
            </a:r>
            <a:r>
              <a:rPr sz="2800" b="1" spc="-10" dirty="0">
                <a:solidFill>
                  <a:prstClr val="black"/>
                </a:solidFill>
                <a:cs typeface="Arial"/>
              </a:rPr>
              <a:t>t </a:t>
            </a:r>
            <a:r>
              <a:rPr sz="2800" b="1" spc="5" dirty="0">
                <a:solidFill>
                  <a:prstClr val="black"/>
                </a:solidFill>
                <a:cs typeface="Arial"/>
              </a:rPr>
              <a:t>dan</a:t>
            </a:r>
            <a:r>
              <a:rPr sz="2800" b="1" dirty="0">
                <a:solidFill>
                  <a:prstClr val="black"/>
                </a:solidFill>
                <a:cs typeface="Arial"/>
              </a:rPr>
              <a:t>s</a:t>
            </a:r>
            <a:r>
              <a:rPr sz="2800" b="1" spc="-5" dirty="0">
                <a:solidFill>
                  <a:prstClr val="black"/>
                </a:solidFill>
                <a:cs typeface="Arial"/>
              </a:rPr>
              <a:t> </a:t>
            </a:r>
            <a:r>
              <a:rPr sz="2800" b="1" spc="5" dirty="0">
                <a:solidFill>
                  <a:prstClr val="black"/>
                </a:solidFill>
                <a:cs typeface="Arial"/>
              </a:rPr>
              <a:t>d</a:t>
            </a:r>
            <a:r>
              <a:rPr sz="2800" b="1" dirty="0">
                <a:solidFill>
                  <a:prstClr val="black"/>
                </a:solidFill>
                <a:cs typeface="Arial"/>
              </a:rPr>
              <a:t>e </a:t>
            </a:r>
            <a:r>
              <a:rPr sz="2800" b="1" spc="5" dirty="0">
                <a:solidFill>
                  <a:prstClr val="black"/>
                </a:solidFill>
                <a:cs typeface="Arial"/>
              </a:rPr>
              <a:t>nombreu</a:t>
            </a:r>
            <a:r>
              <a:rPr sz="2800" b="1" dirty="0">
                <a:solidFill>
                  <a:prstClr val="black"/>
                </a:solidFill>
                <a:cs typeface="Arial"/>
              </a:rPr>
              <a:t>s</a:t>
            </a:r>
            <a:r>
              <a:rPr sz="2800" b="1" spc="5" dirty="0">
                <a:solidFill>
                  <a:prstClr val="black"/>
                </a:solidFill>
                <a:cs typeface="Arial"/>
              </a:rPr>
              <a:t>e</a:t>
            </a:r>
            <a:r>
              <a:rPr sz="2800" b="1" dirty="0">
                <a:solidFill>
                  <a:prstClr val="black"/>
                </a:solidFill>
                <a:cs typeface="Arial"/>
              </a:rPr>
              <a:t>s</a:t>
            </a:r>
            <a:r>
              <a:rPr sz="2800" b="1" spc="-5" dirty="0">
                <a:solidFill>
                  <a:prstClr val="black"/>
                </a:solidFill>
                <a:cs typeface="Arial"/>
              </a:rPr>
              <a:t> </a:t>
            </a:r>
            <a:r>
              <a:rPr sz="2800" b="1" spc="5" dirty="0">
                <a:solidFill>
                  <a:prstClr val="black"/>
                </a:solidFill>
                <a:cs typeface="Arial"/>
              </a:rPr>
              <a:t>réa</a:t>
            </a:r>
            <a:r>
              <a:rPr sz="2800" b="1" spc="-15" dirty="0">
                <a:solidFill>
                  <a:prstClr val="black"/>
                </a:solidFill>
                <a:cs typeface="Arial"/>
              </a:rPr>
              <a:t>ct</a:t>
            </a:r>
            <a:r>
              <a:rPr sz="2800" b="1" dirty="0">
                <a:solidFill>
                  <a:prstClr val="black"/>
                </a:solidFill>
                <a:cs typeface="Arial"/>
              </a:rPr>
              <a:t>i</a:t>
            </a:r>
            <a:r>
              <a:rPr sz="2800" b="1" spc="5" dirty="0">
                <a:solidFill>
                  <a:prstClr val="black"/>
                </a:solidFill>
                <a:cs typeface="Arial"/>
              </a:rPr>
              <a:t>on</a:t>
            </a:r>
            <a:r>
              <a:rPr sz="2800" b="1" dirty="0">
                <a:solidFill>
                  <a:prstClr val="black"/>
                </a:solidFill>
                <a:cs typeface="Arial"/>
              </a:rPr>
              <a:t>s</a:t>
            </a:r>
            <a:r>
              <a:rPr sz="2800" b="1" spc="-5" dirty="0">
                <a:solidFill>
                  <a:prstClr val="black"/>
                </a:solidFill>
                <a:cs typeface="Arial"/>
              </a:rPr>
              <a:t> </a:t>
            </a:r>
            <a:r>
              <a:rPr sz="2800" b="1" dirty="0">
                <a:solidFill>
                  <a:prstClr val="black"/>
                </a:solidFill>
                <a:cs typeface="Arial"/>
              </a:rPr>
              <a:t>c</a:t>
            </a:r>
            <a:r>
              <a:rPr sz="2800" b="1" spc="5" dirty="0">
                <a:solidFill>
                  <a:prstClr val="black"/>
                </a:solidFill>
                <a:cs typeface="Arial"/>
              </a:rPr>
              <a:t>h</a:t>
            </a:r>
            <a:r>
              <a:rPr sz="2800" b="1" dirty="0">
                <a:solidFill>
                  <a:prstClr val="black"/>
                </a:solidFill>
                <a:cs typeface="Arial"/>
              </a:rPr>
              <a:t>i</a:t>
            </a:r>
            <a:r>
              <a:rPr sz="2800" b="1" spc="5" dirty="0">
                <a:solidFill>
                  <a:prstClr val="black"/>
                </a:solidFill>
                <a:cs typeface="Arial"/>
              </a:rPr>
              <a:t>m</a:t>
            </a:r>
            <a:r>
              <a:rPr sz="2800" b="1" dirty="0">
                <a:solidFill>
                  <a:prstClr val="black"/>
                </a:solidFill>
                <a:cs typeface="Arial"/>
              </a:rPr>
              <a:t>i</a:t>
            </a:r>
            <a:r>
              <a:rPr sz="2800" b="1" spc="5" dirty="0">
                <a:solidFill>
                  <a:prstClr val="black"/>
                </a:solidFill>
                <a:cs typeface="Arial"/>
              </a:rPr>
              <a:t>que</a:t>
            </a:r>
            <a:r>
              <a:rPr sz="2800" b="1" dirty="0">
                <a:solidFill>
                  <a:prstClr val="black"/>
                </a:solidFill>
                <a:cs typeface="Arial"/>
              </a:rPr>
              <a:t>s c</a:t>
            </a:r>
            <a:r>
              <a:rPr sz="2800" b="1" spc="5" dirty="0">
                <a:solidFill>
                  <a:prstClr val="black"/>
                </a:solidFill>
                <a:cs typeface="Arial"/>
              </a:rPr>
              <a:t>e</a:t>
            </a:r>
            <a:r>
              <a:rPr sz="2800" b="1" dirty="0">
                <a:solidFill>
                  <a:prstClr val="black"/>
                </a:solidFill>
                <a:cs typeface="Arial"/>
              </a:rPr>
              <a:t>ll</a:t>
            </a:r>
            <a:r>
              <a:rPr sz="2800" b="1" spc="5" dirty="0">
                <a:solidFill>
                  <a:prstClr val="black"/>
                </a:solidFill>
                <a:cs typeface="Arial"/>
              </a:rPr>
              <a:t>u</a:t>
            </a:r>
            <a:r>
              <a:rPr sz="2800" b="1" dirty="0">
                <a:solidFill>
                  <a:prstClr val="black"/>
                </a:solidFill>
                <a:cs typeface="Arial"/>
              </a:rPr>
              <a:t>l</a:t>
            </a:r>
            <a:r>
              <a:rPr sz="2800" b="1" spc="5" dirty="0">
                <a:solidFill>
                  <a:prstClr val="black"/>
                </a:solidFill>
                <a:cs typeface="Arial"/>
              </a:rPr>
              <a:t>a</a:t>
            </a:r>
            <a:r>
              <a:rPr sz="2800" b="1" dirty="0">
                <a:solidFill>
                  <a:prstClr val="black"/>
                </a:solidFill>
                <a:cs typeface="Arial"/>
              </a:rPr>
              <a:t>i</a:t>
            </a:r>
            <a:r>
              <a:rPr sz="2800" b="1" spc="5" dirty="0">
                <a:solidFill>
                  <a:prstClr val="black"/>
                </a:solidFill>
                <a:cs typeface="Arial"/>
              </a:rPr>
              <a:t>re</a:t>
            </a:r>
            <a:r>
              <a:rPr sz="2800" b="1" dirty="0">
                <a:solidFill>
                  <a:prstClr val="black"/>
                </a:solidFill>
                <a:cs typeface="Arial"/>
              </a:rPr>
              <a:t>s</a:t>
            </a:r>
          </a:p>
        </p:txBody>
      </p:sp>
      <p:sp>
        <p:nvSpPr>
          <p:cNvPr id="3" name="ZoneTexte 2"/>
          <p:cNvSpPr txBox="1"/>
          <p:nvPr/>
        </p:nvSpPr>
        <p:spPr>
          <a:xfrm>
            <a:off x="548640" y="137160"/>
            <a:ext cx="4134465" cy="830997"/>
          </a:xfrm>
          <a:prstGeom prst="rect">
            <a:avLst/>
          </a:prstGeom>
          <a:noFill/>
        </p:spPr>
        <p:txBody>
          <a:bodyPr wrap="none" rtlCol="0">
            <a:spAutoFit/>
          </a:bodyPr>
          <a:lstStyle/>
          <a:p>
            <a:r>
              <a:rPr lang="fr-FR" sz="2400" b="1" dirty="0">
                <a:solidFill>
                  <a:srgbClr val="0033CC"/>
                </a:solidFill>
              </a:rPr>
              <a:t>I </a:t>
            </a:r>
            <a:r>
              <a:rPr lang="fr-FR" sz="2400" b="1" dirty="0">
                <a:solidFill>
                  <a:srgbClr val="0033CC"/>
                </a:solidFill>
              </a:rPr>
              <a:t>– Les molécules minérales</a:t>
            </a:r>
          </a:p>
          <a:p>
            <a:r>
              <a:rPr lang="fr-FR" sz="2400" b="1" dirty="0">
                <a:solidFill>
                  <a:srgbClr val="0033CC"/>
                </a:solidFill>
              </a:rPr>
              <a:t>1-1  </a:t>
            </a:r>
            <a:r>
              <a:rPr lang="fr-FR" sz="2400" b="1" dirty="0">
                <a:solidFill>
                  <a:srgbClr val="0033CC"/>
                </a:solidFill>
              </a:rPr>
              <a:t>L’eau</a:t>
            </a:r>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0180" y="4709160"/>
            <a:ext cx="3131820" cy="2148840"/>
          </a:xfrm>
          <a:prstGeom prst="rect">
            <a:avLst/>
          </a:prstGeom>
        </p:spPr>
      </p:pic>
    </p:spTree>
    <p:extLst>
      <p:ext uri="{BB962C8B-B14F-4D97-AF65-F5344CB8AC3E}">
        <p14:creationId xmlns:p14="http://schemas.microsoft.com/office/powerpoint/2010/main" val="33051803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96240" y="1128574"/>
            <a:ext cx="10881360" cy="1200329"/>
          </a:xfrm>
          <a:prstGeom prst="rect">
            <a:avLst/>
          </a:prstGeom>
          <a:noFill/>
        </p:spPr>
        <p:txBody>
          <a:bodyPr wrap="square" rtlCol="0">
            <a:spAutoFit/>
          </a:bodyPr>
          <a:lstStyle/>
          <a:p>
            <a:pPr algn="just"/>
            <a:r>
              <a:rPr lang="fr-FR" sz="2400" dirty="0">
                <a:solidFill>
                  <a:prstClr val="black"/>
                </a:solidFill>
              </a:rPr>
              <a:t>- L’eau </a:t>
            </a:r>
            <a:r>
              <a:rPr lang="fr-FR" sz="2400" dirty="0">
                <a:solidFill>
                  <a:prstClr val="black"/>
                </a:solidFill>
              </a:rPr>
              <a:t>est utilisée dans les réactions </a:t>
            </a:r>
            <a:r>
              <a:rPr lang="fr-FR" sz="2400" b="1" dirty="0">
                <a:solidFill>
                  <a:srgbClr val="E71919"/>
                </a:solidFill>
              </a:rPr>
              <a:t>d’hydrolyse</a:t>
            </a:r>
            <a:r>
              <a:rPr lang="fr-FR" sz="2400" dirty="0">
                <a:solidFill>
                  <a:prstClr val="black"/>
                </a:solidFill>
              </a:rPr>
              <a:t>. Ces </a:t>
            </a:r>
            <a:r>
              <a:rPr lang="fr-FR" sz="2400" dirty="0">
                <a:solidFill>
                  <a:prstClr val="black"/>
                </a:solidFill>
              </a:rPr>
              <a:t>réactions assurent </a:t>
            </a:r>
            <a:r>
              <a:rPr lang="fr-FR" sz="2400" dirty="0">
                <a:solidFill>
                  <a:prstClr val="black"/>
                </a:solidFill>
              </a:rPr>
              <a:t>la presque </a:t>
            </a:r>
            <a:r>
              <a:rPr lang="fr-FR" sz="2400" dirty="0">
                <a:solidFill>
                  <a:prstClr val="black"/>
                </a:solidFill>
              </a:rPr>
              <a:t>totalité des </a:t>
            </a:r>
            <a:r>
              <a:rPr lang="fr-FR" sz="2400" dirty="0">
                <a:solidFill>
                  <a:prstClr val="black"/>
                </a:solidFill>
              </a:rPr>
              <a:t>actes chimiques </a:t>
            </a:r>
            <a:r>
              <a:rPr lang="fr-FR" sz="2400" dirty="0">
                <a:solidFill>
                  <a:prstClr val="black"/>
                </a:solidFill>
              </a:rPr>
              <a:t>de la digestion des glucides, des </a:t>
            </a:r>
            <a:r>
              <a:rPr lang="fr-FR" sz="2400" dirty="0">
                <a:solidFill>
                  <a:prstClr val="black"/>
                </a:solidFill>
              </a:rPr>
              <a:t>protides</a:t>
            </a:r>
            <a:r>
              <a:rPr lang="fr-FR" sz="2400" dirty="0">
                <a:solidFill>
                  <a:prstClr val="black"/>
                </a:solidFill>
              </a:rPr>
              <a:t>, des lipides, des esters phosphoriques. </a:t>
            </a:r>
          </a:p>
        </p:txBody>
      </p:sp>
      <p:sp>
        <p:nvSpPr>
          <p:cNvPr id="3" name="ZoneTexte 2"/>
          <p:cNvSpPr txBox="1"/>
          <p:nvPr/>
        </p:nvSpPr>
        <p:spPr>
          <a:xfrm>
            <a:off x="137161" y="5821680"/>
            <a:ext cx="11765280" cy="707886"/>
          </a:xfrm>
          <a:prstGeom prst="rect">
            <a:avLst/>
          </a:prstGeom>
          <a:noFill/>
        </p:spPr>
        <p:txBody>
          <a:bodyPr wrap="square" rtlCol="0">
            <a:spAutoFit/>
          </a:bodyPr>
          <a:lstStyle/>
          <a:p>
            <a:pPr algn="just"/>
            <a:r>
              <a:rPr lang="fr-FR" sz="2000" b="1" dirty="0">
                <a:solidFill>
                  <a:srgbClr val="E71919"/>
                </a:solidFill>
              </a:rPr>
              <a:t>Nb : Réaction d’hydrolyse </a:t>
            </a:r>
            <a:r>
              <a:rPr lang="fr-FR" sz="2000" b="1" dirty="0">
                <a:solidFill>
                  <a:srgbClr val="E71919"/>
                </a:solidFill>
              </a:rPr>
              <a:t>: </a:t>
            </a:r>
            <a:r>
              <a:rPr lang="fr-FR" sz="2000" b="1" dirty="0">
                <a:solidFill>
                  <a:prstClr val="black"/>
                </a:solidFill>
              </a:rPr>
              <a:t>Une réaction d'hydrolyse est un type de réaction chimique au cours de laquelle l'eau réagit pour briser une ou plusieurs liaisons</a:t>
            </a:r>
          </a:p>
        </p:txBody>
      </p:sp>
      <p:sp>
        <p:nvSpPr>
          <p:cNvPr id="4" name="Rectangle 3"/>
          <p:cNvSpPr/>
          <p:nvPr/>
        </p:nvSpPr>
        <p:spPr>
          <a:xfrm>
            <a:off x="396240" y="3985238"/>
            <a:ext cx="10378440" cy="461665"/>
          </a:xfrm>
          <a:prstGeom prst="rect">
            <a:avLst/>
          </a:prstGeom>
        </p:spPr>
        <p:txBody>
          <a:bodyPr wrap="square">
            <a:spAutoFit/>
          </a:bodyPr>
          <a:lstStyle/>
          <a:p>
            <a:pPr algn="just"/>
            <a:r>
              <a:rPr lang="fr-FR" sz="2400" dirty="0">
                <a:solidFill>
                  <a:prstClr val="black"/>
                </a:solidFill>
              </a:rPr>
              <a:t>- L’eau </a:t>
            </a:r>
            <a:r>
              <a:rPr lang="fr-FR" sz="2400" dirty="0">
                <a:solidFill>
                  <a:prstClr val="black"/>
                </a:solidFill>
              </a:rPr>
              <a:t>intervient aussi dans les </a:t>
            </a:r>
            <a:r>
              <a:rPr lang="fr-FR" sz="2400" dirty="0">
                <a:solidFill>
                  <a:prstClr val="black"/>
                </a:solidFill>
              </a:rPr>
              <a:t>processus d’oxydation </a:t>
            </a:r>
            <a:r>
              <a:rPr lang="fr-FR" sz="2400" dirty="0">
                <a:solidFill>
                  <a:prstClr val="black"/>
                </a:solidFill>
              </a:rPr>
              <a:t>biologique </a:t>
            </a:r>
          </a:p>
        </p:txBody>
      </p:sp>
      <p:sp>
        <p:nvSpPr>
          <p:cNvPr id="5" name="ZoneTexte 4"/>
          <p:cNvSpPr txBox="1"/>
          <p:nvPr/>
        </p:nvSpPr>
        <p:spPr>
          <a:xfrm>
            <a:off x="396240" y="4718793"/>
            <a:ext cx="11795760" cy="830997"/>
          </a:xfrm>
          <a:prstGeom prst="rect">
            <a:avLst/>
          </a:prstGeom>
          <a:noFill/>
        </p:spPr>
        <p:txBody>
          <a:bodyPr wrap="square" rtlCol="0">
            <a:spAutoFit/>
          </a:bodyPr>
          <a:lstStyle/>
          <a:p>
            <a:pPr algn="just"/>
            <a:r>
              <a:rPr lang="fr-FR" sz="2400" dirty="0">
                <a:solidFill>
                  <a:prstClr val="black"/>
                </a:solidFill>
              </a:rPr>
              <a:t>- l’eau </a:t>
            </a:r>
            <a:r>
              <a:rPr lang="fr-FR" sz="2400" dirty="0">
                <a:solidFill>
                  <a:prstClr val="black"/>
                </a:solidFill>
              </a:rPr>
              <a:t>est mise en circulation lors des </a:t>
            </a:r>
            <a:r>
              <a:rPr lang="fr-FR" sz="2400" dirty="0">
                <a:solidFill>
                  <a:prstClr val="black"/>
                </a:solidFill>
              </a:rPr>
              <a:t>processus de </a:t>
            </a:r>
            <a:r>
              <a:rPr lang="fr-FR" sz="2400" dirty="0">
                <a:solidFill>
                  <a:prstClr val="black"/>
                </a:solidFill>
              </a:rPr>
              <a:t>polymérisation des glucides en </a:t>
            </a:r>
            <a:r>
              <a:rPr lang="fr-FR" sz="2400" dirty="0">
                <a:solidFill>
                  <a:prstClr val="black"/>
                </a:solidFill>
              </a:rPr>
              <a:t>glycogène : une </a:t>
            </a:r>
            <a:r>
              <a:rPr lang="fr-FR" sz="2400" dirty="0">
                <a:solidFill>
                  <a:prstClr val="black"/>
                </a:solidFill>
              </a:rPr>
              <a:t>molécule d’eau par molécule de glucose </a:t>
            </a:r>
            <a:r>
              <a:rPr lang="fr-FR" sz="2400" dirty="0">
                <a:solidFill>
                  <a:prstClr val="black"/>
                </a:solidFill>
              </a:rPr>
              <a:t>condensée</a:t>
            </a:r>
            <a:r>
              <a:rPr lang="fr-FR" sz="2400" dirty="0">
                <a:solidFill>
                  <a:prstClr val="black"/>
                </a:solidFill>
              </a:rPr>
              <a:t>.</a:t>
            </a:r>
          </a:p>
        </p:txBody>
      </p:sp>
      <p:sp>
        <p:nvSpPr>
          <p:cNvPr id="6" name="ZoneTexte 5"/>
          <p:cNvSpPr txBox="1"/>
          <p:nvPr/>
        </p:nvSpPr>
        <p:spPr>
          <a:xfrm>
            <a:off x="548640" y="137160"/>
            <a:ext cx="4560416" cy="830997"/>
          </a:xfrm>
          <a:prstGeom prst="rect">
            <a:avLst/>
          </a:prstGeom>
          <a:noFill/>
        </p:spPr>
        <p:txBody>
          <a:bodyPr wrap="none" rtlCol="0">
            <a:spAutoFit/>
          </a:bodyPr>
          <a:lstStyle/>
          <a:p>
            <a:r>
              <a:rPr lang="fr-FR" sz="2400" b="1" dirty="0">
                <a:solidFill>
                  <a:srgbClr val="0033CC"/>
                </a:solidFill>
              </a:rPr>
              <a:t>I </a:t>
            </a:r>
            <a:r>
              <a:rPr lang="fr-FR" sz="2400" b="1" dirty="0">
                <a:solidFill>
                  <a:srgbClr val="0033CC"/>
                </a:solidFill>
              </a:rPr>
              <a:t>– Les molécules minérales</a:t>
            </a:r>
          </a:p>
          <a:p>
            <a:r>
              <a:rPr lang="fr-FR" sz="2400" b="1" dirty="0">
                <a:solidFill>
                  <a:srgbClr val="0033CC"/>
                </a:solidFill>
              </a:rPr>
              <a:t>1-1  L’eau : fonctions cellulaire </a:t>
            </a:r>
            <a:endParaRPr lang="fr-FR" sz="2400" b="1" dirty="0">
              <a:solidFill>
                <a:srgbClr val="0033CC"/>
              </a:solidFill>
            </a:endParaRPr>
          </a:p>
        </p:txBody>
      </p:sp>
      <p:pic>
        <p:nvPicPr>
          <p:cNvPr id="7" name="Imag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00" y="2624492"/>
            <a:ext cx="10226040" cy="804734"/>
          </a:xfrm>
          <a:prstGeom prst="rect">
            <a:avLst/>
          </a:prstGeom>
        </p:spPr>
      </p:pic>
    </p:spTree>
    <p:extLst>
      <p:ext uri="{BB962C8B-B14F-4D97-AF65-F5344CB8AC3E}">
        <p14:creationId xmlns:p14="http://schemas.microsoft.com/office/powerpoint/2010/main" val="256144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35280" y="1089303"/>
            <a:ext cx="11856720" cy="4401205"/>
          </a:xfrm>
          <a:prstGeom prst="rect">
            <a:avLst/>
          </a:prstGeom>
        </p:spPr>
        <p:txBody>
          <a:bodyPr wrap="square">
            <a:spAutoFit/>
          </a:bodyPr>
          <a:lstStyle/>
          <a:p>
            <a:pPr>
              <a:lnSpc>
                <a:spcPct val="200000"/>
              </a:lnSpc>
            </a:pPr>
            <a:r>
              <a:rPr lang="fr-FR" sz="2000" b="1" dirty="0">
                <a:solidFill>
                  <a:prstClr val="black"/>
                </a:solidFill>
              </a:rPr>
              <a:t>Les sels minéraux</a:t>
            </a:r>
            <a:r>
              <a:rPr lang="fr-FR" sz="2000" dirty="0">
                <a:solidFill>
                  <a:prstClr val="black"/>
                </a:solidFill>
              </a:rPr>
              <a:t>, d'un point de vue chimique, se composent d'éléments ionisés portant </a:t>
            </a:r>
            <a:r>
              <a:rPr lang="fr-FR" sz="2000" b="1" dirty="0">
                <a:solidFill>
                  <a:prstClr val="black"/>
                </a:solidFill>
              </a:rPr>
              <a:t>une charge électrique </a:t>
            </a:r>
            <a:r>
              <a:rPr lang="fr-FR" sz="2000" dirty="0">
                <a:solidFill>
                  <a:prstClr val="black"/>
                </a:solidFill>
              </a:rPr>
              <a:t>soit positive (</a:t>
            </a:r>
            <a:r>
              <a:rPr lang="fr-FR" sz="2000" b="1" dirty="0">
                <a:solidFill>
                  <a:srgbClr val="FF0000"/>
                </a:solidFill>
              </a:rPr>
              <a:t>cations</a:t>
            </a:r>
            <a:r>
              <a:rPr lang="fr-FR" sz="2000" dirty="0">
                <a:solidFill>
                  <a:prstClr val="black"/>
                </a:solidFill>
              </a:rPr>
              <a:t>) soit négative (</a:t>
            </a:r>
            <a:r>
              <a:rPr lang="fr-FR" sz="2000" b="1" dirty="0">
                <a:solidFill>
                  <a:srgbClr val="00B0F0"/>
                </a:solidFill>
              </a:rPr>
              <a:t>anions</a:t>
            </a:r>
            <a:r>
              <a:rPr lang="fr-FR" sz="2000" dirty="0">
                <a:solidFill>
                  <a:prstClr val="black"/>
                </a:solidFill>
              </a:rPr>
              <a:t>). </a:t>
            </a:r>
            <a:endParaRPr lang="fr-FR" sz="2000" dirty="0">
              <a:solidFill>
                <a:prstClr val="black"/>
              </a:solidFill>
            </a:endParaRPr>
          </a:p>
          <a:p>
            <a:pPr>
              <a:lnSpc>
                <a:spcPct val="200000"/>
              </a:lnSpc>
            </a:pPr>
            <a:r>
              <a:rPr lang="fr-FR" sz="2000" dirty="0">
                <a:solidFill>
                  <a:prstClr val="black"/>
                </a:solidFill>
              </a:rPr>
              <a:t>Ils </a:t>
            </a:r>
            <a:r>
              <a:rPr lang="fr-FR" sz="2000" dirty="0">
                <a:solidFill>
                  <a:prstClr val="black"/>
                </a:solidFill>
              </a:rPr>
              <a:t>sont classés en deux catégories distinctes </a:t>
            </a:r>
            <a:r>
              <a:rPr lang="fr-FR" sz="2000" dirty="0">
                <a:solidFill>
                  <a:prstClr val="black"/>
                </a:solidFill>
              </a:rPr>
              <a:t>:</a:t>
            </a:r>
          </a:p>
          <a:p>
            <a:pPr marL="285750" indent="-285750">
              <a:lnSpc>
                <a:spcPct val="200000"/>
              </a:lnSpc>
              <a:buFontTx/>
              <a:buChar char="-"/>
            </a:pPr>
            <a:r>
              <a:rPr lang="fr-FR" sz="2000" b="1" dirty="0">
                <a:solidFill>
                  <a:prstClr val="black"/>
                </a:solidFill>
              </a:rPr>
              <a:t>Les </a:t>
            </a:r>
            <a:r>
              <a:rPr lang="fr-FR" sz="2000" b="1" dirty="0">
                <a:solidFill>
                  <a:prstClr val="black"/>
                </a:solidFill>
              </a:rPr>
              <a:t>éléments principaux, </a:t>
            </a:r>
            <a:r>
              <a:rPr lang="fr-FR" sz="2000" dirty="0">
                <a:solidFill>
                  <a:prstClr val="black"/>
                </a:solidFill>
              </a:rPr>
              <a:t>également connus sous le nom de </a:t>
            </a:r>
            <a:r>
              <a:rPr lang="fr-FR" sz="2000" b="1" dirty="0">
                <a:solidFill>
                  <a:srgbClr val="FF0000"/>
                </a:solidFill>
              </a:rPr>
              <a:t>macroéléments</a:t>
            </a:r>
            <a:r>
              <a:rPr lang="fr-FR" sz="2000" dirty="0">
                <a:solidFill>
                  <a:prstClr val="black"/>
                </a:solidFill>
              </a:rPr>
              <a:t>, incluent des éléments tels que le calcium (Ca), le phosphore (P), le potassium (K), le chlore (Cl), le sodium (Na), et le magnésium (Mg</a:t>
            </a:r>
            <a:r>
              <a:rPr lang="fr-FR" sz="2000" dirty="0">
                <a:solidFill>
                  <a:prstClr val="black"/>
                </a:solidFill>
              </a:rPr>
              <a:t>).</a:t>
            </a:r>
          </a:p>
          <a:p>
            <a:pPr>
              <a:lnSpc>
                <a:spcPct val="200000"/>
              </a:lnSpc>
            </a:pPr>
            <a:r>
              <a:rPr lang="fr-FR" sz="2000" dirty="0">
                <a:solidFill>
                  <a:prstClr val="black"/>
                </a:solidFill>
              </a:rPr>
              <a:t>- </a:t>
            </a:r>
            <a:r>
              <a:rPr lang="fr-FR" sz="2000" b="1" dirty="0">
                <a:solidFill>
                  <a:prstClr val="black"/>
                </a:solidFill>
              </a:rPr>
              <a:t>Les éléments traces</a:t>
            </a:r>
            <a:r>
              <a:rPr lang="fr-FR" sz="2000" dirty="0">
                <a:solidFill>
                  <a:prstClr val="black"/>
                </a:solidFill>
              </a:rPr>
              <a:t>, parfois appelés </a:t>
            </a:r>
            <a:r>
              <a:rPr lang="fr-FR" sz="2000" b="1" dirty="0">
                <a:solidFill>
                  <a:srgbClr val="FF0000"/>
                </a:solidFill>
              </a:rPr>
              <a:t>oligoéléments</a:t>
            </a:r>
            <a:r>
              <a:rPr lang="fr-FR" sz="2000" dirty="0">
                <a:solidFill>
                  <a:prstClr val="black"/>
                </a:solidFill>
              </a:rPr>
              <a:t>, englobent des éléments comme le fer (Fe), le zinc (Zn), le cuivre (Cu), le manganèse (Mn), l'iode (I), le molybdène (Mo), et d'autres</a:t>
            </a:r>
            <a:r>
              <a:rPr lang="fr-FR" sz="2000" dirty="0">
                <a:solidFill>
                  <a:prstClr val="black"/>
                </a:solidFill>
              </a:rPr>
              <a:t>.</a:t>
            </a:r>
          </a:p>
        </p:txBody>
      </p:sp>
      <p:sp>
        <p:nvSpPr>
          <p:cNvPr id="3" name="ZoneTexte 2"/>
          <p:cNvSpPr txBox="1"/>
          <p:nvPr/>
        </p:nvSpPr>
        <p:spPr>
          <a:xfrm>
            <a:off x="548640" y="137160"/>
            <a:ext cx="4134465" cy="830997"/>
          </a:xfrm>
          <a:prstGeom prst="rect">
            <a:avLst/>
          </a:prstGeom>
          <a:noFill/>
        </p:spPr>
        <p:txBody>
          <a:bodyPr wrap="none" rtlCol="0">
            <a:spAutoFit/>
          </a:bodyPr>
          <a:lstStyle/>
          <a:p>
            <a:r>
              <a:rPr lang="fr-FR" sz="2400" b="1" dirty="0">
                <a:solidFill>
                  <a:srgbClr val="0033CC"/>
                </a:solidFill>
              </a:rPr>
              <a:t>I </a:t>
            </a:r>
            <a:r>
              <a:rPr lang="fr-FR" sz="2400" b="1" dirty="0">
                <a:solidFill>
                  <a:srgbClr val="0033CC"/>
                </a:solidFill>
              </a:rPr>
              <a:t>– Les molécules minérales</a:t>
            </a:r>
          </a:p>
          <a:p>
            <a:r>
              <a:rPr lang="fr-FR" sz="2400" b="1" dirty="0">
                <a:solidFill>
                  <a:srgbClr val="0033CC"/>
                </a:solidFill>
              </a:rPr>
              <a:t>1-2  Sels minéraux</a:t>
            </a:r>
            <a:endParaRPr lang="fr-FR" sz="2400" b="1" dirty="0">
              <a:solidFill>
                <a:srgbClr val="0033CC"/>
              </a:solidFill>
            </a:endParaRPr>
          </a:p>
        </p:txBody>
      </p:sp>
    </p:spTree>
    <p:extLst>
      <p:ext uri="{BB962C8B-B14F-4D97-AF65-F5344CB8AC3E}">
        <p14:creationId xmlns:p14="http://schemas.microsoft.com/office/powerpoint/2010/main" val="3943187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 calcmode="lin" valueType="num">
                                      <p:cBhvr additive="base">
                                        <p:cTn id="2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0" y="994678"/>
            <a:ext cx="10805160" cy="4413068"/>
          </a:xfrm>
          <a:prstGeom prst="rect">
            <a:avLst/>
          </a:prstGeom>
        </p:spPr>
        <p:txBody>
          <a:bodyPr wrap="square">
            <a:spAutoFit/>
          </a:bodyPr>
          <a:lstStyle/>
          <a:p>
            <a:pPr algn="just">
              <a:lnSpc>
                <a:spcPct val="200000"/>
              </a:lnSpc>
            </a:pPr>
            <a:r>
              <a:rPr lang="fr-FR" sz="2400" dirty="0">
                <a:solidFill>
                  <a:prstClr val="black"/>
                </a:solidFill>
              </a:rPr>
              <a:t>les </a:t>
            </a:r>
            <a:r>
              <a:rPr lang="fr-FR" sz="2400" dirty="0">
                <a:solidFill>
                  <a:prstClr val="black"/>
                </a:solidFill>
              </a:rPr>
              <a:t>sels minéraux interviennent dans divers mécanismes tels que </a:t>
            </a:r>
            <a:endParaRPr lang="fr-FR" sz="2400" dirty="0">
              <a:solidFill>
                <a:prstClr val="black"/>
              </a:solidFill>
            </a:endParaRPr>
          </a:p>
          <a:p>
            <a:pPr marL="285750" indent="-285750" algn="just">
              <a:lnSpc>
                <a:spcPct val="200000"/>
              </a:lnSpc>
              <a:buFontTx/>
              <a:buChar char="-"/>
            </a:pPr>
            <a:r>
              <a:rPr lang="fr-FR" sz="2400" dirty="0">
                <a:solidFill>
                  <a:prstClr val="black"/>
                </a:solidFill>
              </a:rPr>
              <a:t>la </a:t>
            </a:r>
            <a:r>
              <a:rPr lang="fr-FR" sz="2400" dirty="0">
                <a:solidFill>
                  <a:prstClr val="black"/>
                </a:solidFill>
              </a:rPr>
              <a:t>régulation de l'équilibre hydrique (</a:t>
            </a:r>
            <a:r>
              <a:rPr lang="fr-FR" sz="2400" b="1" dirty="0">
                <a:solidFill>
                  <a:prstClr val="black"/>
                </a:solidFill>
              </a:rPr>
              <a:t>pression osmotique</a:t>
            </a:r>
            <a:r>
              <a:rPr lang="fr-FR" sz="2400" dirty="0">
                <a:solidFill>
                  <a:prstClr val="black"/>
                </a:solidFill>
              </a:rPr>
              <a:t>), </a:t>
            </a:r>
            <a:endParaRPr lang="fr-FR" sz="2400" dirty="0">
              <a:solidFill>
                <a:prstClr val="black"/>
              </a:solidFill>
            </a:endParaRPr>
          </a:p>
          <a:p>
            <a:pPr marL="285750" indent="-285750" algn="just">
              <a:lnSpc>
                <a:spcPct val="200000"/>
              </a:lnSpc>
              <a:buFontTx/>
              <a:buChar char="-"/>
            </a:pPr>
            <a:r>
              <a:rPr lang="fr-FR" sz="2400" dirty="0">
                <a:solidFill>
                  <a:prstClr val="black"/>
                </a:solidFill>
              </a:rPr>
              <a:t>le </a:t>
            </a:r>
            <a:r>
              <a:rPr lang="fr-FR" sz="2400" dirty="0">
                <a:solidFill>
                  <a:prstClr val="black"/>
                </a:solidFill>
              </a:rPr>
              <a:t>maintien de l'équilibre acide-base (</a:t>
            </a:r>
            <a:r>
              <a:rPr lang="fr-FR" sz="2400" b="1" dirty="0">
                <a:solidFill>
                  <a:prstClr val="black"/>
                </a:solidFill>
              </a:rPr>
              <a:t>pH</a:t>
            </a:r>
            <a:r>
              <a:rPr lang="fr-FR" sz="2400" dirty="0">
                <a:solidFill>
                  <a:prstClr val="black"/>
                </a:solidFill>
              </a:rPr>
              <a:t>), </a:t>
            </a:r>
            <a:endParaRPr lang="fr-FR" sz="2400" dirty="0">
              <a:solidFill>
                <a:prstClr val="black"/>
              </a:solidFill>
            </a:endParaRPr>
          </a:p>
          <a:p>
            <a:pPr marL="285750" indent="-285750" algn="just">
              <a:lnSpc>
                <a:spcPct val="200000"/>
              </a:lnSpc>
              <a:buFontTx/>
              <a:buChar char="-"/>
            </a:pPr>
            <a:r>
              <a:rPr lang="fr-FR" sz="2400" dirty="0">
                <a:solidFill>
                  <a:prstClr val="black"/>
                </a:solidFill>
              </a:rPr>
              <a:t>leur </a:t>
            </a:r>
            <a:r>
              <a:rPr lang="fr-FR" sz="2400" dirty="0">
                <a:solidFill>
                  <a:prstClr val="black"/>
                </a:solidFill>
              </a:rPr>
              <a:t>action en tant que </a:t>
            </a:r>
            <a:r>
              <a:rPr lang="fr-FR" sz="2400" b="1" dirty="0">
                <a:solidFill>
                  <a:prstClr val="black"/>
                </a:solidFill>
              </a:rPr>
              <a:t>catalyseurs</a:t>
            </a:r>
            <a:r>
              <a:rPr lang="fr-FR" sz="2400" dirty="0">
                <a:solidFill>
                  <a:prstClr val="black"/>
                </a:solidFill>
              </a:rPr>
              <a:t> dans de nombreuses réactions métaboliques, </a:t>
            </a:r>
            <a:endParaRPr lang="fr-FR" sz="2400" dirty="0">
              <a:solidFill>
                <a:prstClr val="black"/>
              </a:solidFill>
            </a:endParaRPr>
          </a:p>
          <a:p>
            <a:pPr marL="285750" indent="-285750" algn="just">
              <a:lnSpc>
                <a:spcPct val="200000"/>
              </a:lnSpc>
              <a:buFontTx/>
              <a:buChar char="-"/>
            </a:pPr>
            <a:r>
              <a:rPr lang="fr-FR" sz="2400" dirty="0">
                <a:solidFill>
                  <a:prstClr val="black"/>
                </a:solidFill>
              </a:rPr>
              <a:t>et </a:t>
            </a:r>
            <a:r>
              <a:rPr lang="fr-FR" sz="2400" dirty="0">
                <a:solidFill>
                  <a:prstClr val="black"/>
                </a:solidFill>
              </a:rPr>
              <a:t>leur présence dans la composition des </a:t>
            </a:r>
            <a:r>
              <a:rPr lang="fr-FR" sz="2400" b="1" dirty="0">
                <a:solidFill>
                  <a:prstClr val="black"/>
                </a:solidFill>
              </a:rPr>
              <a:t>enzymes</a:t>
            </a:r>
            <a:r>
              <a:rPr lang="fr-FR" sz="2400" dirty="0">
                <a:solidFill>
                  <a:prstClr val="black"/>
                </a:solidFill>
              </a:rPr>
              <a:t>, des </a:t>
            </a:r>
            <a:r>
              <a:rPr lang="fr-FR" sz="2400" b="1" dirty="0">
                <a:solidFill>
                  <a:prstClr val="black"/>
                </a:solidFill>
              </a:rPr>
              <a:t>hormones</a:t>
            </a:r>
            <a:r>
              <a:rPr lang="fr-FR" sz="2400" dirty="0">
                <a:solidFill>
                  <a:prstClr val="black"/>
                </a:solidFill>
              </a:rPr>
              <a:t>, entre autres fonctions biologiques essentielles.</a:t>
            </a: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5559" y="4846320"/>
            <a:ext cx="5149215" cy="1874520"/>
          </a:xfrm>
          <a:prstGeom prst="rect">
            <a:avLst/>
          </a:prstGeom>
        </p:spPr>
      </p:pic>
      <p:sp>
        <p:nvSpPr>
          <p:cNvPr id="4" name="ZoneTexte 3"/>
          <p:cNvSpPr txBox="1"/>
          <p:nvPr/>
        </p:nvSpPr>
        <p:spPr>
          <a:xfrm>
            <a:off x="548640" y="137160"/>
            <a:ext cx="4134465" cy="830997"/>
          </a:xfrm>
          <a:prstGeom prst="rect">
            <a:avLst/>
          </a:prstGeom>
          <a:noFill/>
        </p:spPr>
        <p:txBody>
          <a:bodyPr wrap="none" rtlCol="0">
            <a:spAutoFit/>
          </a:bodyPr>
          <a:lstStyle/>
          <a:p>
            <a:r>
              <a:rPr lang="fr-FR" sz="2400" b="1" dirty="0">
                <a:solidFill>
                  <a:srgbClr val="0033CC"/>
                </a:solidFill>
              </a:rPr>
              <a:t>I </a:t>
            </a:r>
            <a:r>
              <a:rPr lang="fr-FR" sz="2400" b="1" dirty="0">
                <a:solidFill>
                  <a:srgbClr val="0033CC"/>
                </a:solidFill>
              </a:rPr>
              <a:t>– Les molécules minérales</a:t>
            </a:r>
          </a:p>
          <a:p>
            <a:r>
              <a:rPr lang="fr-FR" sz="2400" b="1" dirty="0">
                <a:solidFill>
                  <a:srgbClr val="0033CC"/>
                </a:solidFill>
              </a:rPr>
              <a:t>1-2  Sels minéraux</a:t>
            </a:r>
            <a:endParaRPr lang="fr-FR" sz="2400" b="1" dirty="0">
              <a:solidFill>
                <a:srgbClr val="0033CC"/>
              </a:solidFill>
            </a:endParaRPr>
          </a:p>
        </p:txBody>
      </p:sp>
    </p:spTree>
    <p:extLst>
      <p:ext uri="{BB962C8B-B14F-4D97-AF65-F5344CB8AC3E}">
        <p14:creationId xmlns:p14="http://schemas.microsoft.com/office/powerpoint/2010/main" val="141292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 calcmode="lin" valueType="num">
                                      <p:cBhvr additive="base">
                                        <p:cTn id="2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767840" y="2834640"/>
            <a:ext cx="8717451" cy="830997"/>
          </a:xfrm>
          <a:prstGeom prst="rect">
            <a:avLst/>
          </a:prstGeom>
          <a:noFill/>
        </p:spPr>
        <p:txBody>
          <a:bodyPr wrap="none" rtlCol="0">
            <a:spAutoFit/>
          </a:bodyPr>
          <a:lstStyle/>
          <a:p>
            <a:r>
              <a:rPr lang="fr-FR" sz="4800" b="1" dirty="0">
                <a:solidFill>
                  <a:srgbClr val="0033CC"/>
                </a:solidFill>
              </a:rPr>
              <a:t>2</a:t>
            </a:r>
            <a:r>
              <a:rPr lang="fr-FR" sz="4800" b="1" dirty="0">
                <a:solidFill>
                  <a:srgbClr val="0033CC"/>
                </a:solidFill>
              </a:rPr>
              <a:t> </a:t>
            </a:r>
            <a:r>
              <a:rPr lang="fr-FR" sz="4800" b="1" dirty="0">
                <a:solidFill>
                  <a:srgbClr val="0033CC"/>
                </a:solidFill>
              </a:rPr>
              <a:t>– Les molécules </a:t>
            </a:r>
            <a:r>
              <a:rPr lang="fr-FR" sz="4800" b="1" dirty="0">
                <a:solidFill>
                  <a:srgbClr val="0033CC"/>
                </a:solidFill>
              </a:rPr>
              <a:t>organiques </a:t>
            </a:r>
            <a:endParaRPr lang="fr-FR" sz="4800" b="1" dirty="0">
              <a:solidFill>
                <a:srgbClr val="0033CC"/>
              </a:solidFill>
            </a:endParaRPr>
          </a:p>
        </p:txBody>
      </p:sp>
    </p:spTree>
    <p:extLst>
      <p:ext uri="{BB962C8B-B14F-4D97-AF65-F5344CB8AC3E}">
        <p14:creationId xmlns:p14="http://schemas.microsoft.com/office/powerpoint/2010/main" val="39691263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52178"/>
            <a:ext cx="11993880" cy="6124754"/>
          </a:xfrm>
          <a:prstGeom prst="rect">
            <a:avLst/>
          </a:prstGeom>
        </p:spPr>
        <p:txBody>
          <a:bodyPr wrap="square">
            <a:spAutoFit/>
          </a:bodyPr>
          <a:lstStyle/>
          <a:p>
            <a:pPr marL="285750" indent="-285750">
              <a:lnSpc>
                <a:spcPct val="200000"/>
              </a:lnSpc>
              <a:buFontTx/>
              <a:buChar char="-"/>
            </a:pPr>
            <a:r>
              <a:rPr lang="fr-FR" sz="2800" dirty="0">
                <a:solidFill>
                  <a:prstClr val="black"/>
                </a:solidFill>
              </a:rPr>
              <a:t>Les </a:t>
            </a:r>
            <a:r>
              <a:rPr lang="fr-FR" sz="2800" dirty="0">
                <a:solidFill>
                  <a:prstClr val="black"/>
                </a:solidFill>
              </a:rPr>
              <a:t>molécules organiques sont des composés chimiques qui renferment simultanément du </a:t>
            </a:r>
            <a:r>
              <a:rPr lang="fr-FR" sz="2800" b="1" dirty="0">
                <a:solidFill>
                  <a:prstClr val="black"/>
                </a:solidFill>
              </a:rPr>
              <a:t>carbone</a:t>
            </a:r>
            <a:r>
              <a:rPr lang="fr-FR" sz="2800" dirty="0">
                <a:solidFill>
                  <a:prstClr val="black"/>
                </a:solidFill>
              </a:rPr>
              <a:t> (C) et de </a:t>
            </a:r>
            <a:r>
              <a:rPr lang="fr-FR" sz="2800" b="1" dirty="0">
                <a:solidFill>
                  <a:prstClr val="black"/>
                </a:solidFill>
              </a:rPr>
              <a:t>l'hydrogène</a:t>
            </a:r>
            <a:r>
              <a:rPr lang="fr-FR" sz="2800" dirty="0">
                <a:solidFill>
                  <a:prstClr val="black"/>
                </a:solidFill>
              </a:rPr>
              <a:t> (H), en plus d'autres éléments. </a:t>
            </a:r>
            <a:endParaRPr lang="fr-FR" sz="2800" dirty="0">
              <a:solidFill>
                <a:prstClr val="black"/>
              </a:solidFill>
            </a:endParaRPr>
          </a:p>
          <a:p>
            <a:pPr marL="285750" indent="-285750">
              <a:lnSpc>
                <a:spcPct val="200000"/>
              </a:lnSpc>
              <a:buFontTx/>
              <a:buChar char="-"/>
            </a:pPr>
            <a:r>
              <a:rPr lang="fr-FR" sz="2800" dirty="0">
                <a:solidFill>
                  <a:prstClr val="black"/>
                </a:solidFill>
              </a:rPr>
              <a:t>Ces </a:t>
            </a:r>
            <a:r>
              <a:rPr lang="fr-FR" sz="2800" dirty="0">
                <a:solidFill>
                  <a:prstClr val="black"/>
                </a:solidFill>
              </a:rPr>
              <a:t>molécules organiques servent de </a:t>
            </a:r>
            <a:r>
              <a:rPr lang="fr-FR" sz="2800" b="1" dirty="0">
                <a:solidFill>
                  <a:prstClr val="black"/>
                </a:solidFill>
              </a:rPr>
              <a:t>ressource énergétique </a:t>
            </a:r>
            <a:r>
              <a:rPr lang="fr-FR" sz="2800" dirty="0">
                <a:solidFill>
                  <a:prstClr val="black"/>
                </a:solidFill>
              </a:rPr>
              <a:t>et sont fabriquées par les organismes vivants. </a:t>
            </a:r>
            <a:endParaRPr lang="fr-FR" sz="2800" dirty="0">
              <a:solidFill>
                <a:prstClr val="black"/>
              </a:solidFill>
            </a:endParaRPr>
          </a:p>
          <a:p>
            <a:pPr marL="285750" indent="-285750">
              <a:lnSpc>
                <a:spcPct val="200000"/>
              </a:lnSpc>
              <a:buFontTx/>
              <a:buChar char="-"/>
            </a:pPr>
            <a:r>
              <a:rPr lang="fr-FR" sz="2800" dirty="0">
                <a:solidFill>
                  <a:prstClr val="black"/>
                </a:solidFill>
              </a:rPr>
              <a:t>Les </a:t>
            </a:r>
            <a:r>
              <a:rPr lang="fr-FR" sz="2800" b="1" dirty="0">
                <a:solidFill>
                  <a:prstClr val="black"/>
                </a:solidFill>
              </a:rPr>
              <a:t>biomolécules</a:t>
            </a:r>
            <a:r>
              <a:rPr lang="fr-FR" sz="2800" dirty="0">
                <a:solidFill>
                  <a:prstClr val="black"/>
                </a:solidFill>
              </a:rPr>
              <a:t>, quant à elles, sont principalement constituées de quatre éléments fondamentaux : le </a:t>
            </a:r>
            <a:r>
              <a:rPr lang="fr-FR" sz="2800" b="1" dirty="0">
                <a:solidFill>
                  <a:prstClr val="black"/>
                </a:solidFill>
              </a:rPr>
              <a:t>carbone</a:t>
            </a:r>
            <a:r>
              <a:rPr lang="fr-FR" sz="2800" dirty="0">
                <a:solidFill>
                  <a:prstClr val="black"/>
                </a:solidFill>
              </a:rPr>
              <a:t>, </a:t>
            </a:r>
            <a:r>
              <a:rPr lang="fr-FR" sz="2800" b="1" dirty="0">
                <a:solidFill>
                  <a:prstClr val="black"/>
                </a:solidFill>
              </a:rPr>
              <a:t>l'hydrogène</a:t>
            </a:r>
            <a:r>
              <a:rPr lang="fr-FR" sz="2800" dirty="0">
                <a:solidFill>
                  <a:prstClr val="black"/>
                </a:solidFill>
              </a:rPr>
              <a:t>, </a:t>
            </a:r>
            <a:r>
              <a:rPr lang="fr-FR" sz="2800" b="1" dirty="0">
                <a:solidFill>
                  <a:prstClr val="black"/>
                </a:solidFill>
              </a:rPr>
              <a:t>l'oxygène</a:t>
            </a:r>
            <a:r>
              <a:rPr lang="fr-FR" sz="2800" dirty="0">
                <a:solidFill>
                  <a:prstClr val="black"/>
                </a:solidFill>
              </a:rPr>
              <a:t> et </a:t>
            </a:r>
            <a:r>
              <a:rPr lang="fr-FR" sz="2800" b="1" dirty="0">
                <a:solidFill>
                  <a:prstClr val="black"/>
                </a:solidFill>
              </a:rPr>
              <a:t>l'azote</a:t>
            </a:r>
            <a:r>
              <a:rPr lang="fr-FR" sz="2800" dirty="0">
                <a:solidFill>
                  <a:prstClr val="black"/>
                </a:solidFill>
              </a:rPr>
              <a:t>. </a:t>
            </a:r>
            <a:endParaRPr lang="fr-FR" sz="2800" dirty="0">
              <a:solidFill>
                <a:prstClr val="black"/>
              </a:solidFill>
            </a:endParaRPr>
          </a:p>
        </p:txBody>
      </p:sp>
      <p:sp>
        <p:nvSpPr>
          <p:cNvPr id="4" name="ZoneTexte 3"/>
          <p:cNvSpPr txBox="1"/>
          <p:nvPr/>
        </p:nvSpPr>
        <p:spPr>
          <a:xfrm>
            <a:off x="563880" y="182880"/>
            <a:ext cx="4447051" cy="461665"/>
          </a:xfrm>
          <a:prstGeom prst="rect">
            <a:avLst/>
          </a:prstGeom>
          <a:noFill/>
        </p:spPr>
        <p:txBody>
          <a:bodyPr wrap="none" rtlCol="0">
            <a:spAutoFit/>
          </a:bodyPr>
          <a:lstStyle/>
          <a:p>
            <a:r>
              <a:rPr lang="fr-FR" sz="2400" b="1" dirty="0">
                <a:solidFill>
                  <a:srgbClr val="0033CC"/>
                </a:solidFill>
              </a:rPr>
              <a:t>2</a:t>
            </a:r>
            <a:r>
              <a:rPr lang="fr-FR" sz="2400" b="1" dirty="0">
                <a:solidFill>
                  <a:srgbClr val="0033CC"/>
                </a:solidFill>
              </a:rPr>
              <a:t> </a:t>
            </a:r>
            <a:r>
              <a:rPr lang="fr-FR" sz="2400" b="1" dirty="0">
                <a:solidFill>
                  <a:srgbClr val="0033CC"/>
                </a:solidFill>
              </a:rPr>
              <a:t>– Les molécules </a:t>
            </a:r>
            <a:r>
              <a:rPr lang="fr-FR" sz="2400" b="1" dirty="0">
                <a:solidFill>
                  <a:srgbClr val="0033CC"/>
                </a:solidFill>
              </a:rPr>
              <a:t>organiques </a:t>
            </a:r>
            <a:endParaRPr lang="fr-FR" sz="2400" b="1" dirty="0">
              <a:solidFill>
                <a:srgbClr val="0033CC"/>
              </a:solidFill>
            </a:endParaRPr>
          </a:p>
        </p:txBody>
      </p:sp>
    </p:spTree>
    <p:extLst>
      <p:ext uri="{BB962C8B-B14F-4D97-AF65-F5344CB8AC3E}">
        <p14:creationId xmlns:p14="http://schemas.microsoft.com/office/powerpoint/2010/main" val="594636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a:extLst>
              <a:ext uri="{28A0092B-C50C-407E-A947-70E740481C1C}">
                <a14:useLocalDpi xmlns:a14="http://schemas.microsoft.com/office/drawing/2010/main" val="0"/>
              </a:ext>
            </a:extLst>
          </a:blip>
          <a:srcRect t="14103"/>
          <a:stretch/>
        </p:blipFill>
        <p:spPr>
          <a:xfrm>
            <a:off x="1082040" y="2712720"/>
            <a:ext cx="9936480" cy="3070860"/>
          </a:xfrm>
          <a:prstGeom prst="rect">
            <a:avLst/>
          </a:prstGeom>
        </p:spPr>
      </p:pic>
      <p:sp>
        <p:nvSpPr>
          <p:cNvPr id="4" name="Rectangle 3"/>
          <p:cNvSpPr/>
          <p:nvPr/>
        </p:nvSpPr>
        <p:spPr>
          <a:xfrm>
            <a:off x="777240" y="1116345"/>
            <a:ext cx="10378440" cy="1323439"/>
          </a:xfrm>
          <a:prstGeom prst="rect">
            <a:avLst/>
          </a:prstGeom>
        </p:spPr>
        <p:txBody>
          <a:bodyPr wrap="square">
            <a:spAutoFit/>
          </a:bodyPr>
          <a:lstStyle/>
          <a:p>
            <a:pPr marL="12700" marR="5080">
              <a:lnSpc>
                <a:spcPct val="125000"/>
              </a:lnSpc>
            </a:pPr>
            <a:r>
              <a:rPr lang="fr-FR" sz="3200" spc="5" dirty="0">
                <a:solidFill>
                  <a:prstClr val="black"/>
                </a:solidFill>
                <a:cs typeface="Arial"/>
              </a:rPr>
              <a:t>L</a:t>
            </a:r>
            <a:r>
              <a:rPr lang="fr-FR" sz="3200" dirty="0">
                <a:solidFill>
                  <a:prstClr val="black"/>
                </a:solidFill>
                <a:cs typeface="Arial"/>
              </a:rPr>
              <a:t>a c</a:t>
            </a:r>
            <a:r>
              <a:rPr lang="fr-FR" sz="3200" spc="5" dirty="0">
                <a:solidFill>
                  <a:prstClr val="black"/>
                </a:solidFill>
                <a:cs typeface="Arial"/>
              </a:rPr>
              <a:t>e</a:t>
            </a:r>
            <a:r>
              <a:rPr lang="fr-FR" sz="3200" dirty="0">
                <a:solidFill>
                  <a:prstClr val="black"/>
                </a:solidFill>
                <a:cs typeface="Arial"/>
              </a:rPr>
              <a:t>ll</a:t>
            </a:r>
            <a:r>
              <a:rPr lang="fr-FR" sz="3200" spc="5" dirty="0">
                <a:solidFill>
                  <a:prstClr val="black"/>
                </a:solidFill>
                <a:cs typeface="Arial"/>
              </a:rPr>
              <a:t>u</a:t>
            </a:r>
            <a:r>
              <a:rPr lang="fr-FR" sz="3200" dirty="0">
                <a:solidFill>
                  <a:prstClr val="black"/>
                </a:solidFill>
                <a:cs typeface="Arial"/>
              </a:rPr>
              <a:t>le c</a:t>
            </a:r>
            <a:r>
              <a:rPr lang="fr-FR" sz="3200" spc="5" dirty="0">
                <a:solidFill>
                  <a:prstClr val="black"/>
                </a:solidFill>
                <a:cs typeface="Arial"/>
              </a:rPr>
              <a:t>on</a:t>
            </a:r>
            <a:r>
              <a:rPr lang="fr-FR" sz="3200" spc="-15" dirty="0">
                <a:solidFill>
                  <a:prstClr val="black"/>
                </a:solidFill>
                <a:cs typeface="Arial"/>
              </a:rPr>
              <a:t>t</a:t>
            </a:r>
            <a:r>
              <a:rPr lang="fr-FR" sz="3200" dirty="0">
                <a:solidFill>
                  <a:prstClr val="black"/>
                </a:solidFill>
                <a:cs typeface="Arial"/>
              </a:rPr>
              <a:t>i</a:t>
            </a:r>
            <a:r>
              <a:rPr lang="fr-FR" sz="3200" spc="5" dirty="0">
                <a:solidFill>
                  <a:prstClr val="black"/>
                </a:solidFill>
                <a:cs typeface="Arial"/>
              </a:rPr>
              <a:t>en</a:t>
            </a:r>
            <a:r>
              <a:rPr lang="fr-FR" sz="3200" spc="-10" dirty="0">
                <a:solidFill>
                  <a:prstClr val="black"/>
                </a:solidFill>
                <a:cs typeface="Arial"/>
              </a:rPr>
              <a:t>t </a:t>
            </a:r>
            <a:r>
              <a:rPr lang="fr-FR" sz="3200" spc="5" dirty="0">
                <a:solidFill>
                  <a:prstClr val="black"/>
                </a:solidFill>
                <a:cs typeface="Arial"/>
              </a:rPr>
              <a:t>qua</a:t>
            </a:r>
            <a:r>
              <a:rPr lang="fr-FR" sz="3200" spc="-15" dirty="0">
                <a:solidFill>
                  <a:prstClr val="black"/>
                </a:solidFill>
                <a:cs typeface="Arial"/>
              </a:rPr>
              <a:t>t</a:t>
            </a:r>
            <a:r>
              <a:rPr lang="fr-FR" sz="3200" spc="5" dirty="0">
                <a:solidFill>
                  <a:prstClr val="black"/>
                </a:solidFill>
                <a:cs typeface="Arial"/>
              </a:rPr>
              <a:t>r</a:t>
            </a:r>
            <a:r>
              <a:rPr lang="fr-FR" sz="3200" dirty="0">
                <a:solidFill>
                  <a:prstClr val="black"/>
                </a:solidFill>
                <a:cs typeface="Arial"/>
              </a:rPr>
              <a:t>e </a:t>
            </a:r>
            <a:r>
              <a:rPr lang="fr-FR" sz="3200" spc="5" dirty="0">
                <a:solidFill>
                  <a:prstClr val="black"/>
                </a:solidFill>
                <a:cs typeface="Arial"/>
              </a:rPr>
              <a:t>grande</a:t>
            </a:r>
            <a:r>
              <a:rPr lang="fr-FR" sz="3200" dirty="0">
                <a:solidFill>
                  <a:prstClr val="black"/>
                </a:solidFill>
                <a:cs typeface="Arial"/>
              </a:rPr>
              <a:t>s</a:t>
            </a:r>
            <a:r>
              <a:rPr lang="fr-FR" sz="3200" spc="-5" dirty="0">
                <a:solidFill>
                  <a:prstClr val="black"/>
                </a:solidFill>
                <a:cs typeface="Arial"/>
              </a:rPr>
              <a:t> </a:t>
            </a:r>
            <a:r>
              <a:rPr lang="fr-FR" sz="3200" dirty="0">
                <a:solidFill>
                  <a:prstClr val="black"/>
                </a:solidFill>
                <a:cs typeface="Arial"/>
              </a:rPr>
              <a:t>c</a:t>
            </a:r>
            <a:r>
              <a:rPr lang="fr-FR" sz="3200" spc="5" dirty="0">
                <a:solidFill>
                  <a:prstClr val="black"/>
                </a:solidFill>
                <a:cs typeface="Arial"/>
              </a:rPr>
              <a:t>a</a:t>
            </a:r>
            <a:r>
              <a:rPr lang="fr-FR" sz="3200" spc="-15" dirty="0">
                <a:solidFill>
                  <a:prstClr val="black"/>
                </a:solidFill>
                <a:cs typeface="Arial"/>
              </a:rPr>
              <a:t>t</a:t>
            </a:r>
            <a:r>
              <a:rPr lang="fr-FR" sz="3200" spc="5" dirty="0">
                <a:solidFill>
                  <a:prstClr val="black"/>
                </a:solidFill>
                <a:cs typeface="Arial"/>
              </a:rPr>
              <a:t>égor</a:t>
            </a:r>
            <a:r>
              <a:rPr lang="fr-FR" sz="3200" dirty="0">
                <a:solidFill>
                  <a:prstClr val="black"/>
                </a:solidFill>
                <a:cs typeface="Arial"/>
              </a:rPr>
              <a:t>i</a:t>
            </a:r>
            <a:r>
              <a:rPr lang="fr-FR" sz="3200" spc="5" dirty="0">
                <a:solidFill>
                  <a:prstClr val="black"/>
                </a:solidFill>
                <a:cs typeface="Arial"/>
              </a:rPr>
              <a:t>e</a:t>
            </a:r>
            <a:r>
              <a:rPr lang="fr-FR" sz="3200" dirty="0">
                <a:solidFill>
                  <a:prstClr val="black"/>
                </a:solidFill>
                <a:cs typeface="Arial"/>
              </a:rPr>
              <a:t>s</a:t>
            </a:r>
            <a:r>
              <a:rPr lang="fr-FR" sz="3200" spc="-5" dirty="0">
                <a:solidFill>
                  <a:prstClr val="black"/>
                </a:solidFill>
                <a:cs typeface="Arial"/>
              </a:rPr>
              <a:t> </a:t>
            </a:r>
            <a:r>
              <a:rPr lang="fr-FR" sz="3200" spc="5" dirty="0">
                <a:solidFill>
                  <a:prstClr val="black"/>
                </a:solidFill>
                <a:cs typeface="Arial"/>
              </a:rPr>
              <a:t>d</a:t>
            </a:r>
            <a:r>
              <a:rPr lang="fr-FR" sz="3200" dirty="0">
                <a:solidFill>
                  <a:prstClr val="black"/>
                </a:solidFill>
                <a:cs typeface="Arial"/>
              </a:rPr>
              <a:t>e </a:t>
            </a:r>
            <a:r>
              <a:rPr lang="fr-FR" sz="3200" spc="5" dirty="0">
                <a:solidFill>
                  <a:prstClr val="black"/>
                </a:solidFill>
                <a:cs typeface="Arial"/>
              </a:rPr>
              <a:t>mo</a:t>
            </a:r>
            <a:r>
              <a:rPr lang="fr-FR" sz="3200" dirty="0">
                <a:solidFill>
                  <a:prstClr val="black"/>
                </a:solidFill>
                <a:cs typeface="Arial"/>
              </a:rPr>
              <a:t>l</a:t>
            </a:r>
            <a:r>
              <a:rPr lang="fr-FR" sz="3200" spc="5" dirty="0">
                <a:solidFill>
                  <a:prstClr val="black"/>
                </a:solidFill>
                <a:cs typeface="Arial"/>
              </a:rPr>
              <a:t>é</a:t>
            </a:r>
            <a:r>
              <a:rPr lang="fr-FR" sz="3200" dirty="0">
                <a:solidFill>
                  <a:prstClr val="black"/>
                </a:solidFill>
                <a:cs typeface="Arial"/>
              </a:rPr>
              <a:t>c</a:t>
            </a:r>
            <a:r>
              <a:rPr lang="fr-FR" sz="3200" spc="5" dirty="0">
                <a:solidFill>
                  <a:prstClr val="black"/>
                </a:solidFill>
                <a:cs typeface="Arial"/>
              </a:rPr>
              <a:t>u</a:t>
            </a:r>
            <a:r>
              <a:rPr lang="fr-FR" sz="3200" dirty="0">
                <a:solidFill>
                  <a:prstClr val="black"/>
                </a:solidFill>
                <a:cs typeface="Arial"/>
              </a:rPr>
              <a:t>l</a:t>
            </a:r>
            <a:r>
              <a:rPr lang="fr-FR" sz="3200" spc="5" dirty="0">
                <a:solidFill>
                  <a:prstClr val="black"/>
                </a:solidFill>
                <a:cs typeface="Arial"/>
              </a:rPr>
              <a:t>e</a:t>
            </a:r>
            <a:r>
              <a:rPr lang="fr-FR" sz="3200" dirty="0">
                <a:solidFill>
                  <a:prstClr val="black"/>
                </a:solidFill>
                <a:cs typeface="Arial"/>
              </a:rPr>
              <a:t>s </a:t>
            </a:r>
            <a:r>
              <a:rPr lang="fr-FR" sz="3200" spc="5" dirty="0">
                <a:solidFill>
                  <a:prstClr val="black"/>
                </a:solidFill>
                <a:cs typeface="Arial"/>
              </a:rPr>
              <a:t>organ</a:t>
            </a:r>
            <a:r>
              <a:rPr lang="fr-FR" sz="3200" dirty="0">
                <a:solidFill>
                  <a:prstClr val="black"/>
                </a:solidFill>
                <a:cs typeface="Arial"/>
              </a:rPr>
              <a:t>i</a:t>
            </a:r>
            <a:r>
              <a:rPr lang="fr-FR" sz="3200" spc="5" dirty="0">
                <a:solidFill>
                  <a:prstClr val="black"/>
                </a:solidFill>
                <a:cs typeface="Arial"/>
              </a:rPr>
              <a:t>que</a:t>
            </a:r>
            <a:r>
              <a:rPr lang="fr-FR" sz="3200" spc="-15" dirty="0">
                <a:solidFill>
                  <a:prstClr val="black"/>
                </a:solidFill>
                <a:cs typeface="Arial"/>
              </a:rPr>
              <a:t>s:</a:t>
            </a:r>
            <a:endParaRPr lang="fr-FR" sz="3200" dirty="0">
              <a:solidFill>
                <a:prstClr val="black"/>
              </a:solidFill>
              <a:cs typeface="Arial"/>
            </a:endParaRPr>
          </a:p>
        </p:txBody>
      </p:sp>
      <p:sp>
        <p:nvSpPr>
          <p:cNvPr id="5" name="ZoneTexte 4"/>
          <p:cNvSpPr txBox="1"/>
          <p:nvPr/>
        </p:nvSpPr>
        <p:spPr>
          <a:xfrm>
            <a:off x="563880" y="182880"/>
            <a:ext cx="4447051" cy="461665"/>
          </a:xfrm>
          <a:prstGeom prst="rect">
            <a:avLst/>
          </a:prstGeom>
          <a:noFill/>
        </p:spPr>
        <p:txBody>
          <a:bodyPr wrap="none" rtlCol="0">
            <a:spAutoFit/>
          </a:bodyPr>
          <a:lstStyle/>
          <a:p>
            <a:r>
              <a:rPr lang="fr-FR" sz="2400" b="1" dirty="0">
                <a:solidFill>
                  <a:srgbClr val="0033CC"/>
                </a:solidFill>
              </a:rPr>
              <a:t>2</a:t>
            </a:r>
            <a:r>
              <a:rPr lang="fr-FR" sz="2400" b="1" dirty="0">
                <a:solidFill>
                  <a:srgbClr val="0033CC"/>
                </a:solidFill>
              </a:rPr>
              <a:t> </a:t>
            </a:r>
            <a:r>
              <a:rPr lang="fr-FR" sz="2400" b="1" dirty="0">
                <a:solidFill>
                  <a:srgbClr val="0033CC"/>
                </a:solidFill>
              </a:rPr>
              <a:t>– Les molécules </a:t>
            </a:r>
            <a:r>
              <a:rPr lang="fr-FR" sz="2400" b="1" dirty="0">
                <a:solidFill>
                  <a:srgbClr val="0033CC"/>
                </a:solidFill>
              </a:rPr>
              <a:t>organiques </a:t>
            </a:r>
            <a:endParaRPr lang="fr-FR" sz="2400" b="1" dirty="0">
              <a:solidFill>
                <a:srgbClr val="0033CC"/>
              </a:solidFill>
            </a:endParaRPr>
          </a:p>
        </p:txBody>
      </p:sp>
    </p:spTree>
    <p:extLst>
      <p:ext uri="{BB962C8B-B14F-4D97-AF65-F5344CB8AC3E}">
        <p14:creationId xmlns:p14="http://schemas.microsoft.com/office/powerpoint/2010/main" val="1131408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 y="1100019"/>
            <a:ext cx="11658600" cy="5262979"/>
          </a:xfrm>
          <a:prstGeom prst="rect">
            <a:avLst/>
          </a:prstGeom>
        </p:spPr>
        <p:txBody>
          <a:bodyPr wrap="square">
            <a:spAutoFit/>
          </a:bodyPr>
          <a:lstStyle/>
          <a:p>
            <a:pPr>
              <a:lnSpc>
                <a:spcPct val="200000"/>
              </a:lnSpc>
            </a:pPr>
            <a:r>
              <a:rPr lang="fr-FR" sz="2400" dirty="0">
                <a:solidFill>
                  <a:prstClr val="black"/>
                </a:solidFill>
              </a:rPr>
              <a:t>Les </a:t>
            </a:r>
            <a:r>
              <a:rPr lang="fr-FR" sz="2400" dirty="0">
                <a:solidFill>
                  <a:prstClr val="black"/>
                </a:solidFill>
              </a:rPr>
              <a:t>biomolécules sont </a:t>
            </a:r>
            <a:r>
              <a:rPr lang="fr-FR" sz="2400" dirty="0">
                <a:solidFill>
                  <a:prstClr val="black"/>
                </a:solidFill>
              </a:rPr>
              <a:t>les éléments cellulaires essentiels qui jouent un rôle fondamental dans les processus vitaux, notamment :</a:t>
            </a:r>
          </a:p>
          <a:p>
            <a:pPr>
              <a:lnSpc>
                <a:spcPct val="200000"/>
              </a:lnSpc>
              <a:buFont typeface="+mj-lt"/>
              <a:buAutoNum type="arabicPeriod"/>
            </a:pPr>
            <a:r>
              <a:rPr lang="fr-FR" sz="2400" b="1" dirty="0">
                <a:solidFill>
                  <a:prstClr val="black"/>
                </a:solidFill>
              </a:rPr>
              <a:t>La structuration </a:t>
            </a:r>
            <a:r>
              <a:rPr lang="fr-FR" sz="2400" b="1" dirty="0">
                <a:solidFill>
                  <a:prstClr val="black"/>
                </a:solidFill>
              </a:rPr>
              <a:t>de </a:t>
            </a:r>
            <a:r>
              <a:rPr lang="fr-FR" sz="2400" b="1" dirty="0">
                <a:solidFill>
                  <a:prstClr val="black"/>
                </a:solidFill>
              </a:rPr>
              <a:t>la cellule</a:t>
            </a:r>
            <a:r>
              <a:rPr lang="fr-FR" sz="2400" dirty="0">
                <a:solidFill>
                  <a:prstClr val="black"/>
                </a:solidFill>
              </a:rPr>
              <a:t>.</a:t>
            </a:r>
          </a:p>
          <a:p>
            <a:pPr>
              <a:lnSpc>
                <a:spcPct val="200000"/>
              </a:lnSpc>
              <a:buFont typeface="+mj-lt"/>
              <a:buAutoNum type="arabicPeriod"/>
            </a:pPr>
            <a:r>
              <a:rPr lang="fr-FR" sz="2400" b="1" dirty="0">
                <a:solidFill>
                  <a:prstClr val="black"/>
                </a:solidFill>
              </a:rPr>
              <a:t>La fourniture d'énergie.</a:t>
            </a:r>
          </a:p>
          <a:p>
            <a:pPr>
              <a:lnSpc>
                <a:spcPct val="200000"/>
              </a:lnSpc>
              <a:buFont typeface="+mj-lt"/>
              <a:buAutoNum type="arabicPeriod"/>
            </a:pPr>
            <a:r>
              <a:rPr lang="fr-FR" sz="2400" b="1" dirty="0">
                <a:solidFill>
                  <a:prstClr val="black"/>
                </a:solidFill>
              </a:rPr>
              <a:t>Le stockage de l'énergie.</a:t>
            </a:r>
          </a:p>
          <a:p>
            <a:pPr>
              <a:lnSpc>
                <a:spcPct val="200000"/>
              </a:lnSpc>
              <a:buFont typeface="+mj-lt"/>
              <a:buAutoNum type="arabicPeriod"/>
            </a:pPr>
            <a:r>
              <a:rPr lang="fr-FR" sz="2400" b="1" dirty="0">
                <a:solidFill>
                  <a:prstClr val="black"/>
                </a:solidFill>
              </a:rPr>
              <a:t>La transmission de l'information génétique.</a:t>
            </a:r>
          </a:p>
          <a:p>
            <a:pPr>
              <a:lnSpc>
                <a:spcPct val="200000"/>
              </a:lnSpc>
              <a:buFont typeface="+mj-lt"/>
              <a:buAutoNum type="arabicPeriod"/>
            </a:pPr>
            <a:r>
              <a:rPr lang="fr-FR" sz="2400" b="1" dirty="0">
                <a:solidFill>
                  <a:prstClr val="black"/>
                </a:solidFill>
              </a:rPr>
              <a:t>L'accélération des réactions </a:t>
            </a:r>
            <a:r>
              <a:rPr lang="fr-FR" sz="2400" b="1" dirty="0">
                <a:solidFill>
                  <a:prstClr val="black"/>
                </a:solidFill>
              </a:rPr>
              <a:t>biochimiques.</a:t>
            </a:r>
            <a:endParaRPr lang="fr-FR" sz="2400" b="1" dirty="0">
              <a:solidFill>
                <a:prstClr val="black"/>
              </a:solidFill>
            </a:endParaRPr>
          </a:p>
        </p:txBody>
      </p:sp>
      <p:sp>
        <p:nvSpPr>
          <p:cNvPr id="3" name="ZoneTexte 2"/>
          <p:cNvSpPr txBox="1"/>
          <p:nvPr/>
        </p:nvSpPr>
        <p:spPr>
          <a:xfrm>
            <a:off x="563880" y="182880"/>
            <a:ext cx="4447051" cy="461665"/>
          </a:xfrm>
          <a:prstGeom prst="rect">
            <a:avLst/>
          </a:prstGeom>
          <a:noFill/>
        </p:spPr>
        <p:txBody>
          <a:bodyPr wrap="none" rtlCol="0">
            <a:spAutoFit/>
          </a:bodyPr>
          <a:lstStyle/>
          <a:p>
            <a:r>
              <a:rPr lang="fr-FR" sz="2400" b="1" dirty="0">
                <a:solidFill>
                  <a:srgbClr val="0033CC"/>
                </a:solidFill>
              </a:rPr>
              <a:t>2</a:t>
            </a:r>
            <a:r>
              <a:rPr lang="fr-FR" sz="2400" b="1" dirty="0">
                <a:solidFill>
                  <a:srgbClr val="0033CC"/>
                </a:solidFill>
              </a:rPr>
              <a:t> </a:t>
            </a:r>
            <a:r>
              <a:rPr lang="fr-FR" sz="2400" b="1" dirty="0">
                <a:solidFill>
                  <a:srgbClr val="0033CC"/>
                </a:solidFill>
              </a:rPr>
              <a:t>– Les molécules </a:t>
            </a:r>
            <a:r>
              <a:rPr lang="fr-FR" sz="2400" b="1" dirty="0">
                <a:solidFill>
                  <a:srgbClr val="0033CC"/>
                </a:solidFill>
              </a:rPr>
              <a:t>organiques </a:t>
            </a:r>
            <a:endParaRPr lang="fr-FR" sz="2400" b="1" dirty="0">
              <a:solidFill>
                <a:srgbClr val="0033CC"/>
              </a:solidFill>
            </a:endParaRPr>
          </a:p>
        </p:txBody>
      </p:sp>
    </p:spTree>
    <p:extLst>
      <p:ext uri="{BB962C8B-B14F-4D97-AF65-F5344CB8AC3E}">
        <p14:creationId xmlns:p14="http://schemas.microsoft.com/office/powerpoint/2010/main" val="2201628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barn(inVertical)">
                                      <p:cBhvr>
                                        <p:cTn id="13" dur="500"/>
                                        <p:tgtEl>
                                          <p:spTgt spid="2">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575560" y="2423160"/>
            <a:ext cx="6529095" cy="1107996"/>
          </a:xfrm>
          <a:prstGeom prst="rect">
            <a:avLst/>
          </a:prstGeom>
          <a:noFill/>
        </p:spPr>
        <p:txBody>
          <a:bodyPr wrap="none" rtlCol="0">
            <a:spAutoFit/>
          </a:bodyPr>
          <a:lstStyle/>
          <a:p>
            <a:r>
              <a:rPr lang="fr-FR" sz="6600" b="1" dirty="0">
                <a:solidFill>
                  <a:srgbClr val="3E8853"/>
                </a:solidFill>
              </a:rPr>
              <a:t>1-Les Protéines </a:t>
            </a:r>
            <a:endParaRPr lang="fr-FR" sz="6600" b="1" dirty="0">
              <a:solidFill>
                <a:srgbClr val="3E8853"/>
              </a:solidFill>
            </a:endParaRPr>
          </a:p>
        </p:txBody>
      </p:sp>
    </p:spTree>
    <p:extLst>
      <p:ext uri="{BB962C8B-B14F-4D97-AF65-F5344CB8AC3E}">
        <p14:creationId xmlns:p14="http://schemas.microsoft.com/office/powerpoint/2010/main" val="5485780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853440"/>
            <a:ext cx="11262360" cy="5262979"/>
          </a:xfrm>
          <a:prstGeom prst="rect">
            <a:avLst/>
          </a:prstGeom>
        </p:spPr>
        <p:txBody>
          <a:bodyPr wrap="square">
            <a:spAutoFit/>
          </a:bodyPr>
          <a:lstStyle/>
          <a:p>
            <a:pPr marL="285750" indent="-285750" algn="just">
              <a:lnSpc>
                <a:spcPct val="200000"/>
              </a:lnSpc>
              <a:buFontTx/>
              <a:buChar char="-"/>
            </a:pPr>
            <a:r>
              <a:rPr lang="fr-FR" sz="2400" dirty="0">
                <a:solidFill>
                  <a:prstClr val="black"/>
                </a:solidFill>
              </a:rPr>
              <a:t>Ce </a:t>
            </a:r>
            <a:r>
              <a:rPr lang="fr-FR" sz="2400" dirty="0">
                <a:solidFill>
                  <a:prstClr val="black"/>
                </a:solidFill>
              </a:rPr>
              <a:t>sont des chaînes de </a:t>
            </a:r>
            <a:r>
              <a:rPr lang="fr-FR" sz="2400" b="1" dirty="0">
                <a:solidFill>
                  <a:srgbClr val="FF0000"/>
                </a:solidFill>
              </a:rPr>
              <a:t>polymères</a:t>
            </a:r>
            <a:r>
              <a:rPr lang="fr-FR" sz="2400" dirty="0">
                <a:solidFill>
                  <a:srgbClr val="FF0000"/>
                </a:solidFill>
              </a:rPr>
              <a:t> </a:t>
            </a:r>
            <a:r>
              <a:rPr lang="fr-FR" sz="2400" dirty="0">
                <a:solidFill>
                  <a:prstClr val="black"/>
                </a:solidFill>
              </a:rPr>
              <a:t>composées d'acides aminés, les éléments de base (ou </a:t>
            </a:r>
            <a:r>
              <a:rPr lang="fr-FR" sz="2400" b="1" dirty="0">
                <a:solidFill>
                  <a:srgbClr val="FF0000"/>
                </a:solidFill>
              </a:rPr>
              <a:t>monomères</a:t>
            </a:r>
            <a:r>
              <a:rPr lang="fr-FR" sz="2400" dirty="0">
                <a:solidFill>
                  <a:prstClr val="black"/>
                </a:solidFill>
              </a:rPr>
              <a:t>), reliés entre eux par une liaison covalente </a:t>
            </a:r>
            <a:r>
              <a:rPr lang="fr-FR" sz="2400" b="1" dirty="0">
                <a:solidFill>
                  <a:prstClr val="black"/>
                </a:solidFill>
              </a:rPr>
              <a:t>CO-NH</a:t>
            </a:r>
            <a:r>
              <a:rPr lang="fr-FR" sz="2400" dirty="0">
                <a:solidFill>
                  <a:prstClr val="black"/>
                </a:solidFill>
              </a:rPr>
              <a:t>, également connue sous le nom de </a:t>
            </a:r>
            <a:r>
              <a:rPr lang="fr-FR" sz="2400" b="1" dirty="0">
                <a:solidFill>
                  <a:prstClr val="black"/>
                </a:solidFill>
              </a:rPr>
              <a:t>liaison </a:t>
            </a:r>
            <a:r>
              <a:rPr lang="fr-FR" sz="2400" b="1" dirty="0">
                <a:solidFill>
                  <a:prstClr val="black"/>
                </a:solidFill>
              </a:rPr>
              <a:t>peptidique.</a:t>
            </a:r>
          </a:p>
          <a:p>
            <a:pPr marL="285750" indent="-285750" algn="just">
              <a:lnSpc>
                <a:spcPct val="200000"/>
              </a:lnSpc>
              <a:buFontTx/>
              <a:buChar char="-"/>
            </a:pPr>
            <a:r>
              <a:rPr lang="fr-FR" sz="2400" dirty="0">
                <a:solidFill>
                  <a:prstClr val="black"/>
                </a:solidFill>
              </a:rPr>
              <a:t>La </a:t>
            </a:r>
            <a:r>
              <a:rPr lang="fr-FR" sz="2400" dirty="0">
                <a:solidFill>
                  <a:prstClr val="black"/>
                </a:solidFill>
              </a:rPr>
              <a:t>structure fondamentale des acides aminés reste constante, comprenant un </a:t>
            </a:r>
            <a:r>
              <a:rPr lang="fr-FR" sz="2400" b="1" dirty="0">
                <a:solidFill>
                  <a:prstClr val="black"/>
                </a:solidFill>
              </a:rPr>
              <a:t>carbone central </a:t>
            </a:r>
            <a:r>
              <a:rPr lang="fr-FR" sz="2400" dirty="0">
                <a:solidFill>
                  <a:prstClr val="black"/>
                </a:solidFill>
              </a:rPr>
              <a:t>auquel sont attachés </a:t>
            </a:r>
            <a:r>
              <a:rPr lang="fr-FR" sz="2400" b="1" dirty="0">
                <a:solidFill>
                  <a:prstClr val="black"/>
                </a:solidFill>
              </a:rPr>
              <a:t>un atome d'hydrogène</a:t>
            </a:r>
            <a:r>
              <a:rPr lang="fr-FR" sz="2400" dirty="0">
                <a:solidFill>
                  <a:prstClr val="black"/>
                </a:solidFill>
              </a:rPr>
              <a:t>, deux groupes </a:t>
            </a:r>
            <a:r>
              <a:rPr lang="fr-FR" sz="2400" dirty="0">
                <a:solidFill>
                  <a:prstClr val="black"/>
                </a:solidFill>
              </a:rPr>
              <a:t>caractéristiques: </a:t>
            </a:r>
          </a:p>
          <a:p>
            <a:pPr algn="just">
              <a:lnSpc>
                <a:spcPct val="200000"/>
              </a:lnSpc>
            </a:pPr>
            <a:r>
              <a:rPr lang="fr-FR" sz="2400" dirty="0">
                <a:solidFill>
                  <a:prstClr val="black"/>
                </a:solidFill>
              </a:rPr>
              <a:t>le </a:t>
            </a:r>
            <a:r>
              <a:rPr lang="fr-FR" sz="2400" b="1" dirty="0">
                <a:solidFill>
                  <a:prstClr val="black"/>
                </a:solidFill>
              </a:rPr>
              <a:t>groupe amine </a:t>
            </a:r>
            <a:r>
              <a:rPr lang="fr-FR" sz="2400" dirty="0">
                <a:solidFill>
                  <a:prstClr val="black"/>
                </a:solidFill>
              </a:rPr>
              <a:t>et le </a:t>
            </a:r>
            <a:r>
              <a:rPr lang="fr-FR" sz="2400" b="1" dirty="0">
                <a:solidFill>
                  <a:prstClr val="black"/>
                </a:solidFill>
              </a:rPr>
              <a:t>groupe carboxyle</a:t>
            </a:r>
            <a:r>
              <a:rPr lang="fr-FR" sz="2400" dirty="0">
                <a:solidFill>
                  <a:prstClr val="black"/>
                </a:solidFill>
              </a:rPr>
              <a:t>, ainsi qu'une </a:t>
            </a:r>
            <a:r>
              <a:rPr lang="fr-FR" sz="2400" b="1" dirty="0">
                <a:solidFill>
                  <a:prstClr val="black"/>
                </a:solidFill>
              </a:rPr>
              <a:t>chaîne latérale </a:t>
            </a:r>
            <a:r>
              <a:rPr lang="fr-FR" sz="2400" dirty="0">
                <a:solidFill>
                  <a:prstClr val="black"/>
                </a:solidFill>
              </a:rPr>
              <a:t>qui varie en fonction des 20 acides aminés différents.</a:t>
            </a:r>
          </a:p>
        </p:txBody>
      </p:sp>
      <p:sp>
        <p:nvSpPr>
          <p:cNvPr id="4" name="ZoneTexte 3"/>
          <p:cNvSpPr txBox="1"/>
          <p:nvPr/>
        </p:nvSpPr>
        <p:spPr>
          <a:xfrm>
            <a:off x="518160" y="145554"/>
            <a:ext cx="3193567" cy="707886"/>
          </a:xfrm>
          <a:prstGeom prst="rect">
            <a:avLst/>
          </a:prstGeom>
          <a:noFill/>
        </p:spPr>
        <p:txBody>
          <a:bodyPr wrap="none" rtlCol="0">
            <a:spAutoFit/>
          </a:bodyPr>
          <a:lstStyle/>
          <a:p>
            <a:r>
              <a:rPr lang="fr-FR" sz="4000" b="1" dirty="0">
                <a:solidFill>
                  <a:srgbClr val="FF3300"/>
                </a:solidFill>
              </a:rPr>
              <a:t>Introduction</a:t>
            </a:r>
            <a:endParaRPr lang="fr-FR" sz="4000" b="1" dirty="0">
              <a:solidFill>
                <a:srgbClr val="FF3300"/>
              </a:solidFill>
            </a:endParaRPr>
          </a:p>
        </p:txBody>
      </p:sp>
    </p:spTree>
    <p:extLst>
      <p:ext uri="{BB962C8B-B14F-4D97-AF65-F5344CB8AC3E}">
        <p14:creationId xmlns:p14="http://schemas.microsoft.com/office/powerpoint/2010/main" val="96069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20529"/>
            <a:ext cx="4709160" cy="5632311"/>
          </a:xfrm>
          <a:prstGeom prst="rect">
            <a:avLst/>
          </a:prstGeom>
        </p:spPr>
        <p:txBody>
          <a:bodyPr wrap="square">
            <a:spAutoFit/>
          </a:bodyPr>
          <a:lstStyle/>
          <a:p>
            <a:pPr algn="just">
              <a:lnSpc>
                <a:spcPct val="200000"/>
              </a:lnSpc>
            </a:pPr>
            <a:r>
              <a:rPr lang="fr-FR" sz="2000" dirty="0">
                <a:solidFill>
                  <a:prstClr val="black"/>
                </a:solidFill>
              </a:rPr>
              <a:t>- La </a:t>
            </a:r>
            <a:r>
              <a:rPr lang="fr-FR" sz="2000" dirty="0">
                <a:solidFill>
                  <a:prstClr val="black"/>
                </a:solidFill>
              </a:rPr>
              <a:t>succession des acides aminés varie d’une protéine à l’autre. On parle de séquence primaire.</a:t>
            </a:r>
          </a:p>
          <a:p>
            <a:pPr algn="just">
              <a:lnSpc>
                <a:spcPct val="200000"/>
              </a:lnSpc>
            </a:pPr>
            <a:r>
              <a:rPr lang="fr-FR" sz="2000" dirty="0">
                <a:solidFill>
                  <a:prstClr val="black"/>
                </a:solidFill>
              </a:rPr>
              <a:t>- Différentes </a:t>
            </a:r>
            <a:r>
              <a:rPr lang="fr-FR" sz="2000" dirty="0">
                <a:solidFill>
                  <a:prstClr val="black"/>
                </a:solidFill>
              </a:rPr>
              <a:t>interactions au sein des chaînes peptidiques donnent une structure </a:t>
            </a:r>
            <a:r>
              <a:rPr lang="fr-FR" sz="2000" b="1" dirty="0">
                <a:solidFill>
                  <a:prstClr val="black"/>
                </a:solidFill>
              </a:rPr>
              <a:t>secondaire</a:t>
            </a:r>
            <a:r>
              <a:rPr lang="fr-FR" sz="2000" dirty="0">
                <a:solidFill>
                  <a:prstClr val="black"/>
                </a:solidFill>
              </a:rPr>
              <a:t>, tertiaire </a:t>
            </a:r>
            <a:r>
              <a:rPr lang="fr-FR" sz="2000" dirty="0">
                <a:solidFill>
                  <a:prstClr val="black"/>
                </a:solidFill>
              </a:rPr>
              <a:t>puis </a:t>
            </a:r>
            <a:r>
              <a:rPr lang="fr-FR" sz="2000" b="1" dirty="0">
                <a:solidFill>
                  <a:prstClr val="black"/>
                </a:solidFill>
              </a:rPr>
              <a:t>quaternaire</a:t>
            </a:r>
            <a:r>
              <a:rPr lang="fr-FR" sz="2000" dirty="0">
                <a:solidFill>
                  <a:prstClr val="black"/>
                </a:solidFill>
              </a:rPr>
              <a:t> aboutissant à une structure </a:t>
            </a:r>
            <a:r>
              <a:rPr lang="fr-FR" sz="2000" b="1" dirty="0">
                <a:solidFill>
                  <a:prstClr val="black"/>
                </a:solidFill>
              </a:rPr>
              <a:t>tridimensionnelle</a:t>
            </a:r>
            <a:r>
              <a:rPr lang="fr-FR" sz="2000" dirty="0">
                <a:solidFill>
                  <a:prstClr val="black"/>
                </a:solidFill>
              </a:rPr>
              <a:t> aboutissant à </a:t>
            </a:r>
            <a:r>
              <a:rPr lang="fr-FR" sz="2000" dirty="0">
                <a:solidFill>
                  <a:prstClr val="black"/>
                </a:solidFill>
              </a:rPr>
              <a:t>une </a:t>
            </a:r>
            <a:r>
              <a:rPr lang="fr-FR" sz="2000" b="1" dirty="0">
                <a:solidFill>
                  <a:prstClr val="black"/>
                </a:solidFill>
              </a:rPr>
              <a:t>protéine </a:t>
            </a:r>
            <a:r>
              <a:rPr lang="fr-FR" sz="2000" b="1" dirty="0">
                <a:solidFill>
                  <a:prstClr val="black"/>
                </a:solidFill>
              </a:rPr>
              <a:t>fonctionnelle</a:t>
            </a:r>
          </a:p>
        </p:txBody>
      </p:sp>
      <p:pic>
        <p:nvPicPr>
          <p:cNvPr id="3" name="Imag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9466" y="609980"/>
            <a:ext cx="7409694" cy="6254509"/>
          </a:xfrm>
          <a:prstGeom prst="rect">
            <a:avLst/>
          </a:prstGeom>
        </p:spPr>
      </p:pic>
      <p:sp>
        <p:nvSpPr>
          <p:cNvPr id="4" name="ZoneTexte 3"/>
          <p:cNvSpPr txBox="1"/>
          <p:nvPr/>
        </p:nvSpPr>
        <p:spPr>
          <a:xfrm>
            <a:off x="0" y="135754"/>
            <a:ext cx="4991303" cy="584775"/>
          </a:xfrm>
          <a:prstGeom prst="rect">
            <a:avLst/>
          </a:prstGeom>
          <a:noFill/>
        </p:spPr>
        <p:txBody>
          <a:bodyPr wrap="none" rtlCol="0">
            <a:spAutoFit/>
          </a:bodyPr>
          <a:lstStyle/>
          <a:p>
            <a:r>
              <a:rPr lang="fr-FR" sz="3200" b="1" dirty="0">
                <a:solidFill>
                  <a:srgbClr val="FF3300"/>
                </a:solidFill>
              </a:rPr>
              <a:t>Structures des protéines </a:t>
            </a:r>
            <a:endParaRPr lang="fr-FR" sz="3200" b="1" dirty="0">
              <a:solidFill>
                <a:srgbClr val="FF3300"/>
              </a:solidFill>
            </a:endParaRPr>
          </a:p>
        </p:txBody>
      </p:sp>
    </p:spTree>
    <p:extLst>
      <p:ext uri="{BB962C8B-B14F-4D97-AF65-F5344CB8AC3E}">
        <p14:creationId xmlns:p14="http://schemas.microsoft.com/office/powerpoint/2010/main" val="2881342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2880" y="142229"/>
            <a:ext cx="8467090" cy="1128514"/>
          </a:xfrm>
          <a:prstGeom prst="rect">
            <a:avLst/>
          </a:prstGeom>
        </p:spPr>
        <p:txBody>
          <a:bodyPr vert="horz" wrap="square" lIns="0" tIns="0" rIns="0" bIns="0" rtlCol="0">
            <a:spAutoFit/>
          </a:bodyPr>
          <a:lstStyle/>
          <a:p>
            <a:pPr marL="3089910" marR="5080" indent="-3077845">
              <a:lnSpc>
                <a:spcPts val="4390"/>
              </a:lnSpc>
              <a:tabLst>
                <a:tab pos="1143000" algn="l"/>
              </a:tabLst>
            </a:pPr>
            <a:r>
              <a:rPr sz="4000" b="1" spc="-35" dirty="0">
                <a:solidFill>
                  <a:srgbClr val="FF3300"/>
                </a:solidFill>
                <a:cs typeface="Arial"/>
              </a:rPr>
              <a:t>L</a:t>
            </a:r>
            <a:r>
              <a:rPr sz="4000" b="1" dirty="0">
                <a:solidFill>
                  <a:srgbClr val="FF3300"/>
                </a:solidFill>
                <a:cs typeface="Arial"/>
              </a:rPr>
              <a:t>es </a:t>
            </a:r>
            <a:r>
              <a:rPr sz="4000" b="1" spc="-25" dirty="0">
                <a:solidFill>
                  <a:srgbClr val="FF3300"/>
                </a:solidFill>
                <a:cs typeface="Arial"/>
              </a:rPr>
              <a:t>c</a:t>
            </a:r>
            <a:r>
              <a:rPr sz="4000" b="1" spc="-35" dirty="0">
                <a:solidFill>
                  <a:srgbClr val="FF3300"/>
                </a:solidFill>
                <a:cs typeface="Arial"/>
              </a:rPr>
              <a:t>on</a:t>
            </a:r>
            <a:r>
              <a:rPr sz="4000" b="1" dirty="0">
                <a:solidFill>
                  <a:srgbClr val="FF3300"/>
                </a:solidFill>
                <a:cs typeface="Arial"/>
              </a:rPr>
              <a:t>s</a:t>
            </a:r>
            <a:r>
              <a:rPr sz="4000" b="1" spc="5" dirty="0">
                <a:solidFill>
                  <a:srgbClr val="FF3300"/>
                </a:solidFill>
                <a:cs typeface="Arial"/>
              </a:rPr>
              <a:t>t</a:t>
            </a:r>
            <a:r>
              <a:rPr sz="4000" b="1" spc="-15" dirty="0">
                <a:solidFill>
                  <a:srgbClr val="FF3300"/>
                </a:solidFill>
                <a:cs typeface="Arial"/>
              </a:rPr>
              <a:t>i</a:t>
            </a:r>
            <a:r>
              <a:rPr sz="4000" b="1" spc="-10" dirty="0">
                <a:solidFill>
                  <a:srgbClr val="FF3300"/>
                </a:solidFill>
                <a:cs typeface="Arial"/>
              </a:rPr>
              <a:t>t</a:t>
            </a:r>
            <a:r>
              <a:rPr sz="4000" b="1" spc="-35" dirty="0">
                <a:solidFill>
                  <a:srgbClr val="FF3300"/>
                </a:solidFill>
                <a:cs typeface="Arial"/>
              </a:rPr>
              <a:t>u</a:t>
            </a:r>
            <a:r>
              <a:rPr sz="4000" b="1" spc="-25" dirty="0">
                <a:solidFill>
                  <a:srgbClr val="FF3300"/>
                </a:solidFill>
                <a:cs typeface="Arial"/>
              </a:rPr>
              <a:t>a</a:t>
            </a:r>
            <a:r>
              <a:rPr sz="4000" b="1" spc="-35" dirty="0">
                <a:solidFill>
                  <a:srgbClr val="FF3300"/>
                </a:solidFill>
                <a:cs typeface="Arial"/>
              </a:rPr>
              <a:t>n</a:t>
            </a:r>
            <a:r>
              <a:rPr sz="4000" b="1" spc="5" dirty="0">
                <a:solidFill>
                  <a:srgbClr val="FF3300"/>
                </a:solidFill>
                <a:cs typeface="Arial"/>
              </a:rPr>
              <a:t>t</a:t>
            </a:r>
            <a:r>
              <a:rPr sz="4000" b="1" dirty="0">
                <a:solidFill>
                  <a:srgbClr val="FF3300"/>
                </a:solidFill>
                <a:cs typeface="Arial"/>
              </a:rPr>
              <a:t>s </a:t>
            </a:r>
            <a:r>
              <a:rPr sz="4000" b="1" spc="-35" dirty="0">
                <a:solidFill>
                  <a:srgbClr val="FF3300"/>
                </a:solidFill>
                <a:cs typeface="Arial"/>
              </a:rPr>
              <a:t>un</a:t>
            </a:r>
            <a:r>
              <a:rPr sz="4000" b="1" spc="-15" dirty="0">
                <a:solidFill>
                  <a:srgbClr val="FF3300"/>
                </a:solidFill>
                <a:cs typeface="Arial"/>
              </a:rPr>
              <a:t>i</a:t>
            </a:r>
            <a:r>
              <a:rPr sz="4000" b="1" spc="-10" dirty="0">
                <a:solidFill>
                  <a:srgbClr val="FF3300"/>
                </a:solidFill>
                <a:cs typeface="Arial"/>
              </a:rPr>
              <a:t>t</a:t>
            </a:r>
            <a:r>
              <a:rPr sz="4000" b="1" dirty="0">
                <a:solidFill>
                  <a:srgbClr val="FF3300"/>
                </a:solidFill>
                <a:cs typeface="Arial"/>
              </a:rPr>
              <a:t>ai</a:t>
            </a:r>
            <a:r>
              <a:rPr sz="4000" b="1" spc="5" dirty="0">
                <a:solidFill>
                  <a:srgbClr val="FF3300"/>
                </a:solidFill>
                <a:cs typeface="Arial"/>
              </a:rPr>
              <a:t>r</a:t>
            </a:r>
            <a:r>
              <a:rPr sz="4000" b="1" dirty="0">
                <a:solidFill>
                  <a:srgbClr val="FF3300"/>
                </a:solidFill>
                <a:cs typeface="Arial"/>
              </a:rPr>
              <a:t>es </a:t>
            </a:r>
            <a:r>
              <a:rPr sz="4000" b="1" spc="-35" dirty="0">
                <a:solidFill>
                  <a:srgbClr val="FF3300"/>
                </a:solidFill>
                <a:cs typeface="Arial"/>
              </a:rPr>
              <a:t>d</a:t>
            </a:r>
            <a:r>
              <a:rPr sz="4000" b="1" dirty="0">
                <a:solidFill>
                  <a:srgbClr val="FF3300"/>
                </a:solidFill>
                <a:cs typeface="Arial"/>
              </a:rPr>
              <a:t>es </a:t>
            </a:r>
            <a:r>
              <a:rPr sz="4000" b="1" spc="-10" dirty="0">
                <a:solidFill>
                  <a:srgbClr val="FF3300"/>
                </a:solidFill>
                <a:cs typeface="Arial"/>
              </a:rPr>
              <a:t>p</a:t>
            </a:r>
            <a:r>
              <a:rPr sz="4000" b="1" spc="5" dirty="0">
                <a:solidFill>
                  <a:srgbClr val="FF3300"/>
                </a:solidFill>
                <a:cs typeface="Arial"/>
              </a:rPr>
              <a:t>r</a:t>
            </a:r>
            <a:r>
              <a:rPr sz="4000" b="1" spc="-35" dirty="0">
                <a:solidFill>
                  <a:srgbClr val="FF3300"/>
                </a:solidFill>
                <a:cs typeface="Arial"/>
              </a:rPr>
              <a:t>o</a:t>
            </a:r>
            <a:r>
              <a:rPr sz="4000" b="1" spc="-10" dirty="0">
                <a:solidFill>
                  <a:srgbClr val="FF3300"/>
                </a:solidFill>
                <a:cs typeface="Arial"/>
              </a:rPr>
              <a:t>t</a:t>
            </a:r>
            <a:r>
              <a:rPr sz="4000" b="1" dirty="0">
                <a:solidFill>
                  <a:srgbClr val="FF3300"/>
                </a:solidFill>
                <a:cs typeface="Arial"/>
              </a:rPr>
              <a:t>é</a:t>
            </a:r>
            <a:r>
              <a:rPr sz="4000" b="1" spc="-15" dirty="0">
                <a:solidFill>
                  <a:srgbClr val="FF3300"/>
                </a:solidFill>
                <a:cs typeface="Arial"/>
              </a:rPr>
              <a:t>i</a:t>
            </a:r>
            <a:r>
              <a:rPr sz="4000" b="1" spc="-35" dirty="0">
                <a:solidFill>
                  <a:srgbClr val="FF3300"/>
                </a:solidFill>
                <a:cs typeface="Arial"/>
              </a:rPr>
              <a:t>n</a:t>
            </a:r>
            <a:r>
              <a:rPr sz="4000" b="1" spc="-25" dirty="0">
                <a:solidFill>
                  <a:srgbClr val="FF3300"/>
                </a:solidFill>
                <a:cs typeface="Arial"/>
              </a:rPr>
              <a:t>e</a:t>
            </a:r>
            <a:r>
              <a:rPr sz="4000" b="1" dirty="0">
                <a:solidFill>
                  <a:srgbClr val="FF3300"/>
                </a:solidFill>
                <a:cs typeface="Arial"/>
              </a:rPr>
              <a:t>s</a:t>
            </a:r>
            <a:endParaRPr sz="4000" dirty="0">
              <a:solidFill>
                <a:srgbClr val="FF3300"/>
              </a:solidFill>
              <a:cs typeface="Arial"/>
            </a:endParaRP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201" y="1539240"/>
            <a:ext cx="6165532" cy="5013960"/>
          </a:xfrm>
          <a:prstGeom prst="rect">
            <a:avLst/>
          </a:prstGeom>
        </p:spPr>
      </p:pic>
      <p:sp>
        <p:nvSpPr>
          <p:cNvPr id="4" name="Rectangle 3"/>
          <p:cNvSpPr/>
          <p:nvPr/>
        </p:nvSpPr>
        <p:spPr>
          <a:xfrm>
            <a:off x="182880" y="1994014"/>
            <a:ext cx="5334000" cy="3970318"/>
          </a:xfrm>
          <a:prstGeom prst="rect">
            <a:avLst/>
          </a:prstGeom>
        </p:spPr>
        <p:txBody>
          <a:bodyPr wrap="square">
            <a:spAutoFit/>
          </a:bodyPr>
          <a:lstStyle/>
          <a:p>
            <a:pPr algn="just">
              <a:lnSpc>
                <a:spcPct val="150000"/>
              </a:lnSpc>
            </a:pPr>
            <a:r>
              <a:rPr lang="fr-FR" sz="2400" dirty="0">
                <a:solidFill>
                  <a:prstClr val="black"/>
                </a:solidFill>
              </a:rPr>
              <a:t>Chaque </a:t>
            </a:r>
            <a:r>
              <a:rPr lang="fr-FR" sz="2400" b="1" dirty="0">
                <a:solidFill>
                  <a:prstClr val="black"/>
                </a:solidFill>
              </a:rPr>
              <a:t>acide aminé</a:t>
            </a:r>
            <a:r>
              <a:rPr lang="fr-FR" sz="2400" dirty="0">
                <a:solidFill>
                  <a:prstClr val="black"/>
                </a:solidFill>
              </a:rPr>
              <a:t> possède deux groupes fonctionnels situés sur le même atome de carbone : la </a:t>
            </a:r>
            <a:r>
              <a:rPr lang="fr-FR" sz="2400" b="1" dirty="0">
                <a:solidFill>
                  <a:prstClr val="black"/>
                </a:solidFill>
              </a:rPr>
              <a:t>fonction acide carboxylique</a:t>
            </a:r>
            <a:r>
              <a:rPr lang="fr-FR" sz="2400" dirty="0">
                <a:solidFill>
                  <a:prstClr val="black"/>
                </a:solidFill>
              </a:rPr>
              <a:t> et la </a:t>
            </a:r>
            <a:r>
              <a:rPr lang="fr-FR" sz="2400" b="1" dirty="0">
                <a:solidFill>
                  <a:prstClr val="black"/>
                </a:solidFill>
              </a:rPr>
              <a:t>fonction amine</a:t>
            </a:r>
            <a:r>
              <a:rPr lang="fr-FR" sz="2400" dirty="0">
                <a:solidFill>
                  <a:prstClr val="black"/>
                </a:solidFill>
              </a:rPr>
              <a:t>. Il est important de noter que, à l'exception de la </a:t>
            </a:r>
            <a:r>
              <a:rPr lang="fr-FR" sz="2400" b="1" dirty="0">
                <a:solidFill>
                  <a:srgbClr val="FF0000"/>
                </a:solidFill>
              </a:rPr>
              <a:t>glycine</a:t>
            </a:r>
            <a:r>
              <a:rPr lang="fr-FR" sz="2400" dirty="0">
                <a:solidFill>
                  <a:prstClr val="black"/>
                </a:solidFill>
              </a:rPr>
              <a:t>, le carbone central de ces acides aminés est </a:t>
            </a:r>
            <a:r>
              <a:rPr lang="fr-FR" sz="2400" b="1" dirty="0">
                <a:solidFill>
                  <a:srgbClr val="FF0000"/>
                </a:solidFill>
              </a:rPr>
              <a:t>asymétrique</a:t>
            </a:r>
            <a:r>
              <a:rPr lang="fr-FR" sz="2400" dirty="0">
                <a:solidFill>
                  <a:prstClr val="black"/>
                </a:solidFill>
              </a:rPr>
              <a:t>.</a:t>
            </a:r>
          </a:p>
        </p:txBody>
      </p:sp>
      <p:sp>
        <p:nvSpPr>
          <p:cNvPr id="5" name="ZoneTexte 4"/>
          <p:cNvSpPr txBox="1"/>
          <p:nvPr/>
        </p:nvSpPr>
        <p:spPr>
          <a:xfrm>
            <a:off x="944880" y="1539240"/>
            <a:ext cx="2420856" cy="461665"/>
          </a:xfrm>
          <a:prstGeom prst="rect">
            <a:avLst/>
          </a:prstGeom>
          <a:noFill/>
        </p:spPr>
        <p:txBody>
          <a:bodyPr wrap="none" rtlCol="0">
            <a:spAutoFit/>
          </a:bodyPr>
          <a:lstStyle/>
          <a:p>
            <a:r>
              <a:rPr lang="fr-FR" sz="2400" b="1" dirty="0">
                <a:solidFill>
                  <a:srgbClr val="27CED7"/>
                </a:solidFill>
              </a:rPr>
              <a:t>Acides aminées</a:t>
            </a:r>
            <a:endParaRPr lang="fr-FR" sz="2400" b="1" dirty="0">
              <a:solidFill>
                <a:srgbClr val="27CED7"/>
              </a:solidFill>
            </a:endParaRPr>
          </a:p>
        </p:txBody>
      </p:sp>
    </p:spTree>
    <p:extLst>
      <p:ext uri="{BB962C8B-B14F-4D97-AF65-F5344CB8AC3E}">
        <p14:creationId xmlns:p14="http://schemas.microsoft.com/office/powerpoint/2010/main" val="197155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p:cNvSpPr txBox="1"/>
          <p:nvPr/>
        </p:nvSpPr>
        <p:spPr>
          <a:xfrm>
            <a:off x="0" y="1467500"/>
            <a:ext cx="5346700" cy="3464795"/>
          </a:xfrm>
          <a:prstGeom prst="rect">
            <a:avLst/>
          </a:prstGeom>
        </p:spPr>
        <p:txBody>
          <a:bodyPr vert="horz" wrap="square" lIns="0" tIns="0" rIns="0" bIns="0" rtlCol="0">
            <a:spAutoFit/>
          </a:bodyPr>
          <a:lstStyle/>
          <a:p>
            <a:pPr marL="241300" marR="5080" indent="-228600">
              <a:lnSpc>
                <a:spcPct val="125000"/>
              </a:lnSpc>
              <a:buFont typeface="Arial"/>
              <a:buChar char="•"/>
              <a:tabLst>
                <a:tab pos="241300" algn="l"/>
              </a:tabLst>
            </a:pPr>
            <a:r>
              <a:rPr sz="2800" spc="-15" dirty="0">
                <a:solidFill>
                  <a:prstClr val="black"/>
                </a:solidFill>
                <a:cs typeface="Arial"/>
              </a:rPr>
              <a:t>I</a:t>
            </a:r>
            <a:r>
              <a:rPr sz="2800" dirty="0">
                <a:solidFill>
                  <a:prstClr val="black"/>
                </a:solidFill>
                <a:cs typeface="Arial"/>
              </a:rPr>
              <a:t>l</a:t>
            </a:r>
            <a:r>
              <a:rPr sz="2800" spc="-5" dirty="0">
                <a:solidFill>
                  <a:prstClr val="black"/>
                </a:solidFill>
                <a:cs typeface="Arial"/>
              </a:rPr>
              <a:t> </a:t>
            </a:r>
            <a:r>
              <a:rPr sz="2800" spc="5" dirty="0">
                <a:solidFill>
                  <a:prstClr val="black"/>
                </a:solidFill>
                <a:cs typeface="Arial"/>
              </a:rPr>
              <a:t>e</a:t>
            </a:r>
            <a:r>
              <a:rPr sz="2800" dirty="0">
                <a:solidFill>
                  <a:prstClr val="black"/>
                </a:solidFill>
                <a:cs typeface="Arial"/>
              </a:rPr>
              <a:t>xi</a:t>
            </a:r>
            <a:r>
              <a:rPr sz="2800" spc="-15" dirty="0">
                <a:solidFill>
                  <a:prstClr val="black"/>
                </a:solidFill>
                <a:cs typeface="Arial"/>
              </a:rPr>
              <a:t>st</a:t>
            </a:r>
            <a:r>
              <a:rPr sz="2800" dirty="0">
                <a:solidFill>
                  <a:prstClr val="black"/>
                </a:solidFill>
                <a:cs typeface="Arial"/>
              </a:rPr>
              <a:t>e </a:t>
            </a:r>
            <a:r>
              <a:rPr sz="2800" spc="5" dirty="0">
                <a:solidFill>
                  <a:prstClr val="black"/>
                </a:solidFill>
                <a:cs typeface="Arial"/>
              </a:rPr>
              <a:t>2</a:t>
            </a:r>
            <a:r>
              <a:rPr sz="2800" dirty="0">
                <a:solidFill>
                  <a:prstClr val="black"/>
                </a:solidFill>
                <a:cs typeface="Arial"/>
              </a:rPr>
              <a:t>1 </a:t>
            </a:r>
            <a:r>
              <a:rPr sz="2800" spc="-15" dirty="0">
                <a:solidFill>
                  <a:prstClr val="black"/>
                </a:solidFill>
                <a:cs typeface="Arial"/>
              </a:rPr>
              <a:t>a.</a:t>
            </a:r>
            <a:r>
              <a:rPr sz="2800" dirty="0">
                <a:solidFill>
                  <a:prstClr val="black"/>
                </a:solidFill>
                <a:cs typeface="Arial"/>
              </a:rPr>
              <a:t>a</a:t>
            </a:r>
            <a:r>
              <a:rPr sz="2800" spc="-10" dirty="0">
                <a:solidFill>
                  <a:prstClr val="black"/>
                </a:solidFill>
                <a:cs typeface="Arial"/>
              </a:rPr>
              <a:t>. </a:t>
            </a:r>
            <a:r>
              <a:rPr sz="2800" spc="5" dirty="0">
                <a:solidFill>
                  <a:prstClr val="black"/>
                </a:solidFill>
                <a:cs typeface="Arial"/>
              </a:rPr>
              <a:t>d</a:t>
            </a:r>
            <a:r>
              <a:rPr sz="2800" dirty="0">
                <a:solidFill>
                  <a:prstClr val="black"/>
                </a:solidFill>
                <a:cs typeface="Arial"/>
              </a:rPr>
              <a:t>i</a:t>
            </a:r>
            <a:r>
              <a:rPr sz="2800" spc="-65" dirty="0">
                <a:solidFill>
                  <a:prstClr val="black"/>
                </a:solidFill>
                <a:cs typeface="Arial"/>
              </a:rPr>
              <a:t>f</a:t>
            </a:r>
            <a:r>
              <a:rPr sz="2800" spc="-15" dirty="0">
                <a:solidFill>
                  <a:prstClr val="black"/>
                </a:solidFill>
                <a:cs typeface="Arial"/>
              </a:rPr>
              <a:t>f</a:t>
            </a:r>
            <a:r>
              <a:rPr sz="2800" spc="5" dirty="0">
                <a:solidFill>
                  <a:prstClr val="black"/>
                </a:solidFill>
                <a:cs typeface="Arial"/>
              </a:rPr>
              <a:t>éren</a:t>
            </a:r>
            <a:r>
              <a:rPr sz="2800" spc="-15" dirty="0">
                <a:solidFill>
                  <a:prstClr val="black"/>
                </a:solidFill>
                <a:cs typeface="Arial"/>
              </a:rPr>
              <a:t>t</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e</a:t>
            </a:r>
            <a:r>
              <a:rPr sz="2800" dirty="0">
                <a:solidFill>
                  <a:prstClr val="black"/>
                </a:solidFill>
                <a:cs typeface="Arial"/>
              </a:rPr>
              <a:t>n </a:t>
            </a:r>
            <a:r>
              <a:rPr sz="2800" spc="-15" dirty="0">
                <a:solidFill>
                  <a:prstClr val="black"/>
                </a:solidFill>
                <a:cs typeface="Arial"/>
              </a:rPr>
              <a:t>f</a:t>
            </a:r>
            <a:r>
              <a:rPr sz="2800" spc="5" dirty="0">
                <a:solidFill>
                  <a:prstClr val="black"/>
                </a:solidFill>
                <a:cs typeface="Arial"/>
              </a:rPr>
              <a:t>on</a:t>
            </a:r>
            <a:r>
              <a:rPr sz="2800" spc="-15" dirty="0">
                <a:solidFill>
                  <a:prstClr val="black"/>
                </a:solidFill>
                <a:cs typeface="Arial"/>
              </a:rPr>
              <a:t>ct</a:t>
            </a:r>
            <a:r>
              <a:rPr sz="2800" dirty="0">
                <a:solidFill>
                  <a:prstClr val="black"/>
                </a:solidFill>
                <a:cs typeface="Arial"/>
              </a:rPr>
              <a:t>i</a:t>
            </a:r>
            <a:r>
              <a:rPr sz="2800" spc="5" dirty="0">
                <a:solidFill>
                  <a:prstClr val="black"/>
                </a:solidFill>
                <a:cs typeface="Arial"/>
              </a:rPr>
              <a:t>o</a:t>
            </a:r>
            <a:r>
              <a:rPr sz="2800" dirty="0">
                <a:solidFill>
                  <a:prstClr val="black"/>
                </a:solidFill>
                <a:cs typeface="Arial"/>
              </a:rPr>
              <a:t>n de la </a:t>
            </a:r>
            <a:r>
              <a:rPr sz="2800" spc="5" dirty="0">
                <a:solidFill>
                  <a:prstClr val="black"/>
                </a:solidFill>
                <a:cs typeface="Arial"/>
              </a:rPr>
              <a:t>na</a:t>
            </a:r>
            <a:r>
              <a:rPr sz="2800" spc="-5" dirty="0">
                <a:solidFill>
                  <a:prstClr val="black"/>
                </a:solidFill>
                <a:cs typeface="Arial"/>
              </a:rPr>
              <a:t>t</a:t>
            </a:r>
            <a:r>
              <a:rPr sz="2800" dirty="0">
                <a:solidFill>
                  <a:prstClr val="black"/>
                </a:solidFill>
                <a:cs typeface="Arial"/>
              </a:rPr>
              <a:t>ure c</a:t>
            </a:r>
            <a:r>
              <a:rPr sz="2800" spc="5" dirty="0">
                <a:solidFill>
                  <a:prstClr val="black"/>
                </a:solidFill>
                <a:cs typeface="Arial"/>
              </a:rPr>
              <a:t>h</a:t>
            </a:r>
            <a:r>
              <a:rPr sz="2800" dirty="0">
                <a:solidFill>
                  <a:prstClr val="black"/>
                </a:solidFill>
                <a:cs typeface="Arial"/>
              </a:rPr>
              <a:t>i</a:t>
            </a:r>
            <a:r>
              <a:rPr sz="2800" spc="5" dirty="0">
                <a:solidFill>
                  <a:prstClr val="black"/>
                </a:solidFill>
                <a:cs typeface="Arial"/>
              </a:rPr>
              <a:t>m</a:t>
            </a:r>
            <a:r>
              <a:rPr sz="2800" dirty="0">
                <a:solidFill>
                  <a:prstClr val="black"/>
                </a:solidFill>
                <a:cs typeface="Arial"/>
              </a:rPr>
              <a:t>i</a:t>
            </a:r>
            <a:r>
              <a:rPr sz="2800" spc="5" dirty="0">
                <a:solidFill>
                  <a:prstClr val="black"/>
                </a:solidFill>
                <a:cs typeface="Arial"/>
              </a:rPr>
              <a:t>qu</a:t>
            </a:r>
            <a:r>
              <a:rPr sz="2800" dirty="0">
                <a:solidFill>
                  <a:prstClr val="black"/>
                </a:solidFill>
                <a:cs typeface="Arial"/>
              </a:rPr>
              <a:t>e </a:t>
            </a:r>
            <a:r>
              <a:rPr sz="2800" spc="5" dirty="0">
                <a:solidFill>
                  <a:prstClr val="black"/>
                </a:solidFill>
                <a:cs typeface="Arial"/>
              </a:rPr>
              <a:t>d</a:t>
            </a:r>
            <a:r>
              <a:rPr sz="2800" dirty="0">
                <a:solidFill>
                  <a:prstClr val="black"/>
                </a:solidFill>
                <a:cs typeface="Arial"/>
              </a:rPr>
              <a:t>u </a:t>
            </a:r>
            <a:r>
              <a:rPr sz="2800" spc="5" dirty="0">
                <a:solidFill>
                  <a:prstClr val="black"/>
                </a:solidFill>
                <a:cs typeface="Arial"/>
              </a:rPr>
              <a:t>rad</a:t>
            </a:r>
            <a:r>
              <a:rPr sz="2800" dirty="0">
                <a:solidFill>
                  <a:prstClr val="black"/>
                </a:solidFill>
                <a:cs typeface="Arial"/>
              </a:rPr>
              <a:t>ic</a:t>
            </a:r>
            <a:r>
              <a:rPr sz="2800" spc="5" dirty="0">
                <a:solidFill>
                  <a:prstClr val="black"/>
                </a:solidFill>
                <a:cs typeface="Arial"/>
              </a:rPr>
              <a:t>a</a:t>
            </a:r>
            <a:r>
              <a:rPr sz="2800" dirty="0">
                <a:solidFill>
                  <a:prstClr val="black"/>
                </a:solidFill>
                <a:cs typeface="Arial"/>
              </a:rPr>
              <a:t>l</a:t>
            </a:r>
          </a:p>
          <a:p>
            <a:pPr marL="241300" marR="36195" indent="-228600">
              <a:lnSpc>
                <a:spcPct val="125000"/>
              </a:lnSpc>
              <a:spcBef>
                <a:spcPts val="2205"/>
              </a:spcBef>
              <a:buFont typeface="Arial"/>
              <a:buChar char="•"/>
              <a:tabLst>
                <a:tab pos="241300" algn="l"/>
              </a:tabLst>
            </a:pPr>
            <a:r>
              <a:rPr sz="2800" spc="5" dirty="0">
                <a:solidFill>
                  <a:prstClr val="black"/>
                </a:solidFill>
                <a:cs typeface="Arial"/>
              </a:rPr>
              <a:t>Le</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a</a:t>
            </a:r>
            <a:r>
              <a:rPr sz="2800" dirty="0">
                <a:solidFill>
                  <a:prstClr val="black"/>
                </a:solidFill>
                <a:cs typeface="Arial"/>
              </a:rPr>
              <a:t>ci</a:t>
            </a:r>
            <a:r>
              <a:rPr sz="2800" spc="5" dirty="0">
                <a:solidFill>
                  <a:prstClr val="black"/>
                </a:solidFill>
                <a:cs typeface="Arial"/>
              </a:rPr>
              <a:t>de</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am</a:t>
            </a:r>
            <a:r>
              <a:rPr sz="2800" dirty="0">
                <a:solidFill>
                  <a:prstClr val="black"/>
                </a:solidFill>
                <a:cs typeface="Arial"/>
              </a:rPr>
              <a:t>i</a:t>
            </a:r>
            <a:r>
              <a:rPr sz="2800" spc="5" dirty="0">
                <a:solidFill>
                  <a:prstClr val="black"/>
                </a:solidFill>
                <a:cs typeface="Arial"/>
              </a:rPr>
              <a:t>né</a:t>
            </a:r>
            <a:r>
              <a:rPr sz="2800" dirty="0">
                <a:solidFill>
                  <a:prstClr val="black"/>
                </a:solidFill>
                <a:cs typeface="Arial"/>
              </a:rPr>
              <a:t>s c</a:t>
            </a:r>
            <a:r>
              <a:rPr sz="2800" spc="5" dirty="0">
                <a:solidFill>
                  <a:prstClr val="black"/>
                </a:solidFill>
                <a:cs typeface="Arial"/>
              </a:rPr>
              <a:t>orre</a:t>
            </a:r>
            <a:r>
              <a:rPr sz="2800" dirty="0">
                <a:solidFill>
                  <a:prstClr val="black"/>
                </a:solidFill>
                <a:cs typeface="Arial"/>
              </a:rPr>
              <a:t>s</a:t>
            </a:r>
            <a:r>
              <a:rPr sz="2800" spc="5" dirty="0">
                <a:solidFill>
                  <a:prstClr val="black"/>
                </a:solidFill>
                <a:cs typeface="Arial"/>
              </a:rPr>
              <a:t>ponden</a:t>
            </a:r>
            <a:r>
              <a:rPr sz="2800" spc="-10" dirty="0">
                <a:solidFill>
                  <a:prstClr val="black"/>
                </a:solidFill>
                <a:cs typeface="Arial"/>
              </a:rPr>
              <a:t>t </a:t>
            </a:r>
            <a:r>
              <a:rPr sz="2800" dirty="0">
                <a:solidFill>
                  <a:prstClr val="black"/>
                </a:solidFill>
                <a:cs typeface="Arial"/>
              </a:rPr>
              <a:t>à </a:t>
            </a:r>
            <a:r>
              <a:rPr sz="2800" spc="5" dirty="0">
                <a:solidFill>
                  <a:prstClr val="black"/>
                </a:solidFill>
                <a:cs typeface="Arial"/>
              </a:rPr>
              <a:t>u</a:t>
            </a:r>
            <a:r>
              <a:rPr sz="2800" dirty="0">
                <a:solidFill>
                  <a:prstClr val="black"/>
                </a:solidFill>
                <a:cs typeface="Arial"/>
              </a:rPr>
              <a:t>n </a:t>
            </a:r>
            <a:r>
              <a:rPr sz="2800" spc="-15" dirty="0">
                <a:solidFill>
                  <a:prstClr val="black"/>
                </a:solidFill>
                <a:cs typeface="Arial"/>
              </a:rPr>
              <a:t>t</a:t>
            </a:r>
            <a:r>
              <a:rPr sz="2800" spc="5" dirty="0">
                <a:solidFill>
                  <a:prstClr val="black"/>
                </a:solidFill>
                <a:cs typeface="Arial"/>
              </a:rPr>
              <a:t>r</a:t>
            </a:r>
            <a:r>
              <a:rPr sz="2800" dirty="0">
                <a:solidFill>
                  <a:prstClr val="black"/>
                </a:solidFill>
                <a:cs typeface="Arial"/>
              </a:rPr>
              <a:t>i</a:t>
            </a:r>
            <a:r>
              <a:rPr sz="2800" spc="5" dirty="0">
                <a:solidFill>
                  <a:prstClr val="black"/>
                </a:solidFill>
                <a:cs typeface="Arial"/>
              </a:rPr>
              <a:t>p</a:t>
            </a:r>
            <a:r>
              <a:rPr sz="2800" dirty="0">
                <a:solidFill>
                  <a:prstClr val="black"/>
                </a:solidFill>
                <a:cs typeface="Arial"/>
              </a:rPr>
              <a:t>l</a:t>
            </a:r>
            <a:r>
              <a:rPr sz="2800" spc="5" dirty="0">
                <a:solidFill>
                  <a:prstClr val="black"/>
                </a:solidFill>
                <a:cs typeface="Arial"/>
              </a:rPr>
              <a:t>e</a:t>
            </a:r>
            <a:r>
              <a:rPr sz="2800" spc="-10" dirty="0">
                <a:solidFill>
                  <a:prstClr val="black"/>
                </a:solidFill>
                <a:cs typeface="Arial"/>
              </a:rPr>
              <a:t>t </a:t>
            </a:r>
            <a:r>
              <a:rPr sz="2800" spc="5" dirty="0">
                <a:solidFill>
                  <a:prstClr val="black"/>
                </a:solidFill>
                <a:cs typeface="Arial"/>
              </a:rPr>
              <a:t>d</a:t>
            </a:r>
            <a:r>
              <a:rPr sz="2800" dirty="0">
                <a:solidFill>
                  <a:prstClr val="black"/>
                </a:solidFill>
                <a:cs typeface="Arial"/>
              </a:rPr>
              <a:t>e </a:t>
            </a:r>
            <a:r>
              <a:rPr sz="2800" spc="5" dirty="0">
                <a:solidFill>
                  <a:prstClr val="black"/>
                </a:solidFill>
                <a:cs typeface="Arial"/>
              </a:rPr>
              <a:t>nu</a:t>
            </a:r>
            <a:r>
              <a:rPr sz="2800" dirty="0">
                <a:solidFill>
                  <a:prstClr val="black"/>
                </a:solidFill>
                <a:cs typeface="Arial"/>
              </a:rPr>
              <a:t>cl</a:t>
            </a:r>
            <a:r>
              <a:rPr sz="2800" spc="5" dirty="0">
                <a:solidFill>
                  <a:prstClr val="black"/>
                </a:solidFill>
                <a:cs typeface="Arial"/>
              </a:rPr>
              <a:t>éo</a:t>
            </a:r>
            <a:r>
              <a:rPr sz="2800" spc="-15" dirty="0">
                <a:solidFill>
                  <a:prstClr val="black"/>
                </a:solidFill>
                <a:cs typeface="Arial"/>
              </a:rPr>
              <a:t>t</a:t>
            </a:r>
            <a:r>
              <a:rPr sz="2800" dirty="0">
                <a:solidFill>
                  <a:prstClr val="black"/>
                </a:solidFill>
                <a:cs typeface="Arial"/>
              </a:rPr>
              <a:t>i</a:t>
            </a:r>
            <a:r>
              <a:rPr sz="2800" spc="5" dirty="0">
                <a:solidFill>
                  <a:prstClr val="black"/>
                </a:solidFill>
                <a:cs typeface="Arial"/>
              </a:rPr>
              <a:t>de</a:t>
            </a:r>
            <a:r>
              <a:rPr sz="2800" dirty="0">
                <a:solidFill>
                  <a:prstClr val="black"/>
                </a:solidFill>
                <a:cs typeface="Arial"/>
              </a:rPr>
              <a:t>s c</a:t>
            </a:r>
            <a:r>
              <a:rPr sz="2800" spc="5" dirty="0">
                <a:solidFill>
                  <a:prstClr val="black"/>
                </a:solidFill>
                <a:cs typeface="Arial"/>
              </a:rPr>
              <a:t>od</a:t>
            </a:r>
            <a:r>
              <a:rPr sz="2800" dirty="0">
                <a:solidFill>
                  <a:prstClr val="black"/>
                </a:solidFill>
                <a:cs typeface="Arial"/>
              </a:rPr>
              <a:t>é </a:t>
            </a:r>
            <a:r>
              <a:rPr sz="2800" spc="5" dirty="0">
                <a:solidFill>
                  <a:prstClr val="black"/>
                </a:solidFill>
                <a:cs typeface="Arial"/>
              </a:rPr>
              <a:t>pa</a:t>
            </a:r>
            <a:r>
              <a:rPr sz="2800" dirty="0">
                <a:solidFill>
                  <a:prstClr val="black"/>
                </a:solidFill>
                <a:cs typeface="Arial"/>
              </a:rPr>
              <a:t>r le c</a:t>
            </a:r>
            <a:r>
              <a:rPr sz="2800" spc="5" dirty="0">
                <a:solidFill>
                  <a:prstClr val="black"/>
                </a:solidFill>
                <a:cs typeface="Arial"/>
              </a:rPr>
              <a:t>od</a:t>
            </a:r>
            <a:r>
              <a:rPr sz="2800" dirty="0">
                <a:solidFill>
                  <a:prstClr val="black"/>
                </a:solidFill>
                <a:cs typeface="Arial"/>
              </a:rPr>
              <a:t>e </a:t>
            </a:r>
            <a:r>
              <a:rPr sz="2800" spc="5" dirty="0">
                <a:solidFill>
                  <a:prstClr val="black"/>
                </a:solidFill>
                <a:cs typeface="Arial"/>
              </a:rPr>
              <a:t>géné</a:t>
            </a:r>
            <a:r>
              <a:rPr sz="2800" spc="-5" dirty="0">
                <a:solidFill>
                  <a:prstClr val="black"/>
                </a:solidFill>
                <a:cs typeface="Arial"/>
              </a:rPr>
              <a:t>t</a:t>
            </a:r>
            <a:r>
              <a:rPr sz="2800" dirty="0">
                <a:solidFill>
                  <a:prstClr val="black"/>
                </a:solidFill>
                <a:cs typeface="Arial"/>
              </a:rPr>
              <a:t>i</a:t>
            </a:r>
            <a:r>
              <a:rPr sz="2800" spc="5" dirty="0">
                <a:solidFill>
                  <a:prstClr val="black"/>
                </a:solidFill>
                <a:cs typeface="Arial"/>
              </a:rPr>
              <a:t>que.</a:t>
            </a:r>
            <a:endParaRPr sz="2800" dirty="0">
              <a:solidFill>
                <a:prstClr val="black"/>
              </a:solidFill>
              <a:cs typeface="Arial"/>
            </a:endParaRPr>
          </a:p>
        </p:txBody>
      </p:sp>
      <p:pic>
        <p:nvPicPr>
          <p:cNvPr id="3" name="Imag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02860" y="1142999"/>
            <a:ext cx="6944227" cy="4174781"/>
          </a:xfrm>
          <a:prstGeom prst="rect">
            <a:avLst/>
          </a:prstGeom>
        </p:spPr>
      </p:pic>
      <p:sp>
        <p:nvSpPr>
          <p:cNvPr id="5" name="object 4"/>
          <p:cNvSpPr/>
          <p:nvPr/>
        </p:nvSpPr>
        <p:spPr>
          <a:xfrm>
            <a:off x="2983011" y="5317781"/>
            <a:ext cx="6225975" cy="1508124"/>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6" name="object 5"/>
          <p:cNvSpPr txBox="1"/>
          <p:nvPr/>
        </p:nvSpPr>
        <p:spPr>
          <a:xfrm>
            <a:off x="1443493" y="5784589"/>
            <a:ext cx="1076325" cy="726289"/>
          </a:xfrm>
          <a:prstGeom prst="rect">
            <a:avLst/>
          </a:prstGeom>
        </p:spPr>
        <p:txBody>
          <a:bodyPr vert="horz" wrap="square" lIns="0" tIns="0" rIns="0" bIns="0" rtlCol="0">
            <a:spAutoFit/>
          </a:bodyPr>
          <a:lstStyle/>
          <a:p>
            <a:pPr marL="12700" marR="5080" indent="25400">
              <a:lnSpc>
                <a:spcPct val="100800"/>
              </a:lnSpc>
            </a:pPr>
            <a:r>
              <a:rPr sz="2400" b="1" dirty="0">
                <a:solidFill>
                  <a:srgbClr val="000090"/>
                </a:solidFill>
                <a:cs typeface="Arial"/>
              </a:rPr>
              <a:t>Ac</a:t>
            </a:r>
            <a:r>
              <a:rPr sz="2400" b="1" spc="-20" dirty="0">
                <a:solidFill>
                  <a:srgbClr val="000090"/>
                </a:solidFill>
                <a:cs typeface="Arial"/>
              </a:rPr>
              <a:t>id</a:t>
            </a:r>
            <a:r>
              <a:rPr sz="2400" b="1" dirty="0">
                <a:solidFill>
                  <a:srgbClr val="000090"/>
                </a:solidFill>
                <a:cs typeface="Arial"/>
              </a:rPr>
              <a:t>es am</a:t>
            </a:r>
            <a:r>
              <a:rPr sz="2400" b="1" spc="-5" dirty="0">
                <a:solidFill>
                  <a:srgbClr val="000090"/>
                </a:solidFill>
                <a:cs typeface="Arial"/>
              </a:rPr>
              <a:t>i</a:t>
            </a:r>
            <a:r>
              <a:rPr sz="2400" b="1" spc="-20" dirty="0">
                <a:solidFill>
                  <a:srgbClr val="000090"/>
                </a:solidFill>
                <a:cs typeface="Arial"/>
              </a:rPr>
              <a:t>n</a:t>
            </a:r>
            <a:r>
              <a:rPr sz="2400" b="1" dirty="0">
                <a:solidFill>
                  <a:srgbClr val="000090"/>
                </a:solidFill>
                <a:cs typeface="Arial"/>
              </a:rPr>
              <a:t>és</a:t>
            </a:r>
            <a:endParaRPr sz="2400" dirty="0">
              <a:solidFill>
                <a:prstClr val="black"/>
              </a:solidFill>
              <a:cs typeface="Arial"/>
            </a:endParaRPr>
          </a:p>
        </p:txBody>
      </p:sp>
      <p:sp>
        <p:nvSpPr>
          <p:cNvPr id="7" name="object 6"/>
          <p:cNvSpPr txBox="1"/>
          <p:nvPr/>
        </p:nvSpPr>
        <p:spPr>
          <a:xfrm>
            <a:off x="8976986" y="5659621"/>
            <a:ext cx="2702560" cy="726289"/>
          </a:xfrm>
          <a:prstGeom prst="rect">
            <a:avLst/>
          </a:prstGeom>
        </p:spPr>
        <p:txBody>
          <a:bodyPr vert="horz" wrap="square" lIns="0" tIns="0" rIns="0" bIns="0" rtlCol="0">
            <a:spAutoFit/>
          </a:bodyPr>
          <a:lstStyle/>
          <a:p>
            <a:pPr marL="825500" marR="5080" indent="-812800">
              <a:lnSpc>
                <a:spcPct val="100800"/>
              </a:lnSpc>
            </a:pPr>
            <a:r>
              <a:rPr sz="2400" b="1" spc="-25" dirty="0">
                <a:solidFill>
                  <a:srgbClr val="000090"/>
                </a:solidFill>
                <a:cs typeface="Arial"/>
              </a:rPr>
              <a:t>Po</a:t>
            </a:r>
            <a:r>
              <a:rPr sz="2400" b="1" spc="-20" dirty="0">
                <a:solidFill>
                  <a:srgbClr val="000090"/>
                </a:solidFill>
                <a:cs typeface="Arial"/>
              </a:rPr>
              <a:t>l</a:t>
            </a:r>
            <a:r>
              <a:rPr sz="2400" b="1" dirty="0">
                <a:solidFill>
                  <a:srgbClr val="000090"/>
                </a:solidFill>
                <a:cs typeface="Arial"/>
              </a:rPr>
              <a:t>ymère</a:t>
            </a:r>
            <a:r>
              <a:rPr sz="2400" b="1" spc="-5" dirty="0">
                <a:solidFill>
                  <a:srgbClr val="000090"/>
                </a:solidFill>
                <a:cs typeface="Arial"/>
              </a:rPr>
              <a:t> </a:t>
            </a:r>
            <a:r>
              <a:rPr sz="2400" b="1" spc="-20" dirty="0">
                <a:solidFill>
                  <a:srgbClr val="000090"/>
                </a:solidFill>
                <a:cs typeface="Arial"/>
              </a:rPr>
              <a:t>d’</a:t>
            </a:r>
            <a:r>
              <a:rPr sz="2400" b="1" dirty="0">
                <a:solidFill>
                  <a:srgbClr val="000090"/>
                </a:solidFill>
                <a:cs typeface="Arial"/>
              </a:rPr>
              <a:t>ac</a:t>
            </a:r>
            <a:r>
              <a:rPr sz="2400" b="1" spc="-20" dirty="0">
                <a:solidFill>
                  <a:srgbClr val="000090"/>
                </a:solidFill>
                <a:cs typeface="Arial"/>
              </a:rPr>
              <a:t>id</a:t>
            </a:r>
            <a:r>
              <a:rPr sz="2400" b="1" dirty="0">
                <a:solidFill>
                  <a:srgbClr val="000090"/>
                </a:solidFill>
                <a:cs typeface="Arial"/>
              </a:rPr>
              <a:t>es am</a:t>
            </a:r>
            <a:r>
              <a:rPr sz="2400" b="1" spc="-5" dirty="0">
                <a:solidFill>
                  <a:srgbClr val="000090"/>
                </a:solidFill>
                <a:cs typeface="Arial"/>
              </a:rPr>
              <a:t>i</a:t>
            </a:r>
            <a:r>
              <a:rPr sz="2400" b="1" spc="-20" dirty="0">
                <a:solidFill>
                  <a:srgbClr val="000090"/>
                </a:solidFill>
                <a:cs typeface="Arial"/>
              </a:rPr>
              <a:t>n</a:t>
            </a:r>
            <a:r>
              <a:rPr sz="2400" b="1" dirty="0">
                <a:solidFill>
                  <a:srgbClr val="000090"/>
                </a:solidFill>
                <a:cs typeface="Arial"/>
              </a:rPr>
              <a:t>és</a:t>
            </a:r>
            <a:endParaRPr sz="2400">
              <a:solidFill>
                <a:prstClr val="black"/>
              </a:solidFill>
              <a:cs typeface="Arial"/>
            </a:endParaRPr>
          </a:p>
        </p:txBody>
      </p:sp>
      <p:sp>
        <p:nvSpPr>
          <p:cNvPr id="8" name="object 2"/>
          <p:cNvSpPr txBox="1"/>
          <p:nvPr/>
        </p:nvSpPr>
        <p:spPr>
          <a:xfrm>
            <a:off x="182880" y="142229"/>
            <a:ext cx="8467090" cy="1128514"/>
          </a:xfrm>
          <a:prstGeom prst="rect">
            <a:avLst/>
          </a:prstGeom>
        </p:spPr>
        <p:txBody>
          <a:bodyPr vert="horz" wrap="square" lIns="0" tIns="0" rIns="0" bIns="0" rtlCol="0">
            <a:spAutoFit/>
          </a:bodyPr>
          <a:lstStyle/>
          <a:p>
            <a:pPr marL="3089910" marR="5080" indent="-3077845">
              <a:lnSpc>
                <a:spcPts val="4390"/>
              </a:lnSpc>
              <a:tabLst>
                <a:tab pos="1143000" algn="l"/>
              </a:tabLst>
            </a:pPr>
            <a:r>
              <a:rPr sz="4000" b="1" spc="-35" dirty="0">
                <a:solidFill>
                  <a:srgbClr val="FF3300"/>
                </a:solidFill>
                <a:cs typeface="Arial"/>
              </a:rPr>
              <a:t>L</a:t>
            </a:r>
            <a:r>
              <a:rPr sz="4000" b="1" dirty="0">
                <a:solidFill>
                  <a:srgbClr val="FF3300"/>
                </a:solidFill>
                <a:cs typeface="Arial"/>
              </a:rPr>
              <a:t>es </a:t>
            </a:r>
            <a:r>
              <a:rPr sz="4000" b="1" spc="-25" dirty="0">
                <a:solidFill>
                  <a:srgbClr val="FF3300"/>
                </a:solidFill>
                <a:cs typeface="Arial"/>
              </a:rPr>
              <a:t>c</a:t>
            </a:r>
            <a:r>
              <a:rPr sz="4000" b="1" spc="-35" dirty="0">
                <a:solidFill>
                  <a:srgbClr val="FF3300"/>
                </a:solidFill>
                <a:cs typeface="Arial"/>
              </a:rPr>
              <a:t>on</a:t>
            </a:r>
            <a:r>
              <a:rPr sz="4000" b="1" dirty="0">
                <a:solidFill>
                  <a:srgbClr val="FF3300"/>
                </a:solidFill>
                <a:cs typeface="Arial"/>
              </a:rPr>
              <a:t>s</a:t>
            </a:r>
            <a:r>
              <a:rPr sz="4000" b="1" spc="5" dirty="0">
                <a:solidFill>
                  <a:srgbClr val="FF3300"/>
                </a:solidFill>
                <a:cs typeface="Arial"/>
              </a:rPr>
              <a:t>t</a:t>
            </a:r>
            <a:r>
              <a:rPr sz="4000" b="1" spc="-15" dirty="0">
                <a:solidFill>
                  <a:srgbClr val="FF3300"/>
                </a:solidFill>
                <a:cs typeface="Arial"/>
              </a:rPr>
              <a:t>i</a:t>
            </a:r>
            <a:r>
              <a:rPr sz="4000" b="1" spc="-10" dirty="0">
                <a:solidFill>
                  <a:srgbClr val="FF3300"/>
                </a:solidFill>
                <a:cs typeface="Arial"/>
              </a:rPr>
              <a:t>t</a:t>
            </a:r>
            <a:r>
              <a:rPr sz="4000" b="1" spc="-35" dirty="0">
                <a:solidFill>
                  <a:srgbClr val="FF3300"/>
                </a:solidFill>
                <a:cs typeface="Arial"/>
              </a:rPr>
              <a:t>u</a:t>
            </a:r>
            <a:r>
              <a:rPr sz="4000" b="1" spc="-25" dirty="0">
                <a:solidFill>
                  <a:srgbClr val="FF3300"/>
                </a:solidFill>
                <a:cs typeface="Arial"/>
              </a:rPr>
              <a:t>a</a:t>
            </a:r>
            <a:r>
              <a:rPr sz="4000" b="1" spc="-35" dirty="0">
                <a:solidFill>
                  <a:srgbClr val="FF3300"/>
                </a:solidFill>
                <a:cs typeface="Arial"/>
              </a:rPr>
              <a:t>n</a:t>
            </a:r>
            <a:r>
              <a:rPr sz="4000" b="1" spc="5" dirty="0">
                <a:solidFill>
                  <a:srgbClr val="FF3300"/>
                </a:solidFill>
                <a:cs typeface="Arial"/>
              </a:rPr>
              <a:t>t</a:t>
            </a:r>
            <a:r>
              <a:rPr sz="4000" b="1" dirty="0">
                <a:solidFill>
                  <a:srgbClr val="FF3300"/>
                </a:solidFill>
                <a:cs typeface="Arial"/>
              </a:rPr>
              <a:t>s </a:t>
            </a:r>
            <a:r>
              <a:rPr sz="4000" b="1" spc="-35" dirty="0">
                <a:solidFill>
                  <a:srgbClr val="FF3300"/>
                </a:solidFill>
                <a:cs typeface="Arial"/>
              </a:rPr>
              <a:t>un</a:t>
            </a:r>
            <a:r>
              <a:rPr sz="4000" b="1" spc="-15" dirty="0">
                <a:solidFill>
                  <a:srgbClr val="FF3300"/>
                </a:solidFill>
                <a:cs typeface="Arial"/>
              </a:rPr>
              <a:t>i</a:t>
            </a:r>
            <a:r>
              <a:rPr sz="4000" b="1" spc="-10" dirty="0">
                <a:solidFill>
                  <a:srgbClr val="FF3300"/>
                </a:solidFill>
                <a:cs typeface="Arial"/>
              </a:rPr>
              <a:t>t</a:t>
            </a:r>
            <a:r>
              <a:rPr sz="4000" b="1" dirty="0">
                <a:solidFill>
                  <a:srgbClr val="FF3300"/>
                </a:solidFill>
                <a:cs typeface="Arial"/>
              </a:rPr>
              <a:t>ai</a:t>
            </a:r>
            <a:r>
              <a:rPr sz="4000" b="1" spc="5" dirty="0">
                <a:solidFill>
                  <a:srgbClr val="FF3300"/>
                </a:solidFill>
                <a:cs typeface="Arial"/>
              </a:rPr>
              <a:t>r</a:t>
            </a:r>
            <a:r>
              <a:rPr sz="4000" b="1" dirty="0">
                <a:solidFill>
                  <a:srgbClr val="FF3300"/>
                </a:solidFill>
                <a:cs typeface="Arial"/>
              </a:rPr>
              <a:t>es </a:t>
            </a:r>
            <a:r>
              <a:rPr sz="4000" b="1" spc="-35" dirty="0">
                <a:solidFill>
                  <a:srgbClr val="FF3300"/>
                </a:solidFill>
                <a:cs typeface="Arial"/>
              </a:rPr>
              <a:t>d</a:t>
            </a:r>
            <a:r>
              <a:rPr sz="4000" b="1" dirty="0">
                <a:solidFill>
                  <a:srgbClr val="FF3300"/>
                </a:solidFill>
                <a:cs typeface="Arial"/>
              </a:rPr>
              <a:t>es </a:t>
            </a:r>
            <a:r>
              <a:rPr sz="4000" b="1" spc="-10" dirty="0">
                <a:solidFill>
                  <a:srgbClr val="FF3300"/>
                </a:solidFill>
                <a:cs typeface="Arial"/>
              </a:rPr>
              <a:t>p</a:t>
            </a:r>
            <a:r>
              <a:rPr sz="4000" b="1" spc="5" dirty="0">
                <a:solidFill>
                  <a:srgbClr val="FF3300"/>
                </a:solidFill>
                <a:cs typeface="Arial"/>
              </a:rPr>
              <a:t>r</a:t>
            </a:r>
            <a:r>
              <a:rPr sz="4000" b="1" spc="-35" dirty="0">
                <a:solidFill>
                  <a:srgbClr val="FF3300"/>
                </a:solidFill>
                <a:cs typeface="Arial"/>
              </a:rPr>
              <a:t>o</a:t>
            </a:r>
            <a:r>
              <a:rPr sz="4000" b="1" spc="-10" dirty="0">
                <a:solidFill>
                  <a:srgbClr val="FF3300"/>
                </a:solidFill>
                <a:cs typeface="Arial"/>
              </a:rPr>
              <a:t>t</a:t>
            </a:r>
            <a:r>
              <a:rPr sz="4000" b="1" dirty="0">
                <a:solidFill>
                  <a:srgbClr val="FF3300"/>
                </a:solidFill>
                <a:cs typeface="Arial"/>
              </a:rPr>
              <a:t>é</a:t>
            </a:r>
            <a:r>
              <a:rPr sz="4000" b="1" spc="-15" dirty="0">
                <a:solidFill>
                  <a:srgbClr val="FF3300"/>
                </a:solidFill>
                <a:cs typeface="Arial"/>
              </a:rPr>
              <a:t>i</a:t>
            </a:r>
            <a:r>
              <a:rPr sz="4000" b="1" spc="-35" dirty="0">
                <a:solidFill>
                  <a:srgbClr val="FF3300"/>
                </a:solidFill>
                <a:cs typeface="Arial"/>
              </a:rPr>
              <a:t>n</a:t>
            </a:r>
            <a:r>
              <a:rPr sz="4000" b="1" spc="-25" dirty="0">
                <a:solidFill>
                  <a:srgbClr val="FF3300"/>
                </a:solidFill>
                <a:cs typeface="Arial"/>
              </a:rPr>
              <a:t>e</a:t>
            </a:r>
            <a:r>
              <a:rPr sz="4000" b="1" dirty="0">
                <a:solidFill>
                  <a:srgbClr val="FF3300"/>
                </a:solidFill>
                <a:cs typeface="Arial"/>
              </a:rPr>
              <a:t>s</a:t>
            </a:r>
            <a:endParaRPr sz="4000" dirty="0">
              <a:solidFill>
                <a:srgbClr val="FF3300"/>
              </a:solidFill>
              <a:cs typeface="Arial"/>
            </a:endParaRPr>
          </a:p>
        </p:txBody>
      </p:sp>
    </p:spTree>
    <p:extLst>
      <p:ext uri="{BB962C8B-B14F-4D97-AF65-F5344CB8AC3E}">
        <p14:creationId xmlns:p14="http://schemas.microsoft.com/office/powerpoint/2010/main" val="276239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729" y="853440"/>
            <a:ext cx="9351189" cy="5227319"/>
          </a:xfrm>
          <a:prstGeom prst="rect">
            <a:avLst/>
          </a:prstGeom>
        </p:spPr>
      </p:pic>
      <p:sp>
        <p:nvSpPr>
          <p:cNvPr id="8" name="ZoneTexte 7"/>
          <p:cNvSpPr txBox="1"/>
          <p:nvPr/>
        </p:nvSpPr>
        <p:spPr>
          <a:xfrm>
            <a:off x="0" y="167640"/>
            <a:ext cx="10831042" cy="564257"/>
          </a:xfrm>
          <a:prstGeom prst="rect">
            <a:avLst/>
          </a:prstGeom>
        </p:spPr>
        <p:txBody>
          <a:bodyPr vert="horz" wrap="square" lIns="0" tIns="0" rIns="0" bIns="0" rtlCol="0">
            <a:spAutoFit/>
          </a:bodyPr>
          <a:lstStyle>
            <a:defPPr>
              <a:defRPr lang="fr-FR"/>
            </a:defPPr>
            <a:lvl1pPr marL="3089910" marR="5080" indent="-3077845">
              <a:lnSpc>
                <a:spcPts val="4390"/>
              </a:lnSpc>
              <a:tabLst>
                <a:tab pos="1143000" algn="l"/>
              </a:tabLst>
              <a:defRPr sz="4000" b="1" spc="-35">
                <a:solidFill>
                  <a:srgbClr val="FF3300"/>
                </a:solidFill>
                <a:latin typeface="+mj-lt"/>
                <a:cs typeface="Arial"/>
              </a:defRPr>
            </a:lvl1pPr>
          </a:lstStyle>
          <a:p>
            <a:r>
              <a:rPr lang="fr-FR" dirty="0"/>
              <a:t>Résumé des types de fonctions des protéines </a:t>
            </a:r>
          </a:p>
        </p:txBody>
      </p:sp>
    </p:spTree>
    <p:extLst>
      <p:ext uri="{BB962C8B-B14F-4D97-AF65-F5344CB8AC3E}">
        <p14:creationId xmlns:p14="http://schemas.microsoft.com/office/powerpoint/2010/main" val="34206251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8062" y="2430257"/>
            <a:ext cx="7540847" cy="1107996"/>
          </a:xfrm>
          <a:prstGeom prst="rect">
            <a:avLst/>
          </a:prstGeom>
          <a:noFill/>
        </p:spPr>
        <p:txBody>
          <a:bodyPr wrap="none" rtlCol="0">
            <a:spAutoFit/>
          </a:bodyPr>
          <a:lstStyle>
            <a:defPPr>
              <a:defRPr lang="fr-FR"/>
            </a:defPPr>
            <a:lvl1pPr>
              <a:defRPr sz="6600" b="1">
                <a:solidFill>
                  <a:schemeClr val="accent5"/>
                </a:solidFill>
              </a:defRPr>
            </a:lvl1pPr>
          </a:lstStyle>
          <a:p>
            <a:r>
              <a:rPr lang="fr-FR" dirty="0" smtClean="0">
                <a:solidFill>
                  <a:srgbClr val="3E8853"/>
                </a:solidFill>
              </a:rPr>
              <a:t>2- </a:t>
            </a:r>
            <a:r>
              <a:rPr dirty="0" smtClean="0">
                <a:solidFill>
                  <a:srgbClr val="3E8853"/>
                </a:solidFill>
              </a:rPr>
              <a:t>LES </a:t>
            </a:r>
            <a:r>
              <a:rPr dirty="0">
                <a:solidFill>
                  <a:srgbClr val="3E8853"/>
                </a:solidFill>
              </a:rPr>
              <a:t>GLUCIDES</a:t>
            </a:r>
          </a:p>
        </p:txBody>
      </p:sp>
    </p:spTree>
    <p:extLst>
      <p:ext uri="{BB962C8B-B14F-4D97-AF65-F5344CB8AC3E}">
        <p14:creationId xmlns:p14="http://schemas.microsoft.com/office/powerpoint/2010/main" val="22770163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87680" y="1615440"/>
            <a:ext cx="10500360" cy="4524315"/>
          </a:xfrm>
          <a:prstGeom prst="rect">
            <a:avLst/>
          </a:prstGeom>
          <a:noFill/>
        </p:spPr>
        <p:txBody>
          <a:bodyPr wrap="square" rtlCol="0">
            <a:spAutoFit/>
          </a:bodyPr>
          <a:lstStyle/>
          <a:p>
            <a:pPr algn="just">
              <a:lnSpc>
                <a:spcPct val="200000"/>
              </a:lnSpc>
            </a:pPr>
            <a:r>
              <a:rPr lang="fr-FR" sz="2400" dirty="0">
                <a:solidFill>
                  <a:prstClr val="black"/>
                </a:solidFill>
              </a:rPr>
              <a:t>- Les </a:t>
            </a:r>
            <a:r>
              <a:rPr lang="fr-FR" sz="2400" dirty="0">
                <a:solidFill>
                  <a:prstClr val="black"/>
                </a:solidFill>
              </a:rPr>
              <a:t>glucides, également appelés sucres, sont une classe de composés chimiques organiques qui sont essentiellement constitués d'atomes de </a:t>
            </a:r>
            <a:r>
              <a:rPr lang="fr-FR" sz="2400" b="1" dirty="0">
                <a:solidFill>
                  <a:prstClr val="black"/>
                </a:solidFill>
              </a:rPr>
              <a:t>carbone</a:t>
            </a:r>
            <a:r>
              <a:rPr lang="fr-FR" sz="2400" dirty="0">
                <a:solidFill>
                  <a:prstClr val="black"/>
                </a:solidFill>
              </a:rPr>
              <a:t> (C), </a:t>
            </a:r>
            <a:r>
              <a:rPr lang="fr-FR" sz="2400" b="1" dirty="0">
                <a:solidFill>
                  <a:prstClr val="black"/>
                </a:solidFill>
              </a:rPr>
              <a:t>d'hydrogène</a:t>
            </a:r>
            <a:r>
              <a:rPr lang="fr-FR" sz="2400" dirty="0">
                <a:solidFill>
                  <a:prstClr val="black"/>
                </a:solidFill>
              </a:rPr>
              <a:t> (H), et </a:t>
            </a:r>
            <a:r>
              <a:rPr lang="fr-FR" sz="2400" b="1" dirty="0">
                <a:solidFill>
                  <a:prstClr val="black"/>
                </a:solidFill>
              </a:rPr>
              <a:t>d'oxygène</a:t>
            </a:r>
            <a:r>
              <a:rPr lang="fr-FR" sz="2400" dirty="0">
                <a:solidFill>
                  <a:prstClr val="black"/>
                </a:solidFill>
              </a:rPr>
              <a:t> (O). </a:t>
            </a:r>
            <a:endParaRPr lang="fr-FR" sz="2400" dirty="0">
              <a:solidFill>
                <a:prstClr val="black"/>
              </a:solidFill>
            </a:endParaRPr>
          </a:p>
          <a:p>
            <a:pPr marL="342900" indent="-342900" algn="just">
              <a:lnSpc>
                <a:spcPct val="200000"/>
              </a:lnSpc>
              <a:buFontTx/>
              <a:buChar char="-"/>
            </a:pPr>
            <a:r>
              <a:rPr lang="fr-FR" sz="2400" dirty="0">
                <a:solidFill>
                  <a:prstClr val="black"/>
                </a:solidFill>
              </a:rPr>
              <a:t>Ils </a:t>
            </a:r>
            <a:r>
              <a:rPr lang="fr-FR" sz="2400" dirty="0">
                <a:solidFill>
                  <a:prstClr val="black"/>
                </a:solidFill>
              </a:rPr>
              <a:t>servent principalement de source d'énergie pour les organismes vivants, en particulier chez les humains et les </a:t>
            </a:r>
            <a:r>
              <a:rPr lang="fr-FR" sz="2400" dirty="0">
                <a:solidFill>
                  <a:prstClr val="black"/>
                </a:solidFill>
              </a:rPr>
              <a:t>animaux. </a:t>
            </a:r>
          </a:p>
          <a:p>
            <a:pPr marL="342900" indent="-342900" algn="just">
              <a:lnSpc>
                <a:spcPct val="200000"/>
              </a:lnSpc>
              <a:buFontTx/>
              <a:buChar char="-"/>
            </a:pPr>
            <a:r>
              <a:rPr lang="fr-FR" sz="2400" dirty="0">
                <a:solidFill>
                  <a:prstClr val="black"/>
                </a:solidFill>
              </a:rPr>
              <a:t>Ce </a:t>
            </a:r>
            <a:r>
              <a:rPr lang="fr-FR" sz="2400" dirty="0">
                <a:solidFill>
                  <a:prstClr val="black"/>
                </a:solidFill>
              </a:rPr>
              <a:t>sont des molécules hydrophiles</a:t>
            </a:r>
          </a:p>
        </p:txBody>
      </p:sp>
      <p:sp>
        <p:nvSpPr>
          <p:cNvPr id="3" name="ZoneTexte 2"/>
          <p:cNvSpPr txBox="1"/>
          <p:nvPr/>
        </p:nvSpPr>
        <p:spPr>
          <a:xfrm>
            <a:off x="487680" y="420469"/>
            <a:ext cx="2462534" cy="646331"/>
          </a:xfrm>
          <a:prstGeom prst="rect">
            <a:avLst/>
          </a:prstGeom>
          <a:noFill/>
        </p:spPr>
        <p:txBody>
          <a:bodyPr wrap="none" rtlCol="0">
            <a:spAutoFit/>
          </a:bodyPr>
          <a:lstStyle/>
          <a:p>
            <a:r>
              <a:rPr lang="fr-FR" sz="3600" dirty="0">
                <a:solidFill>
                  <a:srgbClr val="FF3300"/>
                </a:solidFill>
              </a:rPr>
              <a:t>Généralités </a:t>
            </a:r>
            <a:endParaRPr lang="fr-FR" sz="3600" dirty="0">
              <a:solidFill>
                <a:srgbClr val="FF3300"/>
              </a:solidFill>
            </a:endParaRPr>
          </a:p>
        </p:txBody>
      </p:sp>
    </p:spTree>
    <p:extLst>
      <p:ext uri="{BB962C8B-B14F-4D97-AF65-F5344CB8AC3E}">
        <p14:creationId xmlns:p14="http://schemas.microsoft.com/office/powerpoint/2010/main" val="3394256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81000" y="1310640"/>
            <a:ext cx="11003280" cy="830997"/>
          </a:xfrm>
          <a:prstGeom prst="rect">
            <a:avLst/>
          </a:prstGeom>
          <a:noFill/>
        </p:spPr>
        <p:txBody>
          <a:bodyPr wrap="square" rtlCol="0">
            <a:spAutoFit/>
          </a:bodyPr>
          <a:lstStyle/>
          <a:p>
            <a:r>
              <a:rPr lang="fr-FR" sz="2400" dirty="0">
                <a:solidFill>
                  <a:prstClr val="black"/>
                </a:solidFill>
              </a:rPr>
              <a:t>Selon l’arrangement des atomes, on distingue plusieurs isomères qui n’ont pas les </a:t>
            </a:r>
            <a:r>
              <a:rPr lang="fr-FR" sz="2400" dirty="0">
                <a:solidFill>
                  <a:prstClr val="black"/>
                </a:solidFill>
              </a:rPr>
              <a:t>mêmes propriétés</a:t>
            </a:r>
            <a:endParaRPr lang="fr-FR" sz="2400" dirty="0">
              <a:solidFill>
                <a:prstClr val="black"/>
              </a:solidFill>
            </a:endParaRPr>
          </a:p>
        </p:txBody>
      </p:sp>
      <p:sp>
        <p:nvSpPr>
          <p:cNvPr id="3" name="ZoneTexte 2"/>
          <p:cNvSpPr txBox="1"/>
          <p:nvPr/>
        </p:nvSpPr>
        <p:spPr>
          <a:xfrm>
            <a:off x="487680" y="420469"/>
            <a:ext cx="2462534" cy="646331"/>
          </a:xfrm>
          <a:prstGeom prst="rect">
            <a:avLst/>
          </a:prstGeom>
          <a:noFill/>
        </p:spPr>
        <p:txBody>
          <a:bodyPr wrap="none" rtlCol="0">
            <a:spAutoFit/>
          </a:bodyPr>
          <a:lstStyle/>
          <a:p>
            <a:r>
              <a:rPr lang="fr-FR" sz="3600" dirty="0">
                <a:solidFill>
                  <a:srgbClr val="FF3300"/>
                </a:solidFill>
              </a:rPr>
              <a:t>Généralités </a:t>
            </a:r>
          </a:p>
        </p:txBody>
      </p:sp>
      <p:pic>
        <p:nvPicPr>
          <p:cNvPr id="5" name="Image 4"/>
          <p:cNvPicPr>
            <a:picLocks noChangeAspect="1"/>
          </p:cNvPicPr>
          <p:nvPr/>
        </p:nvPicPr>
        <p:blipFill rotWithShape="1">
          <a:blip r:embed="rId2" cstate="print">
            <a:extLst>
              <a:ext uri="{28A0092B-C50C-407E-A947-70E740481C1C}">
                <a14:useLocalDpi xmlns:a14="http://schemas.microsoft.com/office/drawing/2010/main" val="0"/>
              </a:ext>
            </a:extLst>
          </a:blip>
          <a:srcRect b="14426"/>
          <a:stretch/>
        </p:blipFill>
        <p:spPr>
          <a:xfrm>
            <a:off x="1804579" y="2141637"/>
            <a:ext cx="8127499" cy="4411984"/>
          </a:xfrm>
          <a:prstGeom prst="rect">
            <a:avLst/>
          </a:prstGeom>
        </p:spPr>
      </p:pic>
    </p:spTree>
    <p:extLst>
      <p:ext uri="{BB962C8B-B14F-4D97-AF65-F5344CB8AC3E}">
        <p14:creationId xmlns:p14="http://schemas.microsoft.com/office/powerpoint/2010/main" val="12892734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0" y="655320"/>
            <a:ext cx="11912286" cy="830997"/>
          </a:xfrm>
          <a:prstGeom prst="rect">
            <a:avLst/>
          </a:prstGeom>
          <a:noFill/>
        </p:spPr>
        <p:txBody>
          <a:bodyPr wrap="square" rtlCol="0">
            <a:spAutoFit/>
          </a:bodyPr>
          <a:lstStyle/>
          <a:p>
            <a:r>
              <a:rPr lang="fr-FR" sz="2400" dirty="0">
                <a:solidFill>
                  <a:prstClr val="black"/>
                </a:solidFill>
              </a:rPr>
              <a:t>En </a:t>
            </a:r>
            <a:r>
              <a:rPr lang="fr-FR" sz="2400" dirty="0">
                <a:solidFill>
                  <a:prstClr val="black"/>
                </a:solidFill>
              </a:rPr>
              <a:t>fonction du nombre de monosaccharides, on </a:t>
            </a:r>
            <a:r>
              <a:rPr lang="fr-FR" sz="2400" dirty="0">
                <a:solidFill>
                  <a:prstClr val="black"/>
                </a:solidFill>
              </a:rPr>
              <a:t>distingue</a:t>
            </a:r>
          </a:p>
          <a:p>
            <a:pPr marL="342900" indent="-342900">
              <a:buFontTx/>
              <a:buChar char="-"/>
            </a:pPr>
            <a:r>
              <a:rPr lang="fr-FR" sz="2400" dirty="0">
                <a:solidFill>
                  <a:prstClr val="black"/>
                </a:solidFill>
              </a:rPr>
              <a:t>les </a:t>
            </a:r>
            <a:r>
              <a:rPr lang="fr-FR" sz="2400" dirty="0">
                <a:solidFill>
                  <a:prstClr val="black"/>
                </a:solidFill>
              </a:rPr>
              <a:t>disaccharides : association de </a:t>
            </a:r>
            <a:r>
              <a:rPr lang="fr-FR" sz="2400" dirty="0">
                <a:solidFill>
                  <a:prstClr val="black"/>
                </a:solidFill>
              </a:rPr>
              <a:t>2 monosaccharides , </a:t>
            </a:r>
          </a:p>
        </p:txBody>
      </p: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7260" y="2209800"/>
            <a:ext cx="6585780" cy="3841432"/>
          </a:xfrm>
          <a:prstGeom prst="rect">
            <a:avLst/>
          </a:prstGeom>
        </p:spPr>
      </p:pic>
      <p:sp>
        <p:nvSpPr>
          <p:cNvPr id="7" name="ZoneTexte 6"/>
          <p:cNvSpPr txBox="1"/>
          <p:nvPr/>
        </p:nvSpPr>
        <p:spPr>
          <a:xfrm>
            <a:off x="0" y="0"/>
            <a:ext cx="6427080" cy="646331"/>
          </a:xfrm>
          <a:prstGeom prst="rect">
            <a:avLst/>
          </a:prstGeom>
          <a:noFill/>
        </p:spPr>
        <p:txBody>
          <a:bodyPr wrap="none" rtlCol="0">
            <a:spAutoFit/>
          </a:bodyPr>
          <a:lstStyle>
            <a:defPPr>
              <a:defRPr lang="fr-FR"/>
            </a:defPPr>
            <a:lvl1pPr>
              <a:defRPr sz="3600">
                <a:solidFill>
                  <a:srgbClr val="FF3300"/>
                </a:solidFill>
              </a:defRPr>
            </a:lvl1pPr>
          </a:lstStyle>
          <a:p>
            <a:r>
              <a:rPr lang="fr-FR" dirty="0"/>
              <a:t>Disaccharides et polysaccharides </a:t>
            </a:r>
          </a:p>
        </p:txBody>
      </p:sp>
    </p:spTree>
    <p:extLst>
      <p:ext uri="{BB962C8B-B14F-4D97-AF65-F5344CB8AC3E}">
        <p14:creationId xmlns:p14="http://schemas.microsoft.com/office/powerpoint/2010/main" val="188720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5320" y="1016615"/>
            <a:ext cx="9296400" cy="830997"/>
          </a:xfrm>
          <a:prstGeom prst="rect">
            <a:avLst/>
          </a:prstGeom>
        </p:spPr>
        <p:txBody>
          <a:bodyPr wrap="square">
            <a:spAutoFit/>
          </a:bodyPr>
          <a:lstStyle/>
          <a:p>
            <a:pPr marL="342900" indent="-342900">
              <a:buFontTx/>
              <a:buChar char="-"/>
            </a:pPr>
            <a:r>
              <a:rPr lang="fr-FR" sz="2400" dirty="0">
                <a:solidFill>
                  <a:prstClr val="black"/>
                </a:solidFill>
              </a:rPr>
              <a:t>les polysaccharides : association de plusieurs monosaccharides pour former des polymères (amidon, glycogène, cellulose).</a:t>
            </a:r>
          </a:p>
        </p:txBody>
      </p:sp>
      <p:pic>
        <p:nvPicPr>
          <p:cNvPr id="3" name="Imag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7720" y="1847612"/>
            <a:ext cx="9921239" cy="4781734"/>
          </a:xfrm>
          <a:prstGeom prst="rect">
            <a:avLst/>
          </a:prstGeom>
        </p:spPr>
      </p:pic>
    </p:spTree>
    <p:extLst>
      <p:ext uri="{BB962C8B-B14F-4D97-AF65-F5344CB8AC3E}">
        <p14:creationId xmlns:p14="http://schemas.microsoft.com/office/powerpoint/2010/main" val="230187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0" y="472440"/>
            <a:ext cx="12192000" cy="3785652"/>
          </a:xfrm>
          <a:prstGeom prst="rect">
            <a:avLst/>
          </a:prstGeom>
          <a:noFill/>
        </p:spPr>
        <p:txBody>
          <a:bodyPr wrap="square" rtlCol="0">
            <a:spAutoFit/>
          </a:bodyPr>
          <a:lstStyle/>
          <a:p>
            <a:pPr marL="285750" indent="-285750" algn="just">
              <a:lnSpc>
                <a:spcPct val="200000"/>
              </a:lnSpc>
              <a:buFontTx/>
              <a:buChar char="-"/>
            </a:pPr>
            <a:r>
              <a:rPr lang="fr-FR" sz="2400" dirty="0">
                <a:solidFill>
                  <a:prstClr val="black"/>
                </a:solidFill>
              </a:rPr>
              <a:t>Essentiellement</a:t>
            </a:r>
            <a:r>
              <a:rPr lang="fr-FR" sz="2400" dirty="0">
                <a:solidFill>
                  <a:prstClr val="black"/>
                </a:solidFill>
              </a:rPr>
              <a:t>, rôle de réserve </a:t>
            </a:r>
            <a:r>
              <a:rPr lang="fr-FR" sz="2400" dirty="0">
                <a:solidFill>
                  <a:prstClr val="black"/>
                </a:solidFill>
              </a:rPr>
              <a:t>d’énergie </a:t>
            </a:r>
            <a:r>
              <a:rPr lang="fr-FR" sz="2400" dirty="0">
                <a:solidFill>
                  <a:prstClr val="black"/>
                </a:solidFill>
              </a:rPr>
              <a:t>pour </a:t>
            </a:r>
            <a:r>
              <a:rPr lang="fr-FR" sz="2400" dirty="0">
                <a:solidFill>
                  <a:prstClr val="black"/>
                </a:solidFill>
              </a:rPr>
              <a:t>la cellule</a:t>
            </a:r>
            <a:r>
              <a:rPr lang="fr-FR" sz="2400" dirty="0">
                <a:solidFill>
                  <a:prstClr val="black"/>
                </a:solidFill>
              </a:rPr>
              <a:t>, </a:t>
            </a:r>
            <a:endParaRPr lang="fr-FR" sz="2400" dirty="0">
              <a:solidFill>
                <a:prstClr val="black"/>
              </a:solidFill>
            </a:endParaRPr>
          </a:p>
          <a:p>
            <a:pPr marL="285750" indent="-285750" algn="just">
              <a:lnSpc>
                <a:spcPct val="200000"/>
              </a:lnSpc>
              <a:buFontTx/>
              <a:buChar char="-"/>
            </a:pPr>
            <a:r>
              <a:rPr lang="fr-FR" sz="2400" dirty="0">
                <a:solidFill>
                  <a:prstClr val="black"/>
                </a:solidFill>
              </a:rPr>
              <a:t>composants </a:t>
            </a:r>
            <a:r>
              <a:rPr lang="fr-FR" sz="2400" dirty="0">
                <a:solidFill>
                  <a:prstClr val="black"/>
                </a:solidFill>
              </a:rPr>
              <a:t>de la paroi pectocellulosique, des acides nucléiques et des </a:t>
            </a:r>
            <a:r>
              <a:rPr lang="fr-FR" sz="2400" dirty="0">
                <a:solidFill>
                  <a:prstClr val="black"/>
                </a:solidFill>
              </a:rPr>
              <a:t>membranes</a:t>
            </a:r>
          </a:p>
          <a:p>
            <a:pPr marL="285750" indent="-285750" algn="just">
              <a:lnSpc>
                <a:spcPct val="200000"/>
              </a:lnSpc>
              <a:buFontTx/>
              <a:buChar char="-"/>
            </a:pPr>
            <a:r>
              <a:rPr lang="fr-FR" sz="2400" dirty="0">
                <a:solidFill>
                  <a:prstClr val="black"/>
                </a:solidFill>
              </a:rPr>
              <a:t>rôle </a:t>
            </a:r>
            <a:r>
              <a:rPr lang="fr-FR" sz="2400" dirty="0">
                <a:solidFill>
                  <a:prstClr val="black"/>
                </a:solidFill>
              </a:rPr>
              <a:t>dans la jonction dans le mécanisme de reconnaissance cellulaire</a:t>
            </a:r>
            <a:r>
              <a:rPr lang="fr-FR" sz="2400" dirty="0">
                <a:solidFill>
                  <a:prstClr val="black"/>
                </a:solidFill>
              </a:rPr>
              <a:t>.</a:t>
            </a:r>
          </a:p>
          <a:p>
            <a:pPr marL="285750" indent="-285750" algn="just">
              <a:lnSpc>
                <a:spcPct val="200000"/>
              </a:lnSpc>
              <a:buFontTx/>
              <a:buChar char="-"/>
            </a:pPr>
            <a:r>
              <a:rPr lang="fr-FR" sz="2400" dirty="0">
                <a:solidFill>
                  <a:prstClr val="black"/>
                </a:solidFill>
              </a:rPr>
              <a:t>Molécules structurales extracellulaire (matrice extracellulaire, </a:t>
            </a:r>
            <a:r>
              <a:rPr lang="fr-FR" sz="2400" b="1" dirty="0">
                <a:solidFill>
                  <a:srgbClr val="FF3300"/>
                </a:solidFill>
              </a:rPr>
              <a:t>glycocalyx</a:t>
            </a:r>
            <a:r>
              <a:rPr lang="fr-FR" sz="2400" dirty="0">
                <a:solidFill>
                  <a:srgbClr val="FF3300"/>
                </a:solidFill>
              </a:rPr>
              <a:t> </a:t>
            </a:r>
            <a:r>
              <a:rPr lang="fr-FR" sz="2400" dirty="0">
                <a:solidFill>
                  <a:prstClr val="black"/>
                </a:solidFill>
              </a:rPr>
              <a:t>= « </a:t>
            </a:r>
            <a:r>
              <a:rPr lang="fr-FR" sz="2400" b="1" dirty="0" err="1">
                <a:solidFill>
                  <a:srgbClr val="FF3300"/>
                </a:solidFill>
              </a:rPr>
              <a:t>cell</a:t>
            </a:r>
            <a:r>
              <a:rPr lang="fr-FR" sz="2400" b="1" dirty="0">
                <a:solidFill>
                  <a:srgbClr val="FF3300"/>
                </a:solidFill>
              </a:rPr>
              <a:t> </a:t>
            </a:r>
            <a:r>
              <a:rPr lang="fr-FR" sz="2400" b="1" dirty="0" err="1">
                <a:solidFill>
                  <a:srgbClr val="FF3300"/>
                </a:solidFill>
              </a:rPr>
              <a:t>coat</a:t>
            </a:r>
            <a:r>
              <a:rPr lang="fr-FR" sz="2400" b="1" dirty="0">
                <a:solidFill>
                  <a:srgbClr val="FF3300"/>
                </a:solidFill>
              </a:rPr>
              <a:t> </a:t>
            </a:r>
            <a:r>
              <a:rPr lang="fr-FR" sz="2400" dirty="0">
                <a:solidFill>
                  <a:prstClr val="black"/>
                </a:solidFill>
              </a:rPr>
              <a:t>» ou « manteau cellulaire </a:t>
            </a:r>
            <a:r>
              <a:rPr lang="fr-FR" sz="2400" dirty="0">
                <a:solidFill>
                  <a:prstClr val="black"/>
                </a:solidFill>
              </a:rPr>
              <a:t>»)</a:t>
            </a:r>
            <a:endParaRPr lang="fr-FR" sz="2400" dirty="0">
              <a:solidFill>
                <a:prstClr val="black"/>
              </a:solidFill>
            </a:endParaRPr>
          </a:p>
        </p:txBody>
      </p:sp>
      <p:sp>
        <p:nvSpPr>
          <p:cNvPr id="3" name="Rectangle 2"/>
          <p:cNvSpPr/>
          <p:nvPr/>
        </p:nvSpPr>
        <p:spPr>
          <a:xfrm>
            <a:off x="426720" y="0"/>
            <a:ext cx="3526928" cy="646331"/>
          </a:xfrm>
          <a:prstGeom prst="rect">
            <a:avLst/>
          </a:prstGeom>
          <a:noFill/>
        </p:spPr>
        <p:txBody>
          <a:bodyPr wrap="none" rtlCol="0">
            <a:spAutoFit/>
          </a:bodyPr>
          <a:lstStyle/>
          <a:p>
            <a:r>
              <a:rPr lang="fr-FR" sz="3600" dirty="0">
                <a:solidFill>
                  <a:srgbClr val="FF3300"/>
                </a:solidFill>
              </a:rPr>
              <a:t>Rôle des glucides </a:t>
            </a:r>
          </a:p>
        </p:txBody>
      </p:sp>
      <p:sp>
        <p:nvSpPr>
          <p:cNvPr id="4" name="ZoneTexte 3"/>
          <p:cNvSpPr txBox="1"/>
          <p:nvPr/>
        </p:nvSpPr>
        <p:spPr>
          <a:xfrm>
            <a:off x="563880" y="4730532"/>
            <a:ext cx="10469880" cy="1631216"/>
          </a:xfrm>
          <a:prstGeom prst="rect">
            <a:avLst/>
          </a:prstGeom>
          <a:noFill/>
        </p:spPr>
        <p:txBody>
          <a:bodyPr wrap="square" rtlCol="0">
            <a:spAutoFit/>
          </a:bodyPr>
          <a:lstStyle/>
          <a:p>
            <a:r>
              <a:rPr lang="fr-FR" sz="2000" b="1" dirty="0">
                <a:solidFill>
                  <a:srgbClr val="FF3300"/>
                </a:solidFill>
              </a:rPr>
              <a:t>NB:</a:t>
            </a:r>
          </a:p>
          <a:p>
            <a:r>
              <a:rPr lang="fr-FR" sz="2000" dirty="0">
                <a:solidFill>
                  <a:prstClr val="black"/>
                </a:solidFill>
              </a:rPr>
              <a:t> </a:t>
            </a:r>
            <a:r>
              <a:rPr lang="fr-FR" sz="2000" b="1" dirty="0">
                <a:solidFill>
                  <a:srgbClr val="0070C0"/>
                </a:solidFill>
              </a:rPr>
              <a:t>Le </a:t>
            </a:r>
            <a:r>
              <a:rPr lang="fr-FR" sz="2000" b="1" dirty="0">
                <a:solidFill>
                  <a:srgbClr val="0070C0"/>
                </a:solidFill>
              </a:rPr>
              <a:t>glycocalyx </a:t>
            </a:r>
            <a:r>
              <a:rPr lang="fr-FR" sz="2000" dirty="0">
                <a:solidFill>
                  <a:prstClr val="black"/>
                </a:solidFill>
              </a:rPr>
              <a:t>est une </a:t>
            </a:r>
            <a:r>
              <a:rPr lang="fr-FR" sz="2000" b="1" dirty="0">
                <a:solidFill>
                  <a:prstClr val="black"/>
                </a:solidFill>
              </a:rPr>
              <a:t>membrane</a:t>
            </a:r>
            <a:r>
              <a:rPr lang="fr-FR" sz="2000" dirty="0">
                <a:solidFill>
                  <a:prstClr val="black"/>
                </a:solidFill>
              </a:rPr>
              <a:t> riche en hydrates de </a:t>
            </a:r>
            <a:r>
              <a:rPr lang="fr-FR" sz="2000" dirty="0">
                <a:solidFill>
                  <a:prstClr val="black"/>
                </a:solidFill>
              </a:rPr>
              <a:t>carbone</a:t>
            </a:r>
            <a:r>
              <a:rPr lang="fr-FR" sz="2000" dirty="0">
                <a:solidFill>
                  <a:prstClr val="black"/>
                </a:solidFill>
              </a:rPr>
              <a:t>, connectée à </a:t>
            </a:r>
            <a:r>
              <a:rPr lang="fr-FR" sz="2000" b="1" dirty="0">
                <a:solidFill>
                  <a:prstClr val="black"/>
                </a:solidFill>
              </a:rPr>
              <a:t>l’endothélium</a:t>
            </a:r>
            <a:r>
              <a:rPr lang="fr-FR" sz="2000" dirty="0">
                <a:solidFill>
                  <a:prstClr val="black"/>
                </a:solidFill>
              </a:rPr>
              <a:t>. Il est formé par des </a:t>
            </a:r>
            <a:r>
              <a:rPr lang="fr-FR" sz="2000" dirty="0">
                <a:solidFill>
                  <a:prstClr val="black"/>
                </a:solidFill>
              </a:rPr>
              <a:t>composants </a:t>
            </a:r>
            <a:r>
              <a:rPr lang="fr-FR" sz="2000" dirty="0">
                <a:solidFill>
                  <a:prstClr val="black"/>
                </a:solidFill>
              </a:rPr>
              <a:t>plasmatiques solubles liés les uns aux </a:t>
            </a:r>
            <a:r>
              <a:rPr lang="fr-FR" sz="2000" dirty="0">
                <a:solidFill>
                  <a:prstClr val="black"/>
                </a:solidFill>
              </a:rPr>
              <a:t>autres.</a:t>
            </a:r>
          </a:p>
          <a:p>
            <a:r>
              <a:rPr lang="fr-FR" sz="2000" dirty="0">
                <a:solidFill>
                  <a:prstClr val="black"/>
                </a:solidFill>
              </a:rPr>
              <a:t>Le glycocalyx est un déterminant clé de la </a:t>
            </a:r>
            <a:r>
              <a:rPr lang="fr-FR" sz="2000" b="1" dirty="0">
                <a:solidFill>
                  <a:prstClr val="black"/>
                </a:solidFill>
              </a:rPr>
              <a:t>perméabilité </a:t>
            </a:r>
            <a:r>
              <a:rPr lang="fr-FR" sz="2000" b="1" dirty="0">
                <a:solidFill>
                  <a:prstClr val="black"/>
                </a:solidFill>
              </a:rPr>
              <a:t>vasculaire </a:t>
            </a:r>
            <a:r>
              <a:rPr lang="fr-FR" sz="2000" dirty="0">
                <a:solidFill>
                  <a:prstClr val="black"/>
                </a:solidFill>
              </a:rPr>
              <a:t>en régulant, grâce à </a:t>
            </a:r>
            <a:r>
              <a:rPr lang="fr-FR" sz="2000" dirty="0">
                <a:solidFill>
                  <a:prstClr val="black"/>
                </a:solidFill>
              </a:rPr>
              <a:t>ses propriétés</a:t>
            </a:r>
            <a:r>
              <a:rPr lang="fr-FR" sz="2000" dirty="0">
                <a:solidFill>
                  <a:prstClr val="black"/>
                </a:solidFill>
              </a:rPr>
              <a:t>, l’accès de </a:t>
            </a:r>
            <a:r>
              <a:rPr lang="fr-FR" sz="2000" dirty="0">
                <a:solidFill>
                  <a:prstClr val="black"/>
                </a:solidFill>
              </a:rPr>
              <a:t>certaines molécules </a:t>
            </a:r>
            <a:r>
              <a:rPr lang="fr-FR" sz="2000" dirty="0">
                <a:solidFill>
                  <a:prstClr val="black"/>
                </a:solidFill>
              </a:rPr>
              <a:t>à la membrane </a:t>
            </a:r>
            <a:r>
              <a:rPr lang="fr-FR" sz="2000" dirty="0">
                <a:solidFill>
                  <a:prstClr val="black"/>
                </a:solidFill>
              </a:rPr>
              <a:t>vasculaire.</a:t>
            </a:r>
            <a:endParaRPr lang="fr-FR" sz="2000" dirty="0">
              <a:solidFill>
                <a:prstClr val="black"/>
              </a:solidFill>
            </a:endParaRPr>
          </a:p>
        </p:txBody>
      </p:sp>
    </p:spTree>
    <p:extLst>
      <p:ext uri="{BB962C8B-B14F-4D97-AF65-F5344CB8AC3E}">
        <p14:creationId xmlns:p14="http://schemas.microsoft.com/office/powerpoint/2010/main" val="4154846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2">
            <a:extLst>
              <a:ext uri="{28A0092B-C50C-407E-A947-70E740481C1C}">
                <a14:useLocalDpi xmlns:a14="http://schemas.microsoft.com/office/drawing/2010/main" val="0"/>
              </a:ext>
            </a:extLst>
          </a:blip>
          <a:srcRect b="15333"/>
          <a:stretch/>
        </p:blipFill>
        <p:spPr>
          <a:xfrm>
            <a:off x="1051560" y="1099947"/>
            <a:ext cx="9067800" cy="5758053"/>
          </a:xfrm>
          <a:prstGeom prst="rect">
            <a:avLst/>
          </a:prstGeom>
        </p:spPr>
      </p:pic>
      <p:sp>
        <p:nvSpPr>
          <p:cNvPr id="3" name="Rectangle 2"/>
          <p:cNvSpPr/>
          <p:nvPr/>
        </p:nvSpPr>
        <p:spPr>
          <a:xfrm>
            <a:off x="426720" y="0"/>
            <a:ext cx="7769178" cy="646331"/>
          </a:xfrm>
          <a:prstGeom prst="rect">
            <a:avLst/>
          </a:prstGeom>
          <a:noFill/>
        </p:spPr>
        <p:txBody>
          <a:bodyPr wrap="none" rtlCol="0">
            <a:spAutoFit/>
          </a:bodyPr>
          <a:lstStyle/>
          <a:p>
            <a:r>
              <a:rPr lang="fr-FR" sz="3600" dirty="0">
                <a:solidFill>
                  <a:srgbClr val="FF3300"/>
                </a:solidFill>
              </a:rPr>
              <a:t>Exemples des Rôle de quelques </a:t>
            </a:r>
            <a:r>
              <a:rPr lang="fr-FR" sz="3600" dirty="0">
                <a:solidFill>
                  <a:srgbClr val="FF3300"/>
                </a:solidFill>
              </a:rPr>
              <a:t>glucides </a:t>
            </a:r>
          </a:p>
        </p:txBody>
      </p:sp>
    </p:spTree>
    <p:extLst>
      <p:ext uri="{BB962C8B-B14F-4D97-AF65-F5344CB8AC3E}">
        <p14:creationId xmlns:p14="http://schemas.microsoft.com/office/powerpoint/2010/main" val="235013687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758440" y="2286000"/>
            <a:ext cx="5782352" cy="1107996"/>
          </a:xfrm>
          <a:prstGeom prst="rect">
            <a:avLst/>
          </a:prstGeom>
          <a:noFill/>
        </p:spPr>
        <p:txBody>
          <a:bodyPr wrap="none" rtlCol="0">
            <a:spAutoFit/>
          </a:bodyPr>
          <a:lstStyle>
            <a:defPPr>
              <a:defRPr lang="fr-FR"/>
            </a:defPPr>
            <a:lvl1pPr>
              <a:defRPr sz="6600" b="1">
                <a:solidFill>
                  <a:schemeClr val="accent5"/>
                </a:solidFill>
              </a:defRPr>
            </a:lvl1pPr>
          </a:lstStyle>
          <a:p>
            <a:r>
              <a:rPr lang="fr-FR" dirty="0">
                <a:solidFill>
                  <a:srgbClr val="3E8853"/>
                </a:solidFill>
              </a:rPr>
              <a:t>3- Les Lipides </a:t>
            </a:r>
          </a:p>
        </p:txBody>
      </p:sp>
    </p:spTree>
    <p:extLst>
      <p:ext uri="{BB962C8B-B14F-4D97-AF65-F5344CB8AC3E}">
        <p14:creationId xmlns:p14="http://schemas.microsoft.com/office/powerpoint/2010/main" val="17095263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60960" y="586784"/>
            <a:ext cx="10271759" cy="1200329"/>
          </a:xfrm>
          <a:prstGeom prst="rect">
            <a:avLst/>
          </a:prstGeom>
          <a:noFill/>
        </p:spPr>
        <p:txBody>
          <a:bodyPr wrap="square" rtlCol="0">
            <a:spAutoFit/>
          </a:bodyPr>
          <a:lstStyle/>
          <a:p>
            <a:pPr algn="just">
              <a:lnSpc>
                <a:spcPct val="200000"/>
              </a:lnSpc>
            </a:pPr>
            <a:r>
              <a:rPr lang="fr-FR" dirty="0">
                <a:solidFill>
                  <a:prstClr val="black"/>
                </a:solidFill>
              </a:rPr>
              <a:t>Les lipides sont une classe de </a:t>
            </a:r>
            <a:r>
              <a:rPr lang="fr-FR" b="1" dirty="0">
                <a:solidFill>
                  <a:prstClr val="black"/>
                </a:solidFill>
              </a:rPr>
              <a:t>composés organiques </a:t>
            </a:r>
            <a:r>
              <a:rPr lang="fr-FR" dirty="0">
                <a:solidFill>
                  <a:prstClr val="black"/>
                </a:solidFill>
              </a:rPr>
              <a:t>qui sont </a:t>
            </a:r>
            <a:r>
              <a:rPr lang="fr-FR" b="1" dirty="0">
                <a:solidFill>
                  <a:prstClr val="black"/>
                </a:solidFill>
              </a:rPr>
              <a:t>hydrophobes</a:t>
            </a:r>
            <a:r>
              <a:rPr lang="fr-FR" dirty="0">
                <a:solidFill>
                  <a:prstClr val="black"/>
                </a:solidFill>
              </a:rPr>
              <a:t>, ce qui signifie qu'ils sont insolubles dans l'eau. Ils jouent un rôle essentiel dans de nombreuses fonctions </a:t>
            </a:r>
            <a:r>
              <a:rPr lang="fr-FR" dirty="0">
                <a:solidFill>
                  <a:prstClr val="black"/>
                </a:solidFill>
              </a:rPr>
              <a:t>biologiques.</a:t>
            </a:r>
            <a:endParaRPr lang="fr-FR" dirty="0">
              <a:solidFill>
                <a:prstClr val="black"/>
              </a:solidFill>
            </a:endParaRPr>
          </a:p>
        </p:txBody>
      </p:sp>
      <p:sp>
        <p:nvSpPr>
          <p:cNvPr id="3" name="Rectangle 2"/>
          <p:cNvSpPr/>
          <p:nvPr/>
        </p:nvSpPr>
        <p:spPr>
          <a:xfrm>
            <a:off x="121920" y="1787113"/>
            <a:ext cx="7879080" cy="5078313"/>
          </a:xfrm>
          <a:prstGeom prst="rect">
            <a:avLst/>
          </a:prstGeom>
        </p:spPr>
        <p:txBody>
          <a:bodyPr wrap="square">
            <a:spAutoFit/>
          </a:bodyPr>
          <a:lstStyle/>
          <a:p>
            <a:pPr algn="just">
              <a:lnSpc>
                <a:spcPct val="200000"/>
              </a:lnSpc>
            </a:pPr>
            <a:r>
              <a:rPr lang="fr-FR" dirty="0">
                <a:solidFill>
                  <a:prstClr val="black"/>
                </a:solidFill>
              </a:rPr>
              <a:t>Ce sont des macromolécules formées d’une molécule de </a:t>
            </a:r>
            <a:r>
              <a:rPr lang="fr-FR" dirty="0">
                <a:solidFill>
                  <a:prstClr val="black"/>
                </a:solidFill>
              </a:rPr>
              <a:t>glycérol (alcool</a:t>
            </a:r>
            <a:r>
              <a:rPr lang="fr-FR" dirty="0">
                <a:solidFill>
                  <a:prstClr val="black"/>
                </a:solidFill>
              </a:rPr>
              <a:t>) et de 3 molécules d’acides gras.</a:t>
            </a:r>
          </a:p>
          <a:p>
            <a:pPr algn="just">
              <a:lnSpc>
                <a:spcPct val="200000"/>
              </a:lnSpc>
            </a:pPr>
            <a:r>
              <a:rPr lang="fr-FR" dirty="0">
                <a:solidFill>
                  <a:prstClr val="black"/>
                </a:solidFill>
              </a:rPr>
              <a:t>- Formule générale : </a:t>
            </a:r>
            <a:r>
              <a:rPr lang="fr-FR" b="1" dirty="0">
                <a:solidFill>
                  <a:prstClr val="black"/>
                </a:solidFill>
              </a:rPr>
              <a:t>CH3-(CH2)n-COOH</a:t>
            </a:r>
          </a:p>
          <a:p>
            <a:pPr marL="342900" indent="-342900" algn="just">
              <a:lnSpc>
                <a:spcPct val="200000"/>
              </a:lnSpc>
              <a:buFontTx/>
              <a:buChar char="-"/>
            </a:pPr>
            <a:r>
              <a:rPr lang="fr-FR" b="1" dirty="0">
                <a:solidFill>
                  <a:srgbClr val="FF0000"/>
                </a:solidFill>
              </a:rPr>
              <a:t>Hydrophobes</a:t>
            </a:r>
            <a:r>
              <a:rPr lang="fr-FR" dirty="0">
                <a:solidFill>
                  <a:prstClr val="black"/>
                </a:solidFill>
              </a:rPr>
              <a:t> </a:t>
            </a:r>
            <a:r>
              <a:rPr lang="fr-FR" dirty="0">
                <a:solidFill>
                  <a:prstClr val="black"/>
                </a:solidFill>
              </a:rPr>
              <a:t>ou </a:t>
            </a:r>
            <a:r>
              <a:rPr lang="fr-FR" b="1" dirty="0">
                <a:solidFill>
                  <a:srgbClr val="FF0000"/>
                </a:solidFill>
              </a:rPr>
              <a:t>amphiphiles</a:t>
            </a:r>
            <a:r>
              <a:rPr lang="fr-FR" dirty="0">
                <a:solidFill>
                  <a:prstClr val="black"/>
                </a:solidFill>
              </a:rPr>
              <a:t>, ils sont solubles dans l’éther</a:t>
            </a:r>
            <a:r>
              <a:rPr lang="fr-FR" dirty="0">
                <a:solidFill>
                  <a:prstClr val="black"/>
                </a:solidFill>
              </a:rPr>
              <a:t>.</a:t>
            </a:r>
          </a:p>
          <a:p>
            <a:pPr marL="342900" indent="-342900" algn="just">
              <a:lnSpc>
                <a:spcPct val="200000"/>
              </a:lnSpc>
              <a:buFontTx/>
              <a:buChar char="-"/>
            </a:pPr>
            <a:r>
              <a:rPr lang="fr-FR" b="1" dirty="0">
                <a:solidFill>
                  <a:prstClr val="black"/>
                </a:solidFill>
              </a:rPr>
              <a:t>Les lipides de stockage </a:t>
            </a:r>
            <a:r>
              <a:rPr lang="fr-FR" dirty="0">
                <a:solidFill>
                  <a:prstClr val="black"/>
                </a:solidFill>
              </a:rPr>
              <a:t>sont composés d'acides gras, qui peuvent être soit </a:t>
            </a:r>
            <a:r>
              <a:rPr lang="fr-FR" b="1" dirty="0">
                <a:solidFill>
                  <a:prstClr val="black"/>
                </a:solidFill>
              </a:rPr>
              <a:t>saturés</a:t>
            </a:r>
            <a:r>
              <a:rPr lang="fr-FR" dirty="0">
                <a:solidFill>
                  <a:prstClr val="black"/>
                </a:solidFill>
              </a:rPr>
              <a:t> soit </a:t>
            </a:r>
            <a:r>
              <a:rPr lang="fr-FR" b="1" dirty="0">
                <a:solidFill>
                  <a:prstClr val="black"/>
                </a:solidFill>
              </a:rPr>
              <a:t>insaturés</a:t>
            </a:r>
            <a:r>
              <a:rPr lang="fr-FR" dirty="0">
                <a:solidFill>
                  <a:prstClr val="black"/>
                </a:solidFill>
              </a:rPr>
              <a:t>, ainsi que de leur regroupement sous forme de </a:t>
            </a:r>
            <a:r>
              <a:rPr lang="fr-FR" b="1" dirty="0">
                <a:solidFill>
                  <a:prstClr val="black"/>
                </a:solidFill>
              </a:rPr>
              <a:t>triglycérides</a:t>
            </a:r>
            <a:r>
              <a:rPr lang="fr-FR" dirty="0">
                <a:solidFill>
                  <a:prstClr val="black"/>
                </a:solidFill>
              </a:rPr>
              <a:t> et de </a:t>
            </a:r>
            <a:r>
              <a:rPr lang="fr-FR" b="1" dirty="0">
                <a:solidFill>
                  <a:prstClr val="black"/>
                </a:solidFill>
              </a:rPr>
              <a:t>phospholipides</a:t>
            </a:r>
            <a:r>
              <a:rPr lang="fr-FR" dirty="0">
                <a:solidFill>
                  <a:prstClr val="black"/>
                </a:solidFill>
              </a:rPr>
              <a:t>. Les acides gras se caractérisent par de longues chaînes de carbone avec un nombre pair d'atomes de carbone et une fonction acide attachée au premier carbone.</a:t>
            </a:r>
          </a:p>
        </p:txBody>
      </p:sp>
      <p:sp>
        <p:nvSpPr>
          <p:cNvPr id="4" name="ZoneTexte 3"/>
          <p:cNvSpPr txBox="1"/>
          <p:nvPr/>
        </p:nvSpPr>
        <p:spPr>
          <a:xfrm>
            <a:off x="411480" y="141997"/>
            <a:ext cx="2861681" cy="584775"/>
          </a:xfrm>
          <a:prstGeom prst="rect">
            <a:avLst/>
          </a:prstGeom>
          <a:noFill/>
        </p:spPr>
        <p:txBody>
          <a:bodyPr wrap="none" rtlCol="0">
            <a:spAutoFit/>
          </a:bodyPr>
          <a:lstStyle/>
          <a:p>
            <a:r>
              <a:rPr lang="fr-FR" sz="3200" b="1" dirty="0">
                <a:solidFill>
                  <a:srgbClr val="27CED7"/>
                </a:solidFill>
              </a:rPr>
              <a:t>1- acides gras </a:t>
            </a:r>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01000" y="3144438"/>
            <a:ext cx="4078234" cy="3484962"/>
          </a:xfrm>
          <a:prstGeom prst="rect">
            <a:avLst/>
          </a:prstGeom>
        </p:spPr>
      </p:pic>
    </p:spTree>
    <p:extLst>
      <p:ext uri="{BB962C8B-B14F-4D97-AF65-F5344CB8AC3E}">
        <p14:creationId xmlns:p14="http://schemas.microsoft.com/office/powerpoint/2010/main" val="1242317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 calcmode="lin" valueType="num">
                                      <p:cBhvr additive="base">
                                        <p:cTn id="3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752600" y="121920"/>
            <a:ext cx="2861681" cy="584775"/>
          </a:xfrm>
          <a:prstGeom prst="rect">
            <a:avLst/>
          </a:prstGeom>
          <a:noFill/>
        </p:spPr>
        <p:txBody>
          <a:bodyPr wrap="none" rtlCol="0">
            <a:spAutoFit/>
          </a:bodyPr>
          <a:lstStyle/>
          <a:p>
            <a:r>
              <a:rPr lang="fr-FR" sz="3200" b="1" dirty="0">
                <a:solidFill>
                  <a:srgbClr val="27CED7"/>
                </a:solidFill>
              </a:rPr>
              <a:t>1- acides gras </a:t>
            </a:r>
          </a:p>
        </p:txBody>
      </p:sp>
      <p:sp>
        <p:nvSpPr>
          <p:cNvPr id="3" name="Rectangle 2"/>
          <p:cNvSpPr/>
          <p:nvPr/>
        </p:nvSpPr>
        <p:spPr>
          <a:xfrm>
            <a:off x="-121920" y="706695"/>
            <a:ext cx="12192000" cy="2554545"/>
          </a:xfrm>
          <a:prstGeom prst="rect">
            <a:avLst/>
          </a:prstGeom>
        </p:spPr>
        <p:txBody>
          <a:bodyPr wrap="square">
            <a:spAutoFit/>
          </a:bodyPr>
          <a:lstStyle/>
          <a:p>
            <a:pPr algn="just">
              <a:lnSpc>
                <a:spcPct val="200000"/>
              </a:lnSpc>
            </a:pPr>
            <a:r>
              <a:rPr lang="fr-FR" sz="2000" dirty="0">
                <a:solidFill>
                  <a:prstClr val="black"/>
                </a:solidFill>
              </a:rPr>
              <a:t>- Les </a:t>
            </a:r>
            <a:r>
              <a:rPr lang="fr-FR" sz="2000" dirty="0">
                <a:solidFill>
                  <a:prstClr val="black"/>
                </a:solidFill>
              </a:rPr>
              <a:t>acides gras sont les constituants de base des lipides. </a:t>
            </a:r>
            <a:endParaRPr lang="fr-FR" sz="2000" dirty="0">
              <a:solidFill>
                <a:prstClr val="black"/>
              </a:solidFill>
            </a:endParaRPr>
          </a:p>
          <a:p>
            <a:pPr algn="just">
              <a:lnSpc>
                <a:spcPct val="200000"/>
              </a:lnSpc>
            </a:pPr>
            <a:r>
              <a:rPr lang="fr-FR" sz="2000" dirty="0">
                <a:solidFill>
                  <a:prstClr val="black"/>
                </a:solidFill>
              </a:rPr>
              <a:t>- Ils </a:t>
            </a:r>
            <a:r>
              <a:rPr lang="fr-FR" sz="2000" dirty="0">
                <a:solidFill>
                  <a:prstClr val="black"/>
                </a:solidFill>
              </a:rPr>
              <a:t>se présentent sous forme de chaînes hydrocarbonées avec un groupe carboxyle (-COOH) à une extrémité. </a:t>
            </a:r>
            <a:endParaRPr lang="fr-FR" sz="2000" dirty="0">
              <a:solidFill>
                <a:prstClr val="black"/>
              </a:solidFill>
            </a:endParaRPr>
          </a:p>
          <a:p>
            <a:pPr marL="342900" indent="-342900" algn="just">
              <a:lnSpc>
                <a:spcPct val="200000"/>
              </a:lnSpc>
              <a:buFontTx/>
              <a:buChar char="-"/>
            </a:pPr>
            <a:r>
              <a:rPr lang="fr-FR" sz="2000" dirty="0">
                <a:solidFill>
                  <a:prstClr val="black"/>
                </a:solidFill>
              </a:rPr>
              <a:t>Les </a:t>
            </a:r>
            <a:r>
              <a:rPr lang="fr-FR" sz="2000" dirty="0">
                <a:solidFill>
                  <a:prstClr val="black"/>
                </a:solidFill>
              </a:rPr>
              <a:t>acides gras peuvent être saturés (pas de liaisons doubles) ou insaturés (contenant des liaisons doubles</a:t>
            </a:r>
            <a:r>
              <a:rPr lang="fr-FR" sz="2000" dirty="0">
                <a:solidFill>
                  <a:prstClr val="black"/>
                </a:solidFill>
              </a:rPr>
              <a:t>).</a:t>
            </a:r>
          </a:p>
          <a:p>
            <a:pPr marL="342900" indent="-342900" algn="just">
              <a:lnSpc>
                <a:spcPct val="200000"/>
              </a:lnSpc>
              <a:buFontTx/>
              <a:buChar char="-"/>
            </a:pPr>
            <a:r>
              <a:rPr lang="fr-FR" sz="2000" dirty="0">
                <a:solidFill>
                  <a:prstClr val="black"/>
                </a:solidFill>
              </a:rPr>
              <a:t> Les </a:t>
            </a:r>
            <a:r>
              <a:rPr lang="fr-FR" sz="2000" dirty="0">
                <a:solidFill>
                  <a:prstClr val="black"/>
                </a:solidFill>
              </a:rPr>
              <a:t>graisses et les huiles sont des exemples d'acides gras stockés.</a:t>
            </a:r>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556" y="3261240"/>
            <a:ext cx="9733544" cy="3596760"/>
          </a:xfrm>
          <a:prstGeom prst="rect">
            <a:avLst/>
          </a:prstGeom>
        </p:spPr>
      </p:pic>
    </p:spTree>
    <p:extLst>
      <p:ext uri="{BB962C8B-B14F-4D97-AF65-F5344CB8AC3E}">
        <p14:creationId xmlns:p14="http://schemas.microsoft.com/office/powerpoint/2010/main" val="111419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42"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160" y="932885"/>
            <a:ext cx="11689080" cy="2935740"/>
          </a:xfrm>
          <a:prstGeom prst="rect">
            <a:avLst/>
          </a:prstGeom>
        </p:spPr>
        <p:txBody>
          <a:bodyPr wrap="square">
            <a:spAutoFit/>
          </a:bodyPr>
          <a:lstStyle/>
          <a:p>
            <a:pPr algn="just">
              <a:lnSpc>
                <a:spcPct val="200000"/>
              </a:lnSpc>
            </a:pPr>
            <a:r>
              <a:rPr lang="fr-FR" sz="2400" dirty="0">
                <a:solidFill>
                  <a:prstClr val="black"/>
                </a:solidFill>
              </a:rPr>
              <a:t>Les </a:t>
            </a:r>
            <a:r>
              <a:rPr lang="fr-FR" sz="2400" dirty="0">
                <a:solidFill>
                  <a:prstClr val="black"/>
                </a:solidFill>
              </a:rPr>
              <a:t>lipides membranaires sont constitués par un assemblage de 2 acides gras, de </a:t>
            </a:r>
            <a:r>
              <a:rPr lang="fr-FR" sz="2400" dirty="0">
                <a:solidFill>
                  <a:prstClr val="black"/>
                </a:solidFill>
              </a:rPr>
              <a:t>glycérol et </a:t>
            </a:r>
            <a:r>
              <a:rPr lang="fr-FR" sz="2400" dirty="0">
                <a:solidFill>
                  <a:prstClr val="black"/>
                </a:solidFill>
              </a:rPr>
              <a:t>de phosphate. Ils ont une manière particulière de s’organiser en présence d’eau : </a:t>
            </a:r>
            <a:r>
              <a:rPr lang="fr-FR" sz="2400" dirty="0">
                <a:solidFill>
                  <a:prstClr val="black"/>
                </a:solidFill>
              </a:rPr>
              <a:t>pôle hydrophobe </a:t>
            </a:r>
            <a:r>
              <a:rPr lang="fr-FR" sz="2400" dirty="0">
                <a:solidFill>
                  <a:prstClr val="black"/>
                </a:solidFill>
              </a:rPr>
              <a:t>et pôle hydrophile (voir chapitre « membrane plasmique </a:t>
            </a:r>
            <a:r>
              <a:rPr lang="fr-FR" sz="2400" dirty="0">
                <a:solidFill>
                  <a:prstClr val="black"/>
                </a:solidFill>
              </a:rPr>
              <a:t>») → </a:t>
            </a:r>
            <a:r>
              <a:rPr lang="fr-FR" sz="2400" dirty="0">
                <a:solidFill>
                  <a:prstClr val="black"/>
                </a:solidFill>
              </a:rPr>
              <a:t>caractère hydrophobe des membranes</a:t>
            </a:r>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2177" y="3930495"/>
            <a:ext cx="7559046" cy="2759865"/>
          </a:xfrm>
          <a:prstGeom prst="rect">
            <a:avLst/>
          </a:prstGeom>
        </p:spPr>
      </p:pic>
      <p:sp>
        <p:nvSpPr>
          <p:cNvPr id="5" name="ZoneTexte 4"/>
          <p:cNvSpPr txBox="1"/>
          <p:nvPr/>
        </p:nvSpPr>
        <p:spPr>
          <a:xfrm>
            <a:off x="457200" y="472440"/>
            <a:ext cx="5549724" cy="584775"/>
          </a:xfrm>
          <a:prstGeom prst="rect">
            <a:avLst/>
          </a:prstGeom>
          <a:noFill/>
        </p:spPr>
        <p:txBody>
          <a:bodyPr wrap="none" rtlCol="0">
            <a:spAutoFit/>
          </a:bodyPr>
          <a:lstStyle>
            <a:defPPr>
              <a:defRPr lang="fr-FR"/>
            </a:defPPr>
            <a:lvl1pPr>
              <a:defRPr sz="3200" b="1">
                <a:solidFill>
                  <a:schemeClr val="accent3"/>
                </a:solidFill>
              </a:defRPr>
            </a:lvl1pPr>
          </a:lstStyle>
          <a:p>
            <a:r>
              <a:rPr lang="fr-FR" dirty="0" smtClean="0">
                <a:solidFill>
                  <a:srgbClr val="27CED7"/>
                </a:solidFill>
              </a:rPr>
              <a:t>2- Les </a:t>
            </a:r>
            <a:r>
              <a:rPr lang="fr-FR" dirty="0">
                <a:solidFill>
                  <a:srgbClr val="27CED7"/>
                </a:solidFill>
              </a:rPr>
              <a:t>lipides membranaires</a:t>
            </a:r>
          </a:p>
        </p:txBody>
      </p:sp>
    </p:spTree>
    <p:extLst>
      <p:ext uri="{BB962C8B-B14F-4D97-AF65-F5344CB8AC3E}">
        <p14:creationId xmlns:p14="http://schemas.microsoft.com/office/powerpoint/2010/main" val="33579132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7"/>
          <p:cNvSpPr txBox="1"/>
          <p:nvPr/>
        </p:nvSpPr>
        <p:spPr>
          <a:xfrm>
            <a:off x="581658" y="417569"/>
            <a:ext cx="3444341" cy="584775"/>
          </a:xfrm>
          <a:prstGeom prst="rect">
            <a:avLst/>
          </a:prstGeom>
          <a:noFill/>
        </p:spPr>
        <p:txBody>
          <a:bodyPr wrap="none" rtlCol="0">
            <a:spAutoFit/>
          </a:bodyPr>
          <a:lstStyle>
            <a:defPPr>
              <a:defRPr lang="fr-FR"/>
            </a:defPPr>
            <a:lvl1pPr>
              <a:defRPr sz="3200" b="1">
                <a:solidFill>
                  <a:schemeClr val="accent3"/>
                </a:solidFill>
              </a:defRPr>
            </a:lvl1pPr>
          </a:lstStyle>
          <a:p>
            <a:r>
              <a:rPr lang="fr-FR" dirty="0">
                <a:solidFill>
                  <a:srgbClr val="27CED7"/>
                </a:solidFill>
              </a:rPr>
              <a:t>3</a:t>
            </a:r>
            <a:r>
              <a:rPr lang="fr-FR" dirty="0" smtClean="0">
                <a:solidFill>
                  <a:srgbClr val="27CED7"/>
                </a:solidFill>
              </a:rPr>
              <a:t>- </a:t>
            </a:r>
            <a:r>
              <a:rPr dirty="0" smtClean="0">
                <a:solidFill>
                  <a:srgbClr val="27CED7"/>
                </a:solidFill>
              </a:rPr>
              <a:t>Les </a:t>
            </a:r>
            <a:r>
              <a:rPr dirty="0">
                <a:solidFill>
                  <a:srgbClr val="27CED7"/>
                </a:solidFill>
              </a:rPr>
              <a:t>glycérides:</a:t>
            </a:r>
          </a:p>
        </p:txBody>
      </p:sp>
      <p:sp>
        <p:nvSpPr>
          <p:cNvPr id="3" name="ZoneTexte 2"/>
          <p:cNvSpPr txBox="1"/>
          <p:nvPr/>
        </p:nvSpPr>
        <p:spPr>
          <a:xfrm>
            <a:off x="228600" y="1019226"/>
            <a:ext cx="11369040" cy="1815882"/>
          </a:xfrm>
          <a:prstGeom prst="rect">
            <a:avLst/>
          </a:prstGeom>
          <a:noFill/>
        </p:spPr>
        <p:txBody>
          <a:bodyPr wrap="square" rtlCol="0">
            <a:spAutoFit/>
          </a:bodyPr>
          <a:lstStyle/>
          <a:p>
            <a:r>
              <a:rPr lang="fr-FR" sz="2800" dirty="0">
                <a:solidFill>
                  <a:prstClr val="black"/>
                </a:solidFill>
              </a:rPr>
              <a:t>Les glycérides sont une classe de lipides qui comprennent les </a:t>
            </a:r>
            <a:r>
              <a:rPr lang="fr-FR" sz="2800" b="1" dirty="0">
                <a:solidFill>
                  <a:prstClr val="black"/>
                </a:solidFill>
              </a:rPr>
              <a:t>triglycérides</a:t>
            </a:r>
            <a:r>
              <a:rPr lang="fr-FR" sz="2800" dirty="0">
                <a:solidFill>
                  <a:prstClr val="black"/>
                </a:solidFill>
              </a:rPr>
              <a:t>, qui sont la </a:t>
            </a:r>
            <a:r>
              <a:rPr lang="fr-FR" sz="2800" dirty="0">
                <a:solidFill>
                  <a:srgbClr val="E71919"/>
                </a:solidFill>
              </a:rPr>
              <a:t>forme de stockage principale des lipides dans les cellules </a:t>
            </a:r>
            <a:r>
              <a:rPr lang="fr-FR" sz="2800" dirty="0">
                <a:solidFill>
                  <a:prstClr val="black"/>
                </a:solidFill>
              </a:rPr>
              <a:t>et dans le </a:t>
            </a:r>
            <a:r>
              <a:rPr lang="fr-FR" sz="2800" dirty="0">
                <a:solidFill>
                  <a:srgbClr val="E71919"/>
                </a:solidFill>
              </a:rPr>
              <a:t>tissu adipeux</a:t>
            </a:r>
            <a:r>
              <a:rPr lang="fr-FR" sz="2800" dirty="0">
                <a:solidFill>
                  <a:prstClr val="black"/>
                </a:solidFill>
              </a:rPr>
              <a:t>. Les triglycérides sont constitués de trois acides gras liés à une molécule de glycérol.</a:t>
            </a:r>
          </a:p>
        </p:txBody>
      </p:sp>
      <p:sp>
        <p:nvSpPr>
          <p:cNvPr id="4" name="ZoneTexte 3"/>
          <p:cNvSpPr txBox="1"/>
          <p:nvPr/>
        </p:nvSpPr>
        <p:spPr>
          <a:xfrm>
            <a:off x="901698" y="3854202"/>
            <a:ext cx="6745757" cy="584775"/>
          </a:xfrm>
          <a:prstGeom prst="rect">
            <a:avLst/>
          </a:prstGeom>
          <a:noFill/>
        </p:spPr>
        <p:txBody>
          <a:bodyPr wrap="none" rtlCol="0">
            <a:spAutoFit/>
          </a:bodyPr>
          <a:lstStyle/>
          <a:p>
            <a:r>
              <a:rPr lang="fr-FR" sz="3200" b="1" dirty="0">
                <a:solidFill>
                  <a:srgbClr val="FF3300"/>
                </a:solidFill>
                <a:effectLst>
                  <a:outerShdw blurRad="38100" dist="38100" dir="2700000" algn="tl">
                    <a:srgbClr val="000000">
                      <a:alpha val="43137"/>
                    </a:srgbClr>
                  </a:outerShdw>
                </a:effectLst>
                <a:cs typeface="Arial"/>
              </a:rPr>
              <a:t>Glycérides</a:t>
            </a:r>
            <a:r>
              <a:rPr lang="fr-FR" sz="3200" dirty="0">
                <a:solidFill>
                  <a:srgbClr val="FF3300"/>
                </a:solidFill>
                <a:effectLst>
                  <a:outerShdw blurRad="38100" dist="38100" dir="2700000" algn="tl">
                    <a:srgbClr val="000000">
                      <a:alpha val="43137"/>
                    </a:srgbClr>
                  </a:outerShdw>
                </a:effectLst>
                <a:cs typeface="Arial"/>
              </a:rPr>
              <a:t> </a:t>
            </a:r>
            <a:r>
              <a:rPr lang="fr-FR" sz="3200" dirty="0">
                <a:solidFill>
                  <a:prstClr val="black"/>
                </a:solidFill>
                <a:cs typeface="Arial"/>
              </a:rPr>
              <a:t>=  </a:t>
            </a:r>
            <a:r>
              <a:rPr lang="fr-FR" sz="3200" b="1" dirty="0">
                <a:solidFill>
                  <a:srgbClr val="002060"/>
                </a:solidFill>
                <a:effectLst>
                  <a:outerShdw blurRad="38100" dist="38100" dir="2700000" algn="tl">
                    <a:srgbClr val="000000">
                      <a:alpha val="43137"/>
                    </a:srgbClr>
                  </a:outerShdw>
                </a:effectLst>
                <a:cs typeface="Arial"/>
              </a:rPr>
              <a:t>A</a:t>
            </a:r>
            <a:r>
              <a:rPr lang="fr-FR" sz="3200" b="1" spc="5" dirty="0">
                <a:solidFill>
                  <a:srgbClr val="002060"/>
                </a:solidFill>
                <a:effectLst>
                  <a:outerShdw blurRad="38100" dist="38100" dir="2700000" algn="tl">
                    <a:srgbClr val="000000">
                      <a:alpha val="43137"/>
                    </a:srgbClr>
                  </a:outerShdw>
                </a:effectLst>
                <a:cs typeface="Arial"/>
              </a:rPr>
              <a:t>c</a:t>
            </a:r>
            <a:r>
              <a:rPr lang="fr-FR" sz="3200" b="1" spc="-15" dirty="0">
                <a:solidFill>
                  <a:srgbClr val="002060"/>
                </a:solidFill>
                <a:effectLst>
                  <a:outerShdw blurRad="38100" dist="38100" dir="2700000" algn="tl">
                    <a:srgbClr val="000000">
                      <a:alpha val="43137"/>
                    </a:srgbClr>
                  </a:outerShdw>
                </a:effectLst>
                <a:cs typeface="Arial"/>
              </a:rPr>
              <a:t>i</a:t>
            </a:r>
            <a:r>
              <a:rPr lang="fr-FR" sz="3200" b="1" spc="-20" dirty="0">
                <a:solidFill>
                  <a:srgbClr val="002060"/>
                </a:solidFill>
                <a:effectLst>
                  <a:outerShdw blurRad="38100" dist="38100" dir="2700000" algn="tl">
                    <a:srgbClr val="000000">
                      <a:alpha val="43137"/>
                    </a:srgbClr>
                  </a:outerShdw>
                </a:effectLst>
                <a:cs typeface="Arial"/>
              </a:rPr>
              <a:t>d</a:t>
            </a:r>
            <a:r>
              <a:rPr lang="fr-FR" sz="3200" b="1" dirty="0">
                <a:solidFill>
                  <a:srgbClr val="002060"/>
                </a:solidFill>
                <a:effectLst>
                  <a:outerShdw blurRad="38100" dist="38100" dir="2700000" algn="tl">
                    <a:srgbClr val="000000">
                      <a:alpha val="43137"/>
                    </a:srgbClr>
                  </a:outerShdw>
                </a:effectLst>
                <a:cs typeface="Arial"/>
              </a:rPr>
              <a:t>e </a:t>
            </a:r>
            <a:r>
              <a:rPr lang="fr-FR" sz="3200" b="1" spc="-20" dirty="0">
                <a:solidFill>
                  <a:srgbClr val="002060"/>
                </a:solidFill>
                <a:effectLst>
                  <a:outerShdw blurRad="38100" dist="38100" dir="2700000" algn="tl">
                    <a:srgbClr val="000000">
                      <a:alpha val="43137"/>
                    </a:srgbClr>
                  </a:outerShdw>
                </a:effectLst>
                <a:cs typeface="Arial"/>
              </a:rPr>
              <a:t>g</a:t>
            </a:r>
            <a:r>
              <a:rPr lang="fr-FR" sz="3200" b="1" spc="-5" dirty="0">
                <a:solidFill>
                  <a:srgbClr val="002060"/>
                </a:solidFill>
                <a:effectLst>
                  <a:outerShdw blurRad="38100" dist="38100" dir="2700000" algn="tl">
                    <a:srgbClr val="000000">
                      <a:alpha val="43137"/>
                    </a:srgbClr>
                  </a:outerShdw>
                </a:effectLst>
                <a:cs typeface="Arial"/>
              </a:rPr>
              <a:t>r</a:t>
            </a:r>
            <a:r>
              <a:rPr lang="fr-FR" sz="3200" b="1" spc="5" dirty="0">
                <a:solidFill>
                  <a:srgbClr val="002060"/>
                </a:solidFill>
                <a:effectLst>
                  <a:outerShdw blurRad="38100" dist="38100" dir="2700000" algn="tl">
                    <a:srgbClr val="000000">
                      <a:alpha val="43137"/>
                    </a:srgbClr>
                  </a:outerShdw>
                </a:effectLst>
                <a:cs typeface="Arial"/>
              </a:rPr>
              <a:t>a</a:t>
            </a:r>
            <a:r>
              <a:rPr lang="fr-FR" sz="3200" b="1" dirty="0">
                <a:solidFill>
                  <a:srgbClr val="002060"/>
                </a:solidFill>
                <a:effectLst>
                  <a:outerShdw blurRad="38100" dist="38100" dir="2700000" algn="tl">
                    <a:srgbClr val="000000">
                      <a:alpha val="43137"/>
                    </a:srgbClr>
                  </a:outerShdw>
                </a:effectLst>
                <a:cs typeface="Arial"/>
              </a:rPr>
              <a:t>s </a:t>
            </a:r>
            <a:r>
              <a:rPr lang="fr-FR" sz="3200" spc="-20" dirty="0">
                <a:solidFill>
                  <a:prstClr val="black"/>
                </a:solidFill>
                <a:cs typeface="Arial"/>
              </a:rPr>
              <a:t>+</a:t>
            </a:r>
            <a:r>
              <a:rPr lang="fr-FR" sz="3200" spc="-5" dirty="0">
                <a:solidFill>
                  <a:prstClr val="black"/>
                </a:solidFill>
                <a:cs typeface="Arial"/>
              </a:rPr>
              <a:t> </a:t>
            </a:r>
            <a:r>
              <a:rPr lang="fr-FR" sz="3200" b="1" spc="-20" dirty="0">
                <a:solidFill>
                  <a:prstClr val="black"/>
                </a:solidFill>
                <a:cs typeface="Arial"/>
              </a:rPr>
              <a:t>g</a:t>
            </a:r>
            <a:r>
              <a:rPr lang="fr-FR" sz="3200" b="1" spc="-15" dirty="0">
                <a:solidFill>
                  <a:prstClr val="black"/>
                </a:solidFill>
                <a:cs typeface="Arial"/>
              </a:rPr>
              <a:t>l</a:t>
            </a:r>
            <a:r>
              <a:rPr lang="fr-FR" sz="3200" b="1" dirty="0">
                <a:solidFill>
                  <a:prstClr val="black"/>
                </a:solidFill>
                <a:cs typeface="Arial"/>
              </a:rPr>
              <a:t>ycé</a:t>
            </a:r>
            <a:r>
              <a:rPr lang="fr-FR" sz="3200" b="1" spc="-5" dirty="0">
                <a:solidFill>
                  <a:prstClr val="black"/>
                </a:solidFill>
                <a:cs typeface="Arial"/>
              </a:rPr>
              <a:t>r</a:t>
            </a:r>
            <a:r>
              <a:rPr lang="fr-FR" sz="3200" b="1" spc="-15" dirty="0">
                <a:solidFill>
                  <a:prstClr val="black"/>
                </a:solidFill>
                <a:cs typeface="Arial"/>
              </a:rPr>
              <a:t>ol</a:t>
            </a:r>
            <a:endParaRPr lang="fr-FR" sz="3200" dirty="0">
              <a:solidFill>
                <a:prstClr val="black"/>
              </a:solidFill>
            </a:endParaRPr>
          </a:p>
        </p:txBody>
      </p:sp>
      <p:pic>
        <p:nvPicPr>
          <p:cNvPr id="6" name="Imag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6895" y="3341697"/>
            <a:ext cx="3643625" cy="2194560"/>
          </a:xfrm>
          <a:prstGeom prst="rect">
            <a:avLst/>
          </a:prstGeom>
        </p:spPr>
      </p:pic>
      <p:sp>
        <p:nvSpPr>
          <p:cNvPr id="7" name="object 9"/>
          <p:cNvSpPr txBox="1"/>
          <p:nvPr/>
        </p:nvSpPr>
        <p:spPr>
          <a:xfrm>
            <a:off x="45720" y="5812013"/>
            <a:ext cx="11551920" cy="461665"/>
          </a:xfrm>
          <a:prstGeom prst="rect">
            <a:avLst/>
          </a:prstGeom>
        </p:spPr>
        <p:txBody>
          <a:bodyPr vert="horz" wrap="square" lIns="0" tIns="0" rIns="0" bIns="0" rtlCol="0">
            <a:spAutoFit/>
          </a:bodyPr>
          <a:lstStyle/>
          <a:p>
            <a:pPr marL="241300" marR="5080" indent="-228600">
              <a:lnSpc>
                <a:spcPct val="125000"/>
              </a:lnSpc>
              <a:buFont typeface="Arial"/>
              <a:buChar char="•"/>
              <a:tabLst>
                <a:tab pos="241300" algn="l"/>
              </a:tabLst>
            </a:pPr>
            <a:r>
              <a:rPr sz="2400" spc="5" dirty="0">
                <a:solidFill>
                  <a:prstClr val="black"/>
                </a:solidFill>
                <a:cs typeface="Arial"/>
              </a:rPr>
              <a:t>L</a:t>
            </a:r>
            <a:r>
              <a:rPr sz="2400" dirty="0">
                <a:solidFill>
                  <a:prstClr val="black"/>
                </a:solidFill>
                <a:cs typeface="Arial"/>
              </a:rPr>
              <a:t>e </a:t>
            </a:r>
            <a:r>
              <a:rPr sz="2400" spc="5" dirty="0">
                <a:solidFill>
                  <a:prstClr val="black"/>
                </a:solidFill>
                <a:cs typeface="Arial"/>
              </a:rPr>
              <a:t>g</a:t>
            </a:r>
            <a:r>
              <a:rPr sz="2400" dirty="0">
                <a:solidFill>
                  <a:prstClr val="black"/>
                </a:solidFill>
                <a:cs typeface="Arial"/>
              </a:rPr>
              <a:t>lyc</a:t>
            </a:r>
            <a:r>
              <a:rPr sz="2400" spc="5" dirty="0">
                <a:solidFill>
                  <a:prstClr val="black"/>
                </a:solidFill>
                <a:cs typeface="Arial"/>
              </a:rPr>
              <a:t>éro</a:t>
            </a:r>
            <a:r>
              <a:rPr sz="2400" dirty="0">
                <a:solidFill>
                  <a:prstClr val="black"/>
                </a:solidFill>
                <a:cs typeface="Arial"/>
              </a:rPr>
              <a:t>l</a:t>
            </a:r>
            <a:r>
              <a:rPr sz="2400" spc="-5" dirty="0">
                <a:solidFill>
                  <a:prstClr val="black"/>
                </a:solidFill>
                <a:cs typeface="Arial"/>
              </a:rPr>
              <a:t> </a:t>
            </a:r>
            <a:r>
              <a:rPr sz="2400" spc="5" dirty="0">
                <a:solidFill>
                  <a:prstClr val="black"/>
                </a:solidFill>
                <a:cs typeface="Arial"/>
              </a:rPr>
              <a:t>e</a:t>
            </a:r>
            <a:r>
              <a:rPr sz="2400" spc="-15" dirty="0">
                <a:solidFill>
                  <a:prstClr val="black"/>
                </a:solidFill>
                <a:cs typeface="Arial"/>
              </a:rPr>
              <a:t>st</a:t>
            </a:r>
            <a:r>
              <a:rPr sz="2400" spc="-10" dirty="0">
                <a:solidFill>
                  <a:prstClr val="black"/>
                </a:solidFill>
                <a:cs typeface="Arial"/>
              </a:rPr>
              <a:t> </a:t>
            </a:r>
            <a:r>
              <a:rPr sz="2400" spc="5" dirty="0">
                <a:solidFill>
                  <a:prstClr val="black"/>
                </a:solidFill>
                <a:cs typeface="Arial"/>
              </a:rPr>
              <a:t>un</a:t>
            </a:r>
            <a:r>
              <a:rPr sz="2400" dirty="0">
                <a:solidFill>
                  <a:prstClr val="black"/>
                </a:solidFill>
                <a:cs typeface="Arial"/>
              </a:rPr>
              <a:t>e </a:t>
            </a:r>
            <a:r>
              <a:rPr sz="2400" spc="5" dirty="0">
                <a:solidFill>
                  <a:prstClr val="black"/>
                </a:solidFill>
                <a:cs typeface="Arial"/>
              </a:rPr>
              <a:t>mo</a:t>
            </a:r>
            <a:r>
              <a:rPr sz="2400" dirty="0">
                <a:solidFill>
                  <a:prstClr val="black"/>
                </a:solidFill>
                <a:cs typeface="Arial"/>
              </a:rPr>
              <a:t>l</a:t>
            </a:r>
            <a:r>
              <a:rPr sz="2400" spc="5" dirty="0">
                <a:solidFill>
                  <a:prstClr val="black"/>
                </a:solidFill>
                <a:cs typeface="Arial"/>
              </a:rPr>
              <a:t>é</a:t>
            </a:r>
            <a:r>
              <a:rPr sz="2400" dirty="0">
                <a:solidFill>
                  <a:prstClr val="black"/>
                </a:solidFill>
                <a:cs typeface="Arial"/>
              </a:rPr>
              <a:t>c</a:t>
            </a:r>
            <a:r>
              <a:rPr sz="2400" spc="5" dirty="0">
                <a:solidFill>
                  <a:prstClr val="black"/>
                </a:solidFill>
                <a:cs typeface="Arial"/>
              </a:rPr>
              <a:t>u</a:t>
            </a:r>
            <a:r>
              <a:rPr sz="2400" dirty="0">
                <a:solidFill>
                  <a:prstClr val="black"/>
                </a:solidFill>
                <a:cs typeface="Arial"/>
              </a:rPr>
              <a:t>le c</a:t>
            </a:r>
            <a:r>
              <a:rPr sz="2400" spc="5" dirty="0">
                <a:solidFill>
                  <a:prstClr val="black"/>
                </a:solidFill>
                <a:cs typeface="Arial"/>
              </a:rPr>
              <a:t>ompor</a:t>
            </a:r>
            <a:r>
              <a:rPr sz="2400" spc="-15" dirty="0">
                <a:solidFill>
                  <a:prstClr val="black"/>
                </a:solidFill>
                <a:cs typeface="Arial"/>
              </a:rPr>
              <a:t>t</a:t>
            </a:r>
            <a:r>
              <a:rPr sz="2400" spc="5" dirty="0">
                <a:solidFill>
                  <a:prstClr val="black"/>
                </a:solidFill>
                <a:cs typeface="Arial"/>
              </a:rPr>
              <a:t>an</a:t>
            </a:r>
            <a:r>
              <a:rPr sz="2400" spc="-10" dirty="0">
                <a:solidFill>
                  <a:prstClr val="black"/>
                </a:solidFill>
                <a:cs typeface="Arial"/>
              </a:rPr>
              <a:t>t</a:t>
            </a:r>
            <a:r>
              <a:rPr sz="2400" spc="-5" dirty="0">
                <a:solidFill>
                  <a:prstClr val="black"/>
                </a:solidFill>
                <a:cs typeface="Arial"/>
              </a:rPr>
              <a:t> </a:t>
            </a:r>
            <a:r>
              <a:rPr sz="2400" b="1" dirty="0">
                <a:solidFill>
                  <a:srgbClr val="FF0000"/>
                </a:solidFill>
                <a:cs typeface="Arial"/>
              </a:rPr>
              <a:t>3 </a:t>
            </a:r>
            <a:r>
              <a:rPr sz="2400" b="1" spc="-5" dirty="0">
                <a:solidFill>
                  <a:srgbClr val="FF0000"/>
                </a:solidFill>
                <a:cs typeface="Arial"/>
              </a:rPr>
              <a:t>f</a:t>
            </a:r>
            <a:r>
              <a:rPr sz="2400" b="1" spc="-15" dirty="0">
                <a:solidFill>
                  <a:srgbClr val="FF0000"/>
                </a:solidFill>
                <a:cs typeface="Arial"/>
              </a:rPr>
              <a:t>oncti</a:t>
            </a:r>
            <a:r>
              <a:rPr sz="2400" b="1" spc="-20" dirty="0">
                <a:solidFill>
                  <a:srgbClr val="FF0000"/>
                </a:solidFill>
                <a:cs typeface="Arial"/>
              </a:rPr>
              <a:t>on</a:t>
            </a:r>
            <a:r>
              <a:rPr sz="2400" b="1" dirty="0">
                <a:solidFill>
                  <a:srgbClr val="FF0000"/>
                </a:solidFill>
                <a:cs typeface="Arial"/>
              </a:rPr>
              <a:t>s </a:t>
            </a:r>
            <a:r>
              <a:rPr sz="2400" b="1" spc="-20" dirty="0">
                <a:solidFill>
                  <a:srgbClr val="FF0000"/>
                </a:solidFill>
                <a:cs typeface="Arial"/>
              </a:rPr>
              <a:t>hyd</a:t>
            </a:r>
            <a:r>
              <a:rPr sz="2400" b="1" spc="-5" dirty="0">
                <a:solidFill>
                  <a:srgbClr val="FF0000"/>
                </a:solidFill>
                <a:cs typeface="Arial"/>
              </a:rPr>
              <a:t>r</a:t>
            </a:r>
            <a:r>
              <a:rPr sz="2400" b="1" spc="-20" dirty="0">
                <a:solidFill>
                  <a:srgbClr val="FF0000"/>
                </a:solidFill>
                <a:cs typeface="Arial"/>
              </a:rPr>
              <a:t>o</a:t>
            </a:r>
            <a:r>
              <a:rPr sz="2400" b="1" dirty="0">
                <a:solidFill>
                  <a:srgbClr val="FF0000"/>
                </a:solidFill>
                <a:cs typeface="Arial"/>
              </a:rPr>
              <a:t>xy</a:t>
            </a:r>
            <a:r>
              <a:rPr sz="2400" b="1" spc="-5" dirty="0">
                <a:solidFill>
                  <a:srgbClr val="FF0000"/>
                </a:solidFill>
                <a:cs typeface="Arial"/>
              </a:rPr>
              <a:t>l</a:t>
            </a:r>
            <a:r>
              <a:rPr sz="2400" b="1" dirty="0">
                <a:solidFill>
                  <a:srgbClr val="FF0000"/>
                </a:solidFill>
                <a:cs typeface="Arial"/>
              </a:rPr>
              <a:t>e </a:t>
            </a:r>
            <a:r>
              <a:rPr sz="2400" b="1" spc="-30" dirty="0">
                <a:solidFill>
                  <a:srgbClr val="FF0000"/>
                </a:solidFill>
                <a:cs typeface="Arial"/>
              </a:rPr>
              <a:t>O</a:t>
            </a:r>
            <a:r>
              <a:rPr sz="2400" b="1" dirty="0">
                <a:solidFill>
                  <a:srgbClr val="FF0000"/>
                </a:solidFill>
                <a:cs typeface="Arial"/>
              </a:rPr>
              <a:t>H</a:t>
            </a:r>
            <a:endParaRPr sz="2400" dirty="0">
              <a:solidFill>
                <a:srgbClr val="FF0000"/>
              </a:solidFill>
              <a:cs typeface="Arial"/>
            </a:endParaRPr>
          </a:p>
        </p:txBody>
      </p:sp>
    </p:spTree>
    <p:extLst>
      <p:ext uri="{BB962C8B-B14F-4D97-AF65-F5344CB8AC3E}">
        <p14:creationId xmlns:p14="http://schemas.microsoft.com/office/powerpoint/2010/main" val="3422747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l="-1" r="404" b="1429"/>
          <a:stretch/>
        </p:blipFill>
        <p:spPr>
          <a:xfrm>
            <a:off x="1122045" y="2712720"/>
            <a:ext cx="8936355" cy="3901440"/>
          </a:xfrm>
          <a:prstGeom prst="rect">
            <a:avLst/>
          </a:prstGeom>
        </p:spPr>
      </p:pic>
      <p:sp>
        <p:nvSpPr>
          <p:cNvPr id="3" name="Rectangle 2"/>
          <p:cNvSpPr/>
          <p:nvPr/>
        </p:nvSpPr>
        <p:spPr>
          <a:xfrm>
            <a:off x="299084" y="383827"/>
            <a:ext cx="11313796" cy="2243243"/>
          </a:xfrm>
          <a:prstGeom prst="rect">
            <a:avLst/>
          </a:prstGeom>
        </p:spPr>
        <p:txBody>
          <a:bodyPr wrap="square">
            <a:spAutoFit/>
          </a:bodyPr>
          <a:lstStyle/>
          <a:p>
            <a:pPr algn="just">
              <a:lnSpc>
                <a:spcPct val="150000"/>
              </a:lnSpc>
            </a:pPr>
            <a:r>
              <a:rPr lang="fr-FR" sz="2400" dirty="0">
                <a:solidFill>
                  <a:prstClr val="black"/>
                </a:solidFill>
              </a:rPr>
              <a:t>les triglycérides sont composés d’une molécule de glycérol liée à trois chaînes d’acides gras. Les triglycérides servent au </a:t>
            </a:r>
            <a:r>
              <a:rPr lang="fr-FR" sz="2400" dirty="0">
                <a:solidFill>
                  <a:srgbClr val="E71919"/>
                </a:solidFill>
              </a:rPr>
              <a:t>stockage de l'énergie </a:t>
            </a:r>
            <a:r>
              <a:rPr lang="fr-FR" sz="2400" dirty="0">
                <a:solidFill>
                  <a:prstClr val="black"/>
                </a:solidFill>
              </a:rPr>
              <a:t>car le glycérol et les acides gras peuvent être à nouveau séparés et les molécules séparées peuvent être utilisées comme substrats dans la </a:t>
            </a:r>
            <a:r>
              <a:rPr lang="fr-FR" sz="2400" dirty="0">
                <a:solidFill>
                  <a:srgbClr val="E71919"/>
                </a:solidFill>
              </a:rPr>
              <a:t>respiration cellulaire</a:t>
            </a:r>
          </a:p>
        </p:txBody>
      </p:sp>
      <p:sp>
        <p:nvSpPr>
          <p:cNvPr id="4" name="object 7"/>
          <p:cNvSpPr txBox="1"/>
          <p:nvPr/>
        </p:nvSpPr>
        <p:spPr>
          <a:xfrm>
            <a:off x="299084" y="0"/>
            <a:ext cx="3156826" cy="584775"/>
          </a:xfrm>
          <a:prstGeom prst="rect">
            <a:avLst/>
          </a:prstGeom>
          <a:noFill/>
        </p:spPr>
        <p:txBody>
          <a:bodyPr wrap="none" rtlCol="0">
            <a:spAutoFit/>
          </a:bodyPr>
          <a:lstStyle>
            <a:defPPr>
              <a:defRPr lang="fr-FR"/>
            </a:defPPr>
            <a:lvl1pPr>
              <a:defRPr sz="3200" b="1">
                <a:solidFill>
                  <a:schemeClr val="accent3"/>
                </a:solidFill>
              </a:defRPr>
            </a:lvl1pPr>
          </a:lstStyle>
          <a:p>
            <a:r>
              <a:rPr lang="fr-FR" dirty="0">
                <a:solidFill>
                  <a:srgbClr val="27CED7"/>
                </a:solidFill>
              </a:rPr>
              <a:t>4</a:t>
            </a:r>
            <a:r>
              <a:rPr lang="fr-FR" dirty="0" smtClean="0">
                <a:solidFill>
                  <a:srgbClr val="27CED7"/>
                </a:solidFill>
              </a:rPr>
              <a:t>- Triglycérides </a:t>
            </a:r>
            <a:endParaRPr dirty="0">
              <a:solidFill>
                <a:srgbClr val="27CED7"/>
              </a:solidFill>
            </a:endParaRPr>
          </a:p>
        </p:txBody>
      </p:sp>
    </p:spTree>
    <p:extLst>
      <p:ext uri="{BB962C8B-B14F-4D97-AF65-F5344CB8AC3E}">
        <p14:creationId xmlns:p14="http://schemas.microsoft.com/office/powerpoint/2010/main" val="3939102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118" y="1925954"/>
            <a:ext cx="11024722" cy="4490086"/>
          </a:xfrm>
          <a:prstGeom prst="rect">
            <a:avLst/>
          </a:prstGeom>
        </p:spPr>
      </p:pic>
      <p:sp>
        <p:nvSpPr>
          <p:cNvPr id="3" name="ZoneTexte 2"/>
          <p:cNvSpPr txBox="1"/>
          <p:nvPr/>
        </p:nvSpPr>
        <p:spPr>
          <a:xfrm>
            <a:off x="1752600" y="777240"/>
            <a:ext cx="5373587" cy="584775"/>
          </a:xfrm>
          <a:prstGeom prst="rect">
            <a:avLst/>
          </a:prstGeom>
          <a:noFill/>
        </p:spPr>
        <p:txBody>
          <a:bodyPr wrap="none" rtlCol="0">
            <a:spAutoFit/>
          </a:bodyPr>
          <a:lstStyle>
            <a:defPPr>
              <a:defRPr lang="fr-FR"/>
            </a:defPPr>
            <a:lvl1pPr>
              <a:defRPr sz="3200" b="1">
                <a:solidFill>
                  <a:schemeClr val="accent3"/>
                </a:solidFill>
              </a:defRPr>
            </a:lvl1pPr>
          </a:lstStyle>
          <a:p>
            <a:r>
              <a:rPr lang="fr-FR" dirty="0" smtClean="0">
                <a:solidFill>
                  <a:srgbClr val="27CED7"/>
                </a:solidFill>
              </a:rPr>
              <a:t>5- Classification </a:t>
            </a:r>
            <a:r>
              <a:rPr lang="fr-FR" dirty="0">
                <a:solidFill>
                  <a:srgbClr val="27CED7"/>
                </a:solidFill>
              </a:rPr>
              <a:t>des lipides </a:t>
            </a:r>
          </a:p>
        </p:txBody>
      </p:sp>
    </p:spTree>
    <p:extLst>
      <p:ext uri="{BB962C8B-B14F-4D97-AF65-F5344CB8AC3E}">
        <p14:creationId xmlns:p14="http://schemas.microsoft.com/office/powerpoint/2010/main" val="216820209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80047"/>
            <a:ext cx="11536680" cy="4331193"/>
          </a:xfrm>
          <a:prstGeom prst="rect">
            <a:avLst/>
          </a:prstGeom>
        </p:spPr>
      </p:pic>
      <p:sp>
        <p:nvSpPr>
          <p:cNvPr id="4" name="Rectangle 3"/>
          <p:cNvSpPr/>
          <p:nvPr/>
        </p:nvSpPr>
        <p:spPr>
          <a:xfrm>
            <a:off x="1188720" y="362635"/>
            <a:ext cx="8398291" cy="1077218"/>
          </a:xfrm>
          <a:prstGeom prst="rect">
            <a:avLst/>
          </a:prstGeom>
          <a:noFill/>
        </p:spPr>
        <p:txBody>
          <a:bodyPr wrap="square" rtlCol="0">
            <a:spAutoFit/>
          </a:bodyPr>
          <a:lstStyle/>
          <a:p>
            <a:pPr algn="ctr"/>
            <a:r>
              <a:rPr lang="fr-FR" sz="3200" b="1" dirty="0">
                <a:solidFill>
                  <a:srgbClr val="27CED7"/>
                </a:solidFill>
              </a:rPr>
              <a:t>6- Résumé </a:t>
            </a:r>
            <a:r>
              <a:rPr lang="fr-FR" sz="3200" b="1" dirty="0">
                <a:solidFill>
                  <a:srgbClr val="27CED7"/>
                </a:solidFill>
              </a:rPr>
              <a:t>des structures et des fonctions de quatre types courants de </a:t>
            </a:r>
            <a:r>
              <a:rPr lang="fr-FR" sz="3200" b="1" dirty="0">
                <a:solidFill>
                  <a:srgbClr val="27CED7"/>
                </a:solidFill>
              </a:rPr>
              <a:t>lipides</a:t>
            </a:r>
            <a:endParaRPr lang="fr-FR" sz="3200" b="1" dirty="0">
              <a:solidFill>
                <a:srgbClr val="27CED7"/>
              </a:solidFill>
            </a:endParaRPr>
          </a:p>
        </p:txBody>
      </p:sp>
    </p:spTree>
    <p:extLst>
      <p:ext uri="{BB962C8B-B14F-4D97-AF65-F5344CB8AC3E}">
        <p14:creationId xmlns:p14="http://schemas.microsoft.com/office/powerpoint/2010/main" val="322585915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77022" y="2750297"/>
            <a:ext cx="9191683" cy="1107996"/>
          </a:xfrm>
          <a:prstGeom prst="rect">
            <a:avLst/>
          </a:prstGeom>
          <a:noFill/>
        </p:spPr>
        <p:txBody>
          <a:bodyPr wrap="none" rtlCol="0">
            <a:spAutoFit/>
          </a:bodyPr>
          <a:lstStyle>
            <a:defPPr>
              <a:defRPr lang="fr-FR"/>
            </a:defPPr>
            <a:lvl1pPr>
              <a:defRPr sz="6600" b="1">
                <a:solidFill>
                  <a:schemeClr val="accent5"/>
                </a:solidFill>
              </a:defRPr>
            </a:lvl1pPr>
          </a:lstStyle>
          <a:p>
            <a:r>
              <a:rPr lang="fr-FR" dirty="0">
                <a:solidFill>
                  <a:srgbClr val="3E8853"/>
                </a:solidFill>
              </a:rPr>
              <a:t>4</a:t>
            </a:r>
            <a:r>
              <a:rPr lang="fr-FR" dirty="0" smtClean="0">
                <a:solidFill>
                  <a:srgbClr val="3E8853"/>
                </a:solidFill>
              </a:rPr>
              <a:t>- </a:t>
            </a:r>
            <a:r>
              <a:rPr dirty="0" smtClean="0">
                <a:solidFill>
                  <a:srgbClr val="3E8853"/>
                </a:solidFill>
              </a:rPr>
              <a:t>L</a:t>
            </a:r>
            <a:r>
              <a:rPr lang="fr-FR" dirty="0" smtClean="0">
                <a:solidFill>
                  <a:srgbClr val="3E8853"/>
                </a:solidFill>
              </a:rPr>
              <a:t>es</a:t>
            </a:r>
            <a:r>
              <a:rPr dirty="0" smtClean="0">
                <a:solidFill>
                  <a:srgbClr val="3E8853"/>
                </a:solidFill>
              </a:rPr>
              <a:t> </a:t>
            </a:r>
            <a:r>
              <a:rPr lang="fr-FR" dirty="0" smtClean="0">
                <a:solidFill>
                  <a:srgbClr val="3E8853"/>
                </a:solidFill>
              </a:rPr>
              <a:t>acides nucléique</a:t>
            </a:r>
            <a:endParaRPr dirty="0">
              <a:solidFill>
                <a:srgbClr val="3E8853"/>
              </a:solidFill>
            </a:endParaRPr>
          </a:p>
        </p:txBody>
      </p:sp>
    </p:spTree>
    <p:extLst>
      <p:ext uri="{BB962C8B-B14F-4D97-AF65-F5344CB8AC3E}">
        <p14:creationId xmlns:p14="http://schemas.microsoft.com/office/powerpoint/2010/main" val="15230201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98120" y="1210712"/>
            <a:ext cx="11049000" cy="1458413"/>
          </a:xfrm>
          <a:prstGeom prst="rect">
            <a:avLst/>
          </a:prstGeom>
          <a:noFill/>
        </p:spPr>
        <p:txBody>
          <a:bodyPr wrap="square" rtlCol="0">
            <a:spAutoFit/>
          </a:bodyPr>
          <a:lstStyle/>
          <a:p>
            <a:pPr>
              <a:lnSpc>
                <a:spcPct val="200000"/>
              </a:lnSpc>
            </a:pPr>
            <a:r>
              <a:rPr lang="fr-FR" sz="2400" dirty="0">
                <a:solidFill>
                  <a:prstClr val="black"/>
                </a:solidFill>
              </a:rPr>
              <a:t>Les acides nucléiques constituent le support de l’information génétique (</a:t>
            </a:r>
            <a:r>
              <a:rPr lang="fr-FR" sz="2400" b="1" dirty="0">
                <a:solidFill>
                  <a:prstClr val="black"/>
                </a:solidFill>
              </a:rPr>
              <a:t>ADN</a:t>
            </a:r>
            <a:r>
              <a:rPr lang="fr-FR" sz="2400" dirty="0">
                <a:solidFill>
                  <a:prstClr val="black"/>
                </a:solidFill>
              </a:rPr>
              <a:t>), ou sont les </a:t>
            </a:r>
            <a:r>
              <a:rPr lang="fr-FR" sz="2400" dirty="0">
                <a:solidFill>
                  <a:prstClr val="black"/>
                </a:solidFill>
              </a:rPr>
              <a:t>agents permettant </a:t>
            </a:r>
            <a:r>
              <a:rPr lang="fr-FR" sz="2400" dirty="0">
                <a:solidFill>
                  <a:prstClr val="black"/>
                </a:solidFill>
              </a:rPr>
              <a:t>l’expression de cette information (</a:t>
            </a:r>
            <a:r>
              <a:rPr lang="fr-FR" sz="2400" b="1" dirty="0">
                <a:solidFill>
                  <a:prstClr val="black"/>
                </a:solidFill>
              </a:rPr>
              <a:t>ARN</a:t>
            </a:r>
            <a:r>
              <a:rPr lang="fr-FR" sz="2400" dirty="0">
                <a:solidFill>
                  <a:prstClr val="black"/>
                </a:solidFill>
              </a:rPr>
              <a:t> : ARNr, ARNm, </a:t>
            </a:r>
            <a:r>
              <a:rPr lang="fr-FR" sz="2400" dirty="0" err="1">
                <a:solidFill>
                  <a:prstClr val="black"/>
                </a:solidFill>
              </a:rPr>
              <a:t>ARNt</a:t>
            </a:r>
            <a:r>
              <a:rPr lang="fr-FR" sz="2400" dirty="0">
                <a:solidFill>
                  <a:prstClr val="black"/>
                </a:solidFill>
              </a:rPr>
              <a:t>,...)</a:t>
            </a:r>
          </a:p>
        </p:txBody>
      </p:sp>
      <p:sp>
        <p:nvSpPr>
          <p:cNvPr id="3" name="Rectangle 2"/>
          <p:cNvSpPr/>
          <p:nvPr/>
        </p:nvSpPr>
        <p:spPr>
          <a:xfrm>
            <a:off x="198120" y="3170962"/>
            <a:ext cx="11658600" cy="2308324"/>
          </a:xfrm>
          <a:prstGeom prst="rect">
            <a:avLst/>
          </a:prstGeom>
        </p:spPr>
        <p:txBody>
          <a:bodyPr wrap="square">
            <a:spAutoFit/>
          </a:bodyPr>
          <a:lstStyle/>
          <a:p>
            <a:pPr>
              <a:lnSpc>
                <a:spcPct val="200000"/>
              </a:lnSpc>
            </a:pPr>
            <a:r>
              <a:rPr lang="fr-FR" sz="2400" dirty="0">
                <a:solidFill>
                  <a:prstClr val="black"/>
                </a:solidFill>
              </a:rPr>
              <a:t>Une </a:t>
            </a:r>
            <a:r>
              <a:rPr lang="fr-FR" sz="2400" dirty="0">
                <a:solidFill>
                  <a:prstClr val="black"/>
                </a:solidFill>
              </a:rPr>
              <a:t>séquence d'ADN contenant l'information requise pour la synthèse d'une protéine ou d'un </a:t>
            </a:r>
            <a:r>
              <a:rPr lang="fr-FR" sz="2400" dirty="0">
                <a:solidFill>
                  <a:prstClr val="black"/>
                </a:solidFill>
              </a:rPr>
              <a:t>ARN est </a:t>
            </a:r>
            <a:r>
              <a:rPr lang="fr-FR" sz="2400" dirty="0">
                <a:solidFill>
                  <a:prstClr val="black"/>
                </a:solidFill>
              </a:rPr>
              <a:t>appelé </a:t>
            </a:r>
            <a:r>
              <a:rPr lang="fr-FR" sz="2400" b="1" dirty="0">
                <a:solidFill>
                  <a:prstClr val="black"/>
                </a:solidFill>
              </a:rPr>
              <a:t>gène</a:t>
            </a:r>
            <a:r>
              <a:rPr lang="fr-FR" sz="2400" dirty="0">
                <a:solidFill>
                  <a:prstClr val="black"/>
                </a:solidFill>
              </a:rPr>
              <a:t>. Une cellule contient typiquement plusieurs milliers de gènes, ce qui implique </a:t>
            </a:r>
            <a:r>
              <a:rPr lang="fr-FR" sz="2400" dirty="0">
                <a:solidFill>
                  <a:prstClr val="black"/>
                </a:solidFill>
              </a:rPr>
              <a:t>des tailles </a:t>
            </a:r>
            <a:r>
              <a:rPr lang="fr-FR" sz="2400" dirty="0">
                <a:solidFill>
                  <a:prstClr val="black"/>
                </a:solidFill>
              </a:rPr>
              <a:t>très importantes pour les molécules d'ADN.</a:t>
            </a:r>
          </a:p>
        </p:txBody>
      </p:sp>
      <p:sp>
        <p:nvSpPr>
          <p:cNvPr id="4" name="ZoneTexte 3"/>
          <p:cNvSpPr txBox="1"/>
          <p:nvPr/>
        </p:nvSpPr>
        <p:spPr>
          <a:xfrm>
            <a:off x="944880" y="441960"/>
            <a:ext cx="2994731" cy="707886"/>
          </a:xfrm>
          <a:prstGeom prst="rect">
            <a:avLst/>
          </a:prstGeom>
          <a:noFill/>
        </p:spPr>
        <p:txBody>
          <a:bodyPr wrap="none" rtlCol="0">
            <a:spAutoFit/>
          </a:bodyPr>
          <a:lstStyle/>
          <a:p>
            <a:r>
              <a:rPr lang="fr-FR" sz="4000" dirty="0">
                <a:solidFill>
                  <a:srgbClr val="42BA97"/>
                </a:solidFill>
              </a:rPr>
              <a:t>1-Généralités</a:t>
            </a:r>
            <a:endParaRPr lang="fr-FR" sz="4000" dirty="0">
              <a:solidFill>
                <a:srgbClr val="42BA97"/>
              </a:solidFill>
            </a:endParaRPr>
          </a:p>
        </p:txBody>
      </p:sp>
    </p:spTree>
    <p:extLst>
      <p:ext uri="{BB962C8B-B14F-4D97-AF65-F5344CB8AC3E}">
        <p14:creationId xmlns:p14="http://schemas.microsoft.com/office/powerpoint/2010/main" val="382343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1021080" y="644902"/>
            <a:ext cx="3417923" cy="707886"/>
          </a:xfrm>
          <a:prstGeom prst="rect">
            <a:avLst/>
          </a:prstGeom>
          <a:noFill/>
        </p:spPr>
        <p:txBody>
          <a:bodyPr wrap="none" rtlCol="0">
            <a:spAutoFit/>
          </a:bodyPr>
          <a:lstStyle>
            <a:defPPr>
              <a:defRPr lang="fr-FR"/>
            </a:defPPr>
            <a:lvl1pPr>
              <a:defRPr sz="4000">
                <a:solidFill>
                  <a:schemeClr val="accent4"/>
                </a:solidFill>
              </a:defRPr>
            </a:lvl1pPr>
          </a:lstStyle>
          <a:p>
            <a:r>
              <a:rPr lang="fr-FR" dirty="0" smtClean="0">
                <a:solidFill>
                  <a:srgbClr val="42BA97"/>
                </a:solidFill>
              </a:rPr>
              <a:t>2-Bases </a:t>
            </a:r>
            <a:r>
              <a:rPr lang="fr-FR" dirty="0">
                <a:solidFill>
                  <a:srgbClr val="42BA97"/>
                </a:solidFill>
              </a:rPr>
              <a:t>azotée </a:t>
            </a:r>
          </a:p>
        </p:txBody>
      </p:sp>
      <p:sp>
        <p:nvSpPr>
          <p:cNvPr id="4" name="Rectangle 3"/>
          <p:cNvSpPr/>
          <p:nvPr/>
        </p:nvSpPr>
        <p:spPr>
          <a:xfrm>
            <a:off x="640080" y="1595735"/>
            <a:ext cx="11247120" cy="830997"/>
          </a:xfrm>
          <a:prstGeom prst="rect">
            <a:avLst/>
          </a:prstGeom>
        </p:spPr>
        <p:txBody>
          <a:bodyPr wrap="square">
            <a:spAutoFit/>
          </a:bodyPr>
          <a:lstStyle/>
          <a:p>
            <a:r>
              <a:rPr lang="fr-FR" sz="2400" dirty="0">
                <a:solidFill>
                  <a:prstClr val="black"/>
                </a:solidFill>
              </a:rPr>
              <a:t>Ce sont des bases hétérocycliques azotées plutôt </a:t>
            </a:r>
            <a:r>
              <a:rPr lang="fr-FR" sz="2400" dirty="0">
                <a:solidFill>
                  <a:prstClr val="black"/>
                </a:solidFill>
              </a:rPr>
              <a:t>hydrophobes, relativement </a:t>
            </a:r>
            <a:r>
              <a:rPr lang="fr-FR" sz="2400" dirty="0">
                <a:solidFill>
                  <a:prstClr val="black"/>
                </a:solidFill>
              </a:rPr>
              <a:t>insolubles, qui sont dérivées de la purine </a:t>
            </a:r>
            <a:r>
              <a:rPr lang="fr-FR" sz="2400" dirty="0">
                <a:solidFill>
                  <a:prstClr val="black"/>
                </a:solidFill>
              </a:rPr>
              <a:t>ou </a:t>
            </a:r>
            <a:r>
              <a:rPr lang="fr-FR" sz="2400" dirty="0">
                <a:solidFill>
                  <a:prstClr val="black"/>
                </a:solidFill>
              </a:rPr>
              <a:t>de la </a:t>
            </a:r>
            <a:r>
              <a:rPr lang="fr-FR" sz="2400" dirty="0">
                <a:solidFill>
                  <a:prstClr val="black"/>
                </a:solidFill>
              </a:rPr>
              <a:t>pyrimidine,</a:t>
            </a:r>
            <a:endParaRPr lang="fr-FR" sz="2400" dirty="0">
              <a:solidFill>
                <a:prstClr val="black"/>
              </a:solidFill>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1780" y="2539365"/>
            <a:ext cx="6515100" cy="3480435"/>
          </a:xfrm>
          <a:prstGeom prst="rect">
            <a:avLst/>
          </a:prstGeom>
        </p:spPr>
      </p:pic>
    </p:spTree>
    <p:extLst>
      <p:ext uri="{BB962C8B-B14F-4D97-AF65-F5344CB8AC3E}">
        <p14:creationId xmlns:p14="http://schemas.microsoft.com/office/powerpoint/2010/main" val="232178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9120" y="777300"/>
            <a:ext cx="11033760" cy="4924040"/>
          </a:xfrm>
          <a:prstGeom prst="rect">
            <a:avLst/>
          </a:prstGeom>
        </p:spPr>
        <p:txBody>
          <a:bodyPr wrap="square">
            <a:spAutoFit/>
          </a:bodyPr>
          <a:lstStyle/>
          <a:p>
            <a:pPr>
              <a:lnSpc>
                <a:spcPct val="200000"/>
              </a:lnSpc>
            </a:pPr>
            <a:r>
              <a:rPr lang="fr-FR" sz="2000" dirty="0">
                <a:solidFill>
                  <a:prstClr val="black"/>
                </a:solidFill>
              </a:rPr>
              <a:t>En plus d’êtres Constituants majeurs des Acides nucléiques, Ces bases azotées peuvent jouer</a:t>
            </a:r>
          </a:p>
          <a:p>
            <a:pPr>
              <a:lnSpc>
                <a:spcPct val="200000"/>
              </a:lnSpc>
            </a:pPr>
            <a:r>
              <a:rPr lang="fr-FR" sz="2000" dirty="0">
                <a:solidFill>
                  <a:prstClr val="black"/>
                </a:solidFill>
              </a:rPr>
              <a:t>plusieurs rôles :</a:t>
            </a:r>
          </a:p>
          <a:p>
            <a:pPr marL="457200" indent="-457200">
              <a:lnSpc>
                <a:spcPct val="200000"/>
              </a:lnSpc>
              <a:buFont typeface="Wingdings" panose="05000000000000000000" pitchFamily="2" charset="2"/>
              <a:buChar char="Ø"/>
            </a:pPr>
            <a:r>
              <a:rPr lang="fr-FR" sz="2000" dirty="0">
                <a:solidFill>
                  <a:prstClr val="black"/>
                </a:solidFill>
              </a:rPr>
              <a:t>Mise </a:t>
            </a:r>
            <a:r>
              <a:rPr lang="fr-FR" sz="2000" dirty="0">
                <a:solidFill>
                  <a:prstClr val="black"/>
                </a:solidFill>
              </a:rPr>
              <a:t>en réserve de l’énergie : ATP</a:t>
            </a:r>
          </a:p>
          <a:p>
            <a:pPr marL="457200" indent="-457200">
              <a:lnSpc>
                <a:spcPct val="200000"/>
              </a:lnSpc>
              <a:buFont typeface="Wingdings" panose="05000000000000000000" pitchFamily="2" charset="2"/>
              <a:buChar char="Ø"/>
            </a:pPr>
            <a:r>
              <a:rPr lang="fr-FR" sz="2000" dirty="0">
                <a:solidFill>
                  <a:prstClr val="black"/>
                </a:solidFill>
              </a:rPr>
              <a:t>Constituants </a:t>
            </a:r>
            <a:r>
              <a:rPr lang="fr-FR" sz="2000" dirty="0">
                <a:solidFill>
                  <a:prstClr val="black"/>
                </a:solidFill>
              </a:rPr>
              <a:t>de Coenzymes divers</a:t>
            </a:r>
          </a:p>
          <a:p>
            <a:pPr marL="457200" indent="-457200">
              <a:lnSpc>
                <a:spcPct val="200000"/>
              </a:lnSpc>
              <a:buFont typeface="Wingdings" panose="05000000000000000000" pitchFamily="2" charset="2"/>
              <a:buChar char="Ø"/>
            </a:pPr>
            <a:r>
              <a:rPr lang="fr-FR" sz="2000" dirty="0">
                <a:solidFill>
                  <a:prstClr val="black"/>
                </a:solidFill>
              </a:rPr>
              <a:t>Médiateurs </a:t>
            </a:r>
            <a:r>
              <a:rPr lang="fr-FR" sz="2000" dirty="0">
                <a:solidFill>
                  <a:prstClr val="black"/>
                </a:solidFill>
              </a:rPr>
              <a:t>métaboliques (transmission de l’information dans la cellule) : </a:t>
            </a:r>
            <a:r>
              <a:rPr lang="fr-FR" sz="2000" dirty="0" err="1">
                <a:solidFill>
                  <a:prstClr val="black"/>
                </a:solidFill>
              </a:rPr>
              <a:t>AMPc</a:t>
            </a:r>
            <a:r>
              <a:rPr lang="fr-FR" sz="2000" dirty="0">
                <a:solidFill>
                  <a:prstClr val="black"/>
                </a:solidFill>
              </a:rPr>
              <a:t>, </a:t>
            </a:r>
            <a:r>
              <a:rPr lang="fr-FR" sz="2000" dirty="0" err="1">
                <a:solidFill>
                  <a:prstClr val="black"/>
                </a:solidFill>
              </a:rPr>
              <a:t>GMPc</a:t>
            </a:r>
            <a:endParaRPr lang="fr-FR" sz="2000" dirty="0">
              <a:solidFill>
                <a:prstClr val="black"/>
              </a:solidFill>
            </a:endParaRPr>
          </a:p>
          <a:p>
            <a:pPr marL="457200" indent="-457200">
              <a:lnSpc>
                <a:spcPct val="200000"/>
              </a:lnSpc>
              <a:buFont typeface="Wingdings" panose="05000000000000000000" pitchFamily="2" charset="2"/>
              <a:buChar char="Ø"/>
            </a:pPr>
            <a:r>
              <a:rPr lang="fr-FR" sz="2000" dirty="0">
                <a:solidFill>
                  <a:prstClr val="black"/>
                </a:solidFill>
              </a:rPr>
              <a:t>Activation </a:t>
            </a:r>
            <a:r>
              <a:rPr lang="fr-FR" sz="2000" dirty="0">
                <a:solidFill>
                  <a:prstClr val="black"/>
                </a:solidFill>
              </a:rPr>
              <a:t>de précurseurs métaboliques</a:t>
            </a:r>
          </a:p>
          <a:p>
            <a:pPr marL="457200" indent="-457200">
              <a:lnSpc>
                <a:spcPct val="200000"/>
              </a:lnSpc>
              <a:buFont typeface="Wingdings" panose="05000000000000000000" pitchFamily="2" charset="2"/>
              <a:buChar char="Ø"/>
            </a:pPr>
            <a:r>
              <a:rPr lang="fr-FR" sz="2000" dirty="0">
                <a:solidFill>
                  <a:prstClr val="black"/>
                </a:solidFill>
              </a:rPr>
              <a:t>Effecteurs </a:t>
            </a:r>
            <a:r>
              <a:rPr lang="fr-FR" sz="2000" dirty="0">
                <a:solidFill>
                  <a:prstClr val="black"/>
                </a:solidFill>
              </a:rPr>
              <a:t>allostériques</a:t>
            </a:r>
          </a:p>
          <a:p>
            <a:pPr marL="457200" indent="-457200">
              <a:lnSpc>
                <a:spcPct val="200000"/>
              </a:lnSpc>
              <a:buFont typeface="Wingdings" panose="05000000000000000000" pitchFamily="2" charset="2"/>
              <a:buChar char="Ø"/>
            </a:pPr>
            <a:r>
              <a:rPr lang="fr-FR" sz="2000" dirty="0">
                <a:solidFill>
                  <a:prstClr val="black"/>
                </a:solidFill>
              </a:rPr>
              <a:t>Sont </a:t>
            </a:r>
            <a:r>
              <a:rPr lang="fr-FR" sz="2000" dirty="0">
                <a:solidFill>
                  <a:prstClr val="black"/>
                </a:solidFill>
              </a:rPr>
              <a:t>responsables dans de Nombreuses anomalies métaboliques congénitales</a:t>
            </a:r>
          </a:p>
        </p:txBody>
      </p:sp>
      <p:sp>
        <p:nvSpPr>
          <p:cNvPr id="3" name="ZoneTexte 2"/>
          <p:cNvSpPr txBox="1"/>
          <p:nvPr/>
        </p:nvSpPr>
        <p:spPr>
          <a:xfrm>
            <a:off x="685800" y="69414"/>
            <a:ext cx="3560590" cy="707886"/>
          </a:xfrm>
          <a:prstGeom prst="rect">
            <a:avLst/>
          </a:prstGeom>
          <a:noFill/>
        </p:spPr>
        <p:txBody>
          <a:bodyPr wrap="none" rtlCol="0">
            <a:spAutoFit/>
          </a:bodyPr>
          <a:lstStyle>
            <a:defPPr>
              <a:defRPr lang="fr-FR"/>
            </a:defPPr>
            <a:lvl1pPr>
              <a:defRPr sz="4000">
                <a:solidFill>
                  <a:schemeClr val="accent4"/>
                </a:solidFill>
              </a:defRPr>
            </a:lvl1pPr>
          </a:lstStyle>
          <a:p>
            <a:r>
              <a:rPr lang="fr-FR" dirty="0" smtClean="0">
                <a:solidFill>
                  <a:srgbClr val="42BA97"/>
                </a:solidFill>
              </a:rPr>
              <a:t>2- Bases </a:t>
            </a:r>
            <a:r>
              <a:rPr lang="fr-FR" dirty="0">
                <a:solidFill>
                  <a:srgbClr val="42BA97"/>
                </a:solidFill>
              </a:rPr>
              <a:t>azotée </a:t>
            </a:r>
          </a:p>
        </p:txBody>
      </p:sp>
    </p:spTree>
    <p:extLst>
      <p:ext uri="{BB962C8B-B14F-4D97-AF65-F5344CB8AC3E}">
        <p14:creationId xmlns:p14="http://schemas.microsoft.com/office/powerpoint/2010/main" val="299378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 calcmode="lin" valueType="num">
                                      <p:cBhvr additive="base">
                                        <p:cTn id="2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anim calcmode="lin" valueType="num">
                                      <p:cBhvr additive="base">
                                        <p:cTn id="35"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
                                            <p:txEl>
                                              <p:pRg st="6" end="6"/>
                                            </p:txEl>
                                          </p:spTgt>
                                        </p:tgtEl>
                                        <p:attrNameLst>
                                          <p:attrName>style.visibility</p:attrName>
                                        </p:attrNameLst>
                                      </p:cBhvr>
                                      <p:to>
                                        <p:strVal val="visible"/>
                                      </p:to>
                                    </p:set>
                                    <p:anim calcmode="lin" valueType="num">
                                      <p:cBhvr additive="base">
                                        <p:cTn id="4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 calcmode="lin" valueType="num">
                                      <p:cBhvr additive="base">
                                        <p:cTn id="4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p:cNvSpPr txBox="1"/>
          <p:nvPr/>
        </p:nvSpPr>
        <p:spPr>
          <a:xfrm>
            <a:off x="170180" y="707753"/>
            <a:ext cx="6824979" cy="5660524"/>
          </a:xfrm>
          <a:prstGeom prst="rect">
            <a:avLst/>
          </a:prstGeom>
        </p:spPr>
        <p:txBody>
          <a:bodyPr vert="horz" wrap="square" lIns="0" tIns="0" rIns="0" bIns="0" rtlCol="0">
            <a:spAutoFit/>
          </a:bodyPr>
          <a:lstStyle/>
          <a:p>
            <a:pPr marL="241300" indent="-228600">
              <a:buFont typeface="Arial"/>
              <a:buChar char="•"/>
              <a:tabLst>
                <a:tab pos="241300" algn="l"/>
              </a:tabLst>
            </a:pPr>
            <a:r>
              <a:rPr sz="2400" spc="5" dirty="0">
                <a:solidFill>
                  <a:prstClr val="black"/>
                </a:solidFill>
                <a:cs typeface="Arial"/>
              </a:rPr>
              <a:t>Le</a:t>
            </a:r>
            <a:r>
              <a:rPr sz="2400" dirty="0">
                <a:solidFill>
                  <a:prstClr val="black"/>
                </a:solidFill>
                <a:cs typeface="Arial"/>
              </a:rPr>
              <a:t>s</a:t>
            </a:r>
            <a:r>
              <a:rPr sz="2400" spc="-5" dirty="0">
                <a:solidFill>
                  <a:prstClr val="black"/>
                </a:solidFill>
                <a:cs typeface="Arial"/>
              </a:rPr>
              <a:t> </a:t>
            </a:r>
            <a:r>
              <a:rPr sz="2400" spc="5" dirty="0">
                <a:solidFill>
                  <a:prstClr val="black"/>
                </a:solidFill>
                <a:cs typeface="Arial"/>
              </a:rPr>
              <a:t>nu</a:t>
            </a:r>
            <a:r>
              <a:rPr sz="2400" dirty="0">
                <a:solidFill>
                  <a:prstClr val="black"/>
                </a:solidFill>
                <a:cs typeface="Arial"/>
              </a:rPr>
              <a:t>cl</a:t>
            </a:r>
            <a:r>
              <a:rPr sz="2400" spc="5" dirty="0">
                <a:solidFill>
                  <a:prstClr val="black"/>
                </a:solidFill>
                <a:cs typeface="Arial"/>
              </a:rPr>
              <a:t>éo</a:t>
            </a:r>
            <a:r>
              <a:rPr sz="2400" spc="-15" dirty="0">
                <a:solidFill>
                  <a:prstClr val="black"/>
                </a:solidFill>
                <a:cs typeface="Arial"/>
              </a:rPr>
              <a:t>t</a:t>
            </a:r>
            <a:r>
              <a:rPr sz="2400" dirty="0">
                <a:solidFill>
                  <a:prstClr val="black"/>
                </a:solidFill>
                <a:cs typeface="Arial"/>
              </a:rPr>
              <a:t>i</a:t>
            </a:r>
            <a:r>
              <a:rPr sz="2400" spc="5" dirty="0">
                <a:solidFill>
                  <a:prstClr val="black"/>
                </a:solidFill>
                <a:cs typeface="Arial"/>
              </a:rPr>
              <a:t>de</a:t>
            </a:r>
            <a:r>
              <a:rPr sz="2400" dirty="0">
                <a:solidFill>
                  <a:prstClr val="black"/>
                </a:solidFill>
                <a:cs typeface="Arial"/>
              </a:rPr>
              <a:t>s</a:t>
            </a:r>
            <a:r>
              <a:rPr sz="2400" spc="-5" dirty="0">
                <a:solidFill>
                  <a:prstClr val="black"/>
                </a:solidFill>
                <a:cs typeface="Arial"/>
              </a:rPr>
              <a:t> </a:t>
            </a:r>
            <a:r>
              <a:rPr sz="2400" dirty="0">
                <a:solidFill>
                  <a:prstClr val="black"/>
                </a:solidFill>
                <a:cs typeface="Arial"/>
              </a:rPr>
              <a:t>s</a:t>
            </a:r>
            <a:r>
              <a:rPr sz="2400" spc="5" dirty="0">
                <a:solidFill>
                  <a:prstClr val="black"/>
                </a:solidFill>
                <a:cs typeface="Arial"/>
              </a:rPr>
              <a:t>on</a:t>
            </a:r>
            <a:r>
              <a:rPr sz="2400" spc="-10" dirty="0">
                <a:solidFill>
                  <a:prstClr val="black"/>
                </a:solidFill>
                <a:cs typeface="Arial"/>
              </a:rPr>
              <a:t>t </a:t>
            </a:r>
            <a:r>
              <a:rPr sz="2400" dirty="0">
                <a:solidFill>
                  <a:prstClr val="black"/>
                </a:solidFill>
                <a:cs typeface="Arial"/>
              </a:rPr>
              <a:t>c</a:t>
            </a:r>
            <a:r>
              <a:rPr sz="2400" spc="5" dirty="0">
                <a:solidFill>
                  <a:prstClr val="black"/>
                </a:solidFill>
                <a:cs typeface="Arial"/>
              </a:rPr>
              <a:t>ompo</a:t>
            </a:r>
            <a:r>
              <a:rPr sz="2400" dirty="0">
                <a:solidFill>
                  <a:prstClr val="black"/>
                </a:solidFill>
                <a:cs typeface="Arial"/>
              </a:rPr>
              <a:t>s</a:t>
            </a:r>
            <a:r>
              <a:rPr sz="2400" spc="5" dirty="0">
                <a:solidFill>
                  <a:prstClr val="black"/>
                </a:solidFill>
                <a:cs typeface="Arial"/>
              </a:rPr>
              <a:t>é</a:t>
            </a:r>
            <a:r>
              <a:rPr sz="2400" dirty="0">
                <a:solidFill>
                  <a:prstClr val="black"/>
                </a:solidFill>
                <a:cs typeface="Arial"/>
              </a:rPr>
              <a:t>s</a:t>
            </a:r>
            <a:r>
              <a:rPr sz="2400" spc="-5" dirty="0">
                <a:solidFill>
                  <a:prstClr val="black"/>
                </a:solidFill>
                <a:cs typeface="Arial"/>
              </a:rPr>
              <a:t> </a:t>
            </a:r>
            <a:r>
              <a:rPr sz="2400" spc="5" dirty="0">
                <a:solidFill>
                  <a:prstClr val="black"/>
                </a:solidFill>
                <a:cs typeface="Arial"/>
              </a:rPr>
              <a:t>d</a:t>
            </a:r>
            <a:r>
              <a:rPr sz="2400" dirty="0">
                <a:solidFill>
                  <a:prstClr val="black"/>
                </a:solidFill>
                <a:cs typeface="Arial"/>
              </a:rPr>
              <a:t>e 3 </a:t>
            </a:r>
            <a:r>
              <a:rPr sz="2400" spc="5" dirty="0">
                <a:solidFill>
                  <a:prstClr val="black"/>
                </a:solidFill>
                <a:cs typeface="Arial"/>
              </a:rPr>
              <a:t>é</a:t>
            </a:r>
            <a:r>
              <a:rPr sz="2400" dirty="0">
                <a:solidFill>
                  <a:prstClr val="black"/>
                </a:solidFill>
                <a:cs typeface="Arial"/>
              </a:rPr>
              <a:t>l</a:t>
            </a:r>
            <a:r>
              <a:rPr sz="2400" spc="5" dirty="0">
                <a:solidFill>
                  <a:prstClr val="black"/>
                </a:solidFill>
                <a:cs typeface="Arial"/>
              </a:rPr>
              <a:t>émen</a:t>
            </a:r>
            <a:r>
              <a:rPr sz="2400" spc="-15" dirty="0">
                <a:solidFill>
                  <a:prstClr val="black"/>
                </a:solidFill>
                <a:cs typeface="Arial"/>
              </a:rPr>
              <a:t>t</a:t>
            </a:r>
            <a:r>
              <a:rPr sz="2400" dirty="0">
                <a:solidFill>
                  <a:prstClr val="black"/>
                </a:solidFill>
                <a:cs typeface="Arial"/>
              </a:rPr>
              <a:t>s</a:t>
            </a:r>
            <a:r>
              <a:rPr sz="2400" spc="-5" dirty="0">
                <a:solidFill>
                  <a:prstClr val="black"/>
                </a:solidFill>
                <a:cs typeface="Arial"/>
              </a:rPr>
              <a:t> </a:t>
            </a:r>
            <a:r>
              <a:rPr sz="2400" spc="-10" dirty="0">
                <a:solidFill>
                  <a:prstClr val="black"/>
                </a:solidFill>
                <a:cs typeface="Arial"/>
              </a:rPr>
              <a:t>:</a:t>
            </a:r>
            <a:endParaRPr sz="2400" dirty="0">
              <a:solidFill>
                <a:prstClr val="black"/>
              </a:solidFill>
              <a:cs typeface="Arial"/>
            </a:endParaRPr>
          </a:p>
          <a:p>
            <a:pPr marL="698500" lvl="1" indent="-228600">
              <a:spcBef>
                <a:spcPts val="2545"/>
              </a:spcBef>
              <a:buFont typeface="Arial"/>
              <a:buChar char="•"/>
              <a:tabLst>
                <a:tab pos="698500" algn="l"/>
              </a:tabLst>
            </a:pPr>
            <a:r>
              <a:rPr sz="2400" b="1" dirty="0">
                <a:solidFill>
                  <a:prstClr val="black"/>
                </a:solidFill>
                <a:cs typeface="Arial"/>
              </a:rPr>
              <a:t>Un</a:t>
            </a:r>
            <a:r>
              <a:rPr sz="2400" b="1" spc="-5" dirty="0">
                <a:solidFill>
                  <a:prstClr val="black"/>
                </a:solidFill>
                <a:cs typeface="Arial"/>
              </a:rPr>
              <a:t> </a:t>
            </a:r>
            <a:r>
              <a:rPr sz="2400" b="1" spc="-30" dirty="0">
                <a:solidFill>
                  <a:prstClr val="black"/>
                </a:solidFill>
                <a:cs typeface="Arial"/>
              </a:rPr>
              <a:t>O</a:t>
            </a:r>
            <a:r>
              <a:rPr sz="2400" b="1" spc="5" dirty="0">
                <a:solidFill>
                  <a:prstClr val="black"/>
                </a:solidFill>
                <a:cs typeface="Arial"/>
              </a:rPr>
              <a:t>s</a:t>
            </a:r>
            <a:r>
              <a:rPr sz="2400" b="1" dirty="0">
                <a:solidFill>
                  <a:prstClr val="black"/>
                </a:solidFill>
                <a:cs typeface="Arial"/>
              </a:rPr>
              <a:t>e </a:t>
            </a:r>
            <a:r>
              <a:rPr sz="2400" spc="5" dirty="0">
                <a:solidFill>
                  <a:prstClr val="black"/>
                </a:solidFill>
                <a:cs typeface="Arial"/>
              </a:rPr>
              <a:t>(pen</a:t>
            </a:r>
            <a:r>
              <a:rPr sz="2400" spc="-15" dirty="0">
                <a:solidFill>
                  <a:prstClr val="black"/>
                </a:solidFill>
                <a:cs typeface="Arial"/>
              </a:rPr>
              <a:t>t</a:t>
            </a:r>
            <a:r>
              <a:rPr sz="2400" spc="5" dirty="0">
                <a:solidFill>
                  <a:prstClr val="black"/>
                </a:solidFill>
                <a:cs typeface="Arial"/>
              </a:rPr>
              <a:t>o</a:t>
            </a:r>
            <a:r>
              <a:rPr sz="2400" dirty="0">
                <a:solidFill>
                  <a:prstClr val="black"/>
                </a:solidFill>
                <a:cs typeface="Arial"/>
              </a:rPr>
              <a:t>s</a:t>
            </a:r>
            <a:r>
              <a:rPr sz="2400" spc="5" dirty="0">
                <a:solidFill>
                  <a:prstClr val="black"/>
                </a:solidFill>
                <a:cs typeface="Arial"/>
              </a:rPr>
              <a:t>e)</a:t>
            </a:r>
            <a:r>
              <a:rPr sz="2400" spc="-10" dirty="0">
                <a:solidFill>
                  <a:prstClr val="black"/>
                </a:solidFill>
                <a:cs typeface="Arial"/>
              </a:rPr>
              <a:t>: </a:t>
            </a:r>
            <a:r>
              <a:rPr sz="2400" b="1" dirty="0">
                <a:solidFill>
                  <a:srgbClr val="FF0000"/>
                </a:solidFill>
                <a:cs typeface="Arial"/>
              </a:rPr>
              <a:t>Ri</a:t>
            </a:r>
            <a:r>
              <a:rPr sz="2400" b="1" spc="5" dirty="0">
                <a:solidFill>
                  <a:srgbClr val="FF0000"/>
                </a:solidFill>
                <a:cs typeface="Arial"/>
              </a:rPr>
              <a:t>bo</a:t>
            </a:r>
            <a:r>
              <a:rPr sz="2400" b="1" dirty="0">
                <a:solidFill>
                  <a:srgbClr val="FF0000"/>
                </a:solidFill>
                <a:cs typeface="Arial"/>
              </a:rPr>
              <a:t>se ou </a:t>
            </a:r>
            <a:r>
              <a:rPr sz="2400" b="1" spc="5" dirty="0">
                <a:solidFill>
                  <a:srgbClr val="FF0000"/>
                </a:solidFill>
                <a:cs typeface="Arial"/>
              </a:rPr>
              <a:t>dé</a:t>
            </a:r>
            <a:r>
              <a:rPr sz="2400" b="1" dirty="0">
                <a:solidFill>
                  <a:srgbClr val="FF0000"/>
                </a:solidFill>
                <a:cs typeface="Arial"/>
              </a:rPr>
              <a:t>s</a:t>
            </a:r>
            <a:r>
              <a:rPr sz="2400" b="1" spc="5" dirty="0">
                <a:solidFill>
                  <a:srgbClr val="FF0000"/>
                </a:solidFill>
                <a:cs typeface="Arial"/>
              </a:rPr>
              <a:t>o</a:t>
            </a:r>
            <a:r>
              <a:rPr sz="2400" b="1" dirty="0">
                <a:solidFill>
                  <a:srgbClr val="FF0000"/>
                </a:solidFill>
                <a:cs typeface="Arial"/>
              </a:rPr>
              <a:t>xy</a:t>
            </a:r>
            <a:r>
              <a:rPr sz="2400" b="1" spc="5" dirty="0">
                <a:solidFill>
                  <a:srgbClr val="FF0000"/>
                </a:solidFill>
                <a:cs typeface="Arial"/>
              </a:rPr>
              <a:t>r</a:t>
            </a:r>
            <a:r>
              <a:rPr sz="2400" b="1" dirty="0">
                <a:solidFill>
                  <a:srgbClr val="FF0000"/>
                </a:solidFill>
                <a:cs typeface="Arial"/>
              </a:rPr>
              <a:t>i</a:t>
            </a:r>
            <a:r>
              <a:rPr sz="2400" b="1" spc="5" dirty="0">
                <a:solidFill>
                  <a:srgbClr val="FF0000"/>
                </a:solidFill>
                <a:cs typeface="Arial"/>
              </a:rPr>
              <a:t>bo</a:t>
            </a:r>
            <a:r>
              <a:rPr sz="2400" b="1" dirty="0">
                <a:solidFill>
                  <a:srgbClr val="FF0000"/>
                </a:solidFill>
                <a:cs typeface="Arial"/>
              </a:rPr>
              <a:t>se</a:t>
            </a:r>
          </a:p>
          <a:p>
            <a:pPr marL="698500" marR="5080" lvl="1" indent="-228600">
              <a:lnSpc>
                <a:spcPct val="125000"/>
              </a:lnSpc>
              <a:spcBef>
                <a:spcPts val="1680"/>
              </a:spcBef>
              <a:buFont typeface="Arial"/>
              <a:buChar char="•"/>
              <a:tabLst>
                <a:tab pos="698500" algn="l"/>
              </a:tabLst>
            </a:pPr>
            <a:r>
              <a:rPr sz="2400" b="1" dirty="0">
                <a:solidFill>
                  <a:prstClr val="black"/>
                </a:solidFill>
                <a:cs typeface="Arial"/>
              </a:rPr>
              <a:t>U</a:t>
            </a:r>
            <a:r>
              <a:rPr sz="2400" b="1" spc="-20" dirty="0">
                <a:solidFill>
                  <a:prstClr val="black"/>
                </a:solidFill>
                <a:cs typeface="Arial"/>
              </a:rPr>
              <a:t>n</a:t>
            </a:r>
            <a:r>
              <a:rPr sz="2400" b="1" dirty="0">
                <a:solidFill>
                  <a:prstClr val="black"/>
                </a:solidFill>
                <a:cs typeface="Arial"/>
              </a:rPr>
              <a:t>e B</a:t>
            </a:r>
            <a:r>
              <a:rPr sz="2400" b="1" spc="5" dirty="0">
                <a:solidFill>
                  <a:prstClr val="black"/>
                </a:solidFill>
                <a:cs typeface="Arial"/>
              </a:rPr>
              <a:t>as</a:t>
            </a:r>
            <a:r>
              <a:rPr sz="2400" b="1" dirty="0">
                <a:solidFill>
                  <a:prstClr val="black"/>
                </a:solidFill>
                <a:cs typeface="Arial"/>
              </a:rPr>
              <a:t>e </a:t>
            </a:r>
            <a:r>
              <a:rPr sz="2400" b="1" spc="5" dirty="0">
                <a:solidFill>
                  <a:prstClr val="black"/>
                </a:solidFill>
                <a:cs typeface="Arial"/>
              </a:rPr>
              <a:t>a</a:t>
            </a:r>
            <a:r>
              <a:rPr sz="2400" b="1" spc="-20" dirty="0">
                <a:solidFill>
                  <a:prstClr val="black"/>
                </a:solidFill>
                <a:cs typeface="Arial"/>
              </a:rPr>
              <a:t>zo</a:t>
            </a:r>
            <a:r>
              <a:rPr sz="2400" b="1" spc="5" dirty="0">
                <a:solidFill>
                  <a:prstClr val="black"/>
                </a:solidFill>
                <a:cs typeface="Arial"/>
              </a:rPr>
              <a:t>tée</a:t>
            </a:r>
            <a:r>
              <a:rPr sz="2400" spc="-10" dirty="0">
                <a:solidFill>
                  <a:prstClr val="black"/>
                </a:solidFill>
                <a:cs typeface="Arial"/>
              </a:rPr>
              <a:t>: </a:t>
            </a:r>
            <a:r>
              <a:rPr sz="2400" spc="5" dirty="0">
                <a:solidFill>
                  <a:prstClr val="black"/>
                </a:solidFill>
                <a:cs typeface="Arial"/>
              </a:rPr>
              <a:t>ba</a:t>
            </a:r>
            <a:r>
              <a:rPr sz="2400" dirty="0">
                <a:solidFill>
                  <a:prstClr val="black"/>
                </a:solidFill>
                <a:cs typeface="Arial"/>
              </a:rPr>
              <a:t>se </a:t>
            </a:r>
            <a:r>
              <a:rPr sz="2400" spc="5" dirty="0">
                <a:solidFill>
                  <a:prstClr val="black"/>
                </a:solidFill>
                <a:cs typeface="Arial"/>
              </a:rPr>
              <a:t>pur</a:t>
            </a:r>
            <a:r>
              <a:rPr sz="2400" dirty="0">
                <a:solidFill>
                  <a:prstClr val="black"/>
                </a:solidFill>
                <a:cs typeface="Arial"/>
              </a:rPr>
              <a:t>i</a:t>
            </a:r>
            <a:r>
              <a:rPr sz="2400" spc="5" dirty="0">
                <a:solidFill>
                  <a:prstClr val="black"/>
                </a:solidFill>
                <a:cs typeface="Arial"/>
              </a:rPr>
              <a:t>que</a:t>
            </a:r>
            <a:r>
              <a:rPr sz="2400" dirty="0">
                <a:solidFill>
                  <a:prstClr val="black"/>
                </a:solidFill>
                <a:cs typeface="Arial"/>
              </a:rPr>
              <a:t>s</a:t>
            </a:r>
            <a:r>
              <a:rPr sz="2400" spc="-5" dirty="0">
                <a:solidFill>
                  <a:prstClr val="black"/>
                </a:solidFill>
                <a:cs typeface="Arial"/>
              </a:rPr>
              <a:t> </a:t>
            </a:r>
            <a:r>
              <a:rPr sz="2400" spc="5" dirty="0">
                <a:solidFill>
                  <a:prstClr val="black"/>
                </a:solidFill>
                <a:cs typeface="Arial"/>
              </a:rPr>
              <a:t>(</a:t>
            </a:r>
            <a:r>
              <a:rPr sz="2400" spc="-10" dirty="0">
                <a:solidFill>
                  <a:prstClr val="black"/>
                </a:solidFill>
                <a:cs typeface="Arial"/>
              </a:rPr>
              <a:t>A</a:t>
            </a:r>
            <a:r>
              <a:rPr sz="2400" dirty="0">
                <a:solidFill>
                  <a:prstClr val="black"/>
                </a:solidFill>
                <a:cs typeface="Arial"/>
              </a:rPr>
              <a:t>dénine</a:t>
            </a:r>
            <a:r>
              <a:rPr sz="2400" spc="5" dirty="0">
                <a:solidFill>
                  <a:prstClr val="black"/>
                </a:solidFill>
                <a:cs typeface="Arial"/>
              </a:rPr>
              <a:t> </a:t>
            </a:r>
            <a:r>
              <a:rPr sz="2400" b="1" dirty="0">
                <a:solidFill>
                  <a:prstClr val="black"/>
                </a:solidFill>
                <a:cs typeface="Arial"/>
              </a:rPr>
              <a:t>A</a:t>
            </a:r>
            <a:r>
              <a:rPr sz="2400" spc="-10" dirty="0">
                <a:solidFill>
                  <a:prstClr val="black"/>
                </a:solidFill>
                <a:cs typeface="Arial"/>
              </a:rPr>
              <a:t>, </a:t>
            </a:r>
            <a:r>
              <a:rPr sz="2400" spc="-30" dirty="0">
                <a:solidFill>
                  <a:prstClr val="black"/>
                </a:solidFill>
                <a:cs typeface="Arial"/>
              </a:rPr>
              <a:t>G</a:t>
            </a:r>
            <a:r>
              <a:rPr sz="2400" spc="-20" dirty="0">
                <a:solidFill>
                  <a:prstClr val="black"/>
                </a:solidFill>
                <a:cs typeface="Arial"/>
              </a:rPr>
              <a:t>u</a:t>
            </a:r>
            <a:r>
              <a:rPr sz="2400" dirty="0">
                <a:solidFill>
                  <a:prstClr val="black"/>
                </a:solidFill>
                <a:cs typeface="Arial"/>
              </a:rPr>
              <a:t>anine</a:t>
            </a:r>
            <a:r>
              <a:rPr sz="2400" spc="5" dirty="0">
                <a:solidFill>
                  <a:prstClr val="black"/>
                </a:solidFill>
                <a:cs typeface="Arial"/>
              </a:rPr>
              <a:t> </a:t>
            </a:r>
            <a:r>
              <a:rPr sz="2400" b="1" spc="-30" dirty="0">
                <a:solidFill>
                  <a:prstClr val="black"/>
                </a:solidFill>
                <a:cs typeface="Arial"/>
              </a:rPr>
              <a:t>G</a:t>
            </a:r>
            <a:r>
              <a:rPr sz="2400" spc="-5" dirty="0">
                <a:solidFill>
                  <a:prstClr val="black"/>
                </a:solidFill>
                <a:cs typeface="Arial"/>
              </a:rPr>
              <a:t>); </a:t>
            </a:r>
            <a:r>
              <a:rPr sz="2400" spc="5" dirty="0">
                <a:solidFill>
                  <a:prstClr val="black"/>
                </a:solidFill>
                <a:cs typeface="Arial"/>
              </a:rPr>
              <a:t>ba</a:t>
            </a:r>
            <a:r>
              <a:rPr sz="2400" dirty="0">
                <a:solidFill>
                  <a:prstClr val="black"/>
                </a:solidFill>
                <a:cs typeface="Arial"/>
              </a:rPr>
              <a:t>se </a:t>
            </a:r>
            <a:r>
              <a:rPr sz="2400" spc="5" dirty="0">
                <a:solidFill>
                  <a:prstClr val="black"/>
                </a:solidFill>
                <a:cs typeface="Arial"/>
              </a:rPr>
              <a:t>p</a:t>
            </a:r>
            <a:r>
              <a:rPr sz="2400" dirty="0">
                <a:solidFill>
                  <a:prstClr val="black"/>
                </a:solidFill>
                <a:cs typeface="Arial"/>
              </a:rPr>
              <a:t>y</a:t>
            </a:r>
            <a:r>
              <a:rPr sz="2400" spc="5" dirty="0">
                <a:solidFill>
                  <a:prstClr val="black"/>
                </a:solidFill>
                <a:cs typeface="Arial"/>
              </a:rPr>
              <a:t>r</a:t>
            </a:r>
            <a:r>
              <a:rPr sz="2400" dirty="0">
                <a:solidFill>
                  <a:prstClr val="black"/>
                </a:solidFill>
                <a:cs typeface="Arial"/>
              </a:rPr>
              <a:t>i</a:t>
            </a:r>
            <a:r>
              <a:rPr sz="2400" spc="5" dirty="0">
                <a:solidFill>
                  <a:prstClr val="black"/>
                </a:solidFill>
                <a:cs typeface="Arial"/>
              </a:rPr>
              <a:t>m</a:t>
            </a:r>
            <a:r>
              <a:rPr sz="2400" dirty="0">
                <a:solidFill>
                  <a:prstClr val="black"/>
                </a:solidFill>
                <a:cs typeface="Arial"/>
              </a:rPr>
              <a:t>i</a:t>
            </a:r>
            <a:r>
              <a:rPr sz="2400" spc="5" dirty="0">
                <a:solidFill>
                  <a:prstClr val="black"/>
                </a:solidFill>
                <a:cs typeface="Arial"/>
              </a:rPr>
              <a:t>d</a:t>
            </a:r>
            <a:r>
              <a:rPr sz="2400" dirty="0">
                <a:solidFill>
                  <a:prstClr val="black"/>
                </a:solidFill>
                <a:cs typeface="Arial"/>
              </a:rPr>
              <a:t>i</a:t>
            </a:r>
            <a:r>
              <a:rPr sz="2400" spc="5" dirty="0">
                <a:solidFill>
                  <a:prstClr val="black"/>
                </a:solidFill>
                <a:cs typeface="Arial"/>
              </a:rPr>
              <a:t>que</a:t>
            </a:r>
            <a:r>
              <a:rPr sz="2400" dirty="0">
                <a:solidFill>
                  <a:prstClr val="black"/>
                </a:solidFill>
                <a:cs typeface="Arial"/>
              </a:rPr>
              <a:t>s</a:t>
            </a:r>
            <a:r>
              <a:rPr sz="2400" spc="-5" dirty="0">
                <a:solidFill>
                  <a:prstClr val="black"/>
                </a:solidFill>
                <a:cs typeface="Arial"/>
              </a:rPr>
              <a:t> </a:t>
            </a:r>
            <a:r>
              <a:rPr sz="2400" spc="5" dirty="0">
                <a:solidFill>
                  <a:prstClr val="black"/>
                </a:solidFill>
                <a:cs typeface="Arial"/>
              </a:rPr>
              <a:t>(</a:t>
            </a:r>
            <a:r>
              <a:rPr sz="2400" spc="-15" dirty="0">
                <a:solidFill>
                  <a:prstClr val="black"/>
                </a:solidFill>
                <a:cs typeface="Arial"/>
              </a:rPr>
              <a:t>cyt</a:t>
            </a:r>
            <a:r>
              <a:rPr sz="2400" spc="5" dirty="0">
                <a:solidFill>
                  <a:prstClr val="black"/>
                </a:solidFill>
                <a:cs typeface="Arial"/>
              </a:rPr>
              <a:t>o</a:t>
            </a:r>
            <a:r>
              <a:rPr sz="2400" dirty="0">
                <a:solidFill>
                  <a:prstClr val="black"/>
                </a:solidFill>
                <a:cs typeface="Arial"/>
              </a:rPr>
              <a:t>si</a:t>
            </a:r>
            <a:r>
              <a:rPr sz="2400" spc="5" dirty="0">
                <a:solidFill>
                  <a:prstClr val="black"/>
                </a:solidFill>
                <a:cs typeface="Arial"/>
              </a:rPr>
              <a:t>n</a:t>
            </a:r>
            <a:r>
              <a:rPr sz="2400" dirty="0">
                <a:solidFill>
                  <a:prstClr val="black"/>
                </a:solidFill>
                <a:cs typeface="Arial"/>
              </a:rPr>
              <a:t>e </a:t>
            </a:r>
            <a:r>
              <a:rPr sz="2400" b="1" dirty="0">
                <a:solidFill>
                  <a:prstClr val="black"/>
                </a:solidFill>
                <a:cs typeface="Arial"/>
              </a:rPr>
              <a:t>C</a:t>
            </a:r>
            <a:r>
              <a:rPr sz="2400" spc="-10" dirty="0">
                <a:solidFill>
                  <a:prstClr val="black"/>
                </a:solidFill>
                <a:cs typeface="Arial"/>
              </a:rPr>
              <a:t>, </a:t>
            </a:r>
            <a:r>
              <a:rPr sz="2400" spc="-15" dirty="0">
                <a:solidFill>
                  <a:prstClr val="black"/>
                </a:solidFill>
                <a:cs typeface="Arial"/>
              </a:rPr>
              <a:t>t</a:t>
            </a:r>
            <a:r>
              <a:rPr sz="2400" spc="5" dirty="0">
                <a:solidFill>
                  <a:prstClr val="black"/>
                </a:solidFill>
                <a:cs typeface="Arial"/>
              </a:rPr>
              <a:t>h</a:t>
            </a:r>
            <a:r>
              <a:rPr sz="2400" dirty="0">
                <a:solidFill>
                  <a:prstClr val="black"/>
                </a:solidFill>
                <a:cs typeface="Arial"/>
              </a:rPr>
              <a:t>y</a:t>
            </a:r>
            <a:r>
              <a:rPr sz="2400" spc="5" dirty="0">
                <a:solidFill>
                  <a:prstClr val="black"/>
                </a:solidFill>
                <a:cs typeface="Arial"/>
              </a:rPr>
              <a:t>m</a:t>
            </a:r>
            <a:r>
              <a:rPr sz="2400" dirty="0">
                <a:solidFill>
                  <a:prstClr val="black"/>
                </a:solidFill>
                <a:cs typeface="Arial"/>
              </a:rPr>
              <a:t>i</a:t>
            </a:r>
            <a:r>
              <a:rPr sz="2400" spc="5" dirty="0">
                <a:solidFill>
                  <a:prstClr val="black"/>
                </a:solidFill>
                <a:cs typeface="Arial"/>
              </a:rPr>
              <a:t>n</a:t>
            </a:r>
            <a:r>
              <a:rPr sz="2400" dirty="0">
                <a:solidFill>
                  <a:prstClr val="black"/>
                </a:solidFill>
                <a:cs typeface="Arial"/>
              </a:rPr>
              <a:t>e </a:t>
            </a:r>
            <a:r>
              <a:rPr sz="2400" b="1" spc="-20" dirty="0">
                <a:solidFill>
                  <a:prstClr val="black"/>
                </a:solidFill>
                <a:cs typeface="Arial"/>
              </a:rPr>
              <a:t>T</a:t>
            </a:r>
            <a:r>
              <a:rPr sz="2400" spc="-10" dirty="0">
                <a:solidFill>
                  <a:prstClr val="black"/>
                </a:solidFill>
                <a:cs typeface="Arial"/>
              </a:rPr>
              <a:t>, </a:t>
            </a:r>
            <a:r>
              <a:rPr sz="2400" spc="5" dirty="0">
                <a:solidFill>
                  <a:prstClr val="black"/>
                </a:solidFill>
                <a:cs typeface="Arial"/>
              </a:rPr>
              <a:t>ura</a:t>
            </a:r>
            <a:r>
              <a:rPr sz="2400" dirty="0">
                <a:solidFill>
                  <a:prstClr val="black"/>
                </a:solidFill>
                <a:cs typeface="Arial"/>
              </a:rPr>
              <a:t>cile </a:t>
            </a:r>
            <a:r>
              <a:rPr sz="2400" b="1" dirty="0">
                <a:solidFill>
                  <a:prstClr val="black"/>
                </a:solidFill>
                <a:cs typeface="Arial"/>
              </a:rPr>
              <a:t>U</a:t>
            </a:r>
            <a:r>
              <a:rPr sz="2400" spc="5" dirty="0">
                <a:solidFill>
                  <a:prstClr val="black"/>
                </a:solidFill>
                <a:cs typeface="Arial"/>
              </a:rPr>
              <a:t>)</a:t>
            </a:r>
            <a:r>
              <a:rPr sz="2400" spc="-10" dirty="0">
                <a:solidFill>
                  <a:prstClr val="black"/>
                </a:solidFill>
                <a:cs typeface="Arial"/>
              </a:rPr>
              <a:t>; </a:t>
            </a:r>
            <a:r>
              <a:rPr sz="2400" spc="-15" dirty="0">
                <a:solidFill>
                  <a:prstClr val="black"/>
                </a:solidFill>
                <a:cs typeface="Arial"/>
              </a:rPr>
              <a:t>f</a:t>
            </a:r>
            <a:r>
              <a:rPr sz="2400" dirty="0">
                <a:solidFill>
                  <a:prstClr val="black"/>
                </a:solidFill>
                <a:cs typeface="Arial"/>
              </a:rPr>
              <a:t>ix</a:t>
            </a:r>
            <a:r>
              <a:rPr sz="2400" spc="5" dirty="0">
                <a:solidFill>
                  <a:prstClr val="black"/>
                </a:solidFill>
                <a:cs typeface="Arial"/>
              </a:rPr>
              <a:t>é</a:t>
            </a:r>
            <a:r>
              <a:rPr sz="2400" dirty="0">
                <a:solidFill>
                  <a:prstClr val="black"/>
                </a:solidFill>
                <a:cs typeface="Arial"/>
              </a:rPr>
              <a:t>e s</a:t>
            </a:r>
            <a:r>
              <a:rPr sz="2400" spc="5" dirty="0">
                <a:solidFill>
                  <a:prstClr val="black"/>
                </a:solidFill>
                <a:cs typeface="Arial"/>
              </a:rPr>
              <a:t>u</a:t>
            </a:r>
            <a:r>
              <a:rPr sz="2400" dirty="0">
                <a:solidFill>
                  <a:prstClr val="black"/>
                </a:solidFill>
                <a:cs typeface="Arial"/>
              </a:rPr>
              <a:t>r le 1</a:t>
            </a:r>
            <a:r>
              <a:rPr sz="2800" spc="-30" baseline="23391" dirty="0">
                <a:solidFill>
                  <a:prstClr val="black"/>
                </a:solidFill>
                <a:cs typeface="Arial"/>
              </a:rPr>
              <a:t>e</a:t>
            </a:r>
            <a:r>
              <a:rPr sz="2800" baseline="23391" dirty="0">
                <a:solidFill>
                  <a:prstClr val="black"/>
                </a:solidFill>
                <a:cs typeface="Arial"/>
              </a:rPr>
              <a:t>r</a:t>
            </a:r>
            <a:r>
              <a:rPr sz="2800" spc="352" baseline="23391" dirty="0">
                <a:solidFill>
                  <a:prstClr val="black"/>
                </a:solidFill>
                <a:cs typeface="Arial"/>
              </a:rPr>
              <a:t> </a:t>
            </a:r>
            <a:r>
              <a:rPr sz="2400" dirty="0">
                <a:solidFill>
                  <a:prstClr val="black"/>
                </a:solidFill>
                <a:cs typeface="Arial"/>
              </a:rPr>
              <a:t>c</a:t>
            </a:r>
            <a:r>
              <a:rPr sz="2400" spc="5" dirty="0">
                <a:solidFill>
                  <a:prstClr val="black"/>
                </a:solidFill>
                <a:cs typeface="Arial"/>
              </a:rPr>
              <a:t>arbon</a:t>
            </a:r>
            <a:r>
              <a:rPr sz="2400" dirty="0">
                <a:solidFill>
                  <a:prstClr val="black"/>
                </a:solidFill>
                <a:cs typeface="Arial"/>
              </a:rPr>
              <a:t>e </a:t>
            </a:r>
            <a:r>
              <a:rPr sz="2400" spc="5" dirty="0">
                <a:solidFill>
                  <a:prstClr val="black"/>
                </a:solidFill>
                <a:cs typeface="Arial"/>
              </a:rPr>
              <a:t>d</a:t>
            </a:r>
            <a:r>
              <a:rPr sz="2400" dirty="0">
                <a:solidFill>
                  <a:prstClr val="black"/>
                </a:solidFill>
                <a:cs typeface="Arial"/>
              </a:rPr>
              <a:t>e l’</a:t>
            </a:r>
            <a:r>
              <a:rPr sz="2400" spc="5" dirty="0">
                <a:solidFill>
                  <a:prstClr val="black"/>
                </a:solidFill>
                <a:cs typeface="Arial"/>
              </a:rPr>
              <a:t>o</a:t>
            </a:r>
            <a:r>
              <a:rPr sz="2400" dirty="0">
                <a:solidFill>
                  <a:prstClr val="black"/>
                </a:solidFill>
                <a:cs typeface="Arial"/>
              </a:rPr>
              <a:t>se </a:t>
            </a:r>
            <a:r>
              <a:rPr sz="2400" spc="5" dirty="0">
                <a:solidFill>
                  <a:prstClr val="black"/>
                </a:solidFill>
                <a:cs typeface="Arial"/>
              </a:rPr>
              <a:t>pa</a:t>
            </a:r>
            <a:r>
              <a:rPr sz="2400" dirty="0">
                <a:solidFill>
                  <a:prstClr val="black"/>
                </a:solidFill>
                <a:cs typeface="Arial"/>
              </a:rPr>
              <a:t>r </a:t>
            </a:r>
            <a:r>
              <a:rPr sz="2400" spc="5" dirty="0">
                <a:solidFill>
                  <a:prstClr val="black"/>
                </a:solidFill>
                <a:cs typeface="Arial"/>
              </a:rPr>
              <a:t>un</a:t>
            </a:r>
            <a:r>
              <a:rPr sz="2400" dirty="0">
                <a:solidFill>
                  <a:prstClr val="black"/>
                </a:solidFill>
                <a:cs typeface="Arial"/>
              </a:rPr>
              <a:t>e </a:t>
            </a:r>
            <a:r>
              <a:rPr sz="2400" b="1" spc="-15" dirty="0">
                <a:solidFill>
                  <a:prstClr val="black"/>
                </a:solidFill>
                <a:cs typeface="Arial"/>
              </a:rPr>
              <a:t>li</a:t>
            </a:r>
            <a:r>
              <a:rPr sz="2400" b="1" spc="-20" dirty="0">
                <a:solidFill>
                  <a:prstClr val="black"/>
                </a:solidFill>
                <a:cs typeface="Arial"/>
              </a:rPr>
              <a:t>a</a:t>
            </a:r>
            <a:r>
              <a:rPr sz="2400" b="1" spc="-15" dirty="0">
                <a:solidFill>
                  <a:prstClr val="black"/>
                </a:solidFill>
                <a:cs typeface="Arial"/>
              </a:rPr>
              <a:t>i</a:t>
            </a:r>
            <a:r>
              <a:rPr sz="2400" b="1" spc="-20" dirty="0">
                <a:solidFill>
                  <a:prstClr val="black"/>
                </a:solidFill>
                <a:cs typeface="Arial"/>
              </a:rPr>
              <a:t>son</a:t>
            </a:r>
            <a:r>
              <a:rPr sz="2400" b="1" spc="-5" dirty="0">
                <a:solidFill>
                  <a:prstClr val="black"/>
                </a:solidFill>
                <a:cs typeface="Arial"/>
              </a:rPr>
              <a:t> </a:t>
            </a:r>
            <a:r>
              <a:rPr sz="2400" b="1" spc="-20" dirty="0">
                <a:solidFill>
                  <a:prstClr val="black"/>
                </a:solidFill>
                <a:cs typeface="Arial"/>
              </a:rPr>
              <a:t>o</a:t>
            </a:r>
            <a:r>
              <a:rPr sz="2400" b="1" dirty="0">
                <a:solidFill>
                  <a:prstClr val="black"/>
                </a:solidFill>
                <a:cs typeface="Arial"/>
              </a:rPr>
              <a:t>s</a:t>
            </a:r>
            <a:r>
              <a:rPr sz="2400" b="1" spc="-15" dirty="0">
                <a:solidFill>
                  <a:prstClr val="black"/>
                </a:solidFill>
                <a:cs typeface="Arial"/>
              </a:rPr>
              <a:t>i</a:t>
            </a:r>
            <a:r>
              <a:rPr sz="2400" b="1" spc="-20" dirty="0">
                <a:solidFill>
                  <a:prstClr val="black"/>
                </a:solidFill>
                <a:cs typeface="Arial"/>
              </a:rPr>
              <a:t>d</a:t>
            </a:r>
            <a:r>
              <a:rPr sz="2400" b="1" spc="-15" dirty="0">
                <a:solidFill>
                  <a:prstClr val="black"/>
                </a:solidFill>
                <a:cs typeface="Arial"/>
              </a:rPr>
              <a:t>i</a:t>
            </a:r>
            <a:r>
              <a:rPr sz="2400" b="1" spc="-20" dirty="0">
                <a:solidFill>
                  <a:prstClr val="black"/>
                </a:solidFill>
                <a:cs typeface="Arial"/>
              </a:rPr>
              <a:t>qu</a:t>
            </a:r>
            <a:r>
              <a:rPr sz="2400" b="1" dirty="0">
                <a:solidFill>
                  <a:prstClr val="black"/>
                </a:solidFill>
                <a:cs typeface="Arial"/>
              </a:rPr>
              <a:t>e</a:t>
            </a:r>
            <a:endParaRPr sz="2400" dirty="0">
              <a:solidFill>
                <a:prstClr val="black"/>
              </a:solidFill>
              <a:cs typeface="Arial"/>
            </a:endParaRPr>
          </a:p>
          <a:p>
            <a:pPr marL="698500" lvl="1" indent="-228600">
              <a:spcBef>
                <a:spcPts val="2540"/>
              </a:spcBef>
              <a:buFont typeface="Arial"/>
              <a:buChar char="•"/>
              <a:tabLst>
                <a:tab pos="698500" algn="l"/>
              </a:tabLst>
            </a:pPr>
            <a:r>
              <a:rPr sz="2400" b="1" spc="-25" dirty="0">
                <a:solidFill>
                  <a:prstClr val="black"/>
                </a:solidFill>
                <a:cs typeface="Arial"/>
              </a:rPr>
              <a:t>P</a:t>
            </a:r>
            <a:r>
              <a:rPr sz="2400" b="1" spc="-20" dirty="0">
                <a:solidFill>
                  <a:prstClr val="black"/>
                </a:solidFill>
                <a:cs typeface="Arial"/>
              </a:rPr>
              <a:t>ho</a:t>
            </a:r>
            <a:r>
              <a:rPr sz="2400" b="1" spc="5" dirty="0">
                <a:solidFill>
                  <a:prstClr val="black"/>
                </a:solidFill>
                <a:cs typeface="Arial"/>
              </a:rPr>
              <a:t>s</a:t>
            </a:r>
            <a:r>
              <a:rPr sz="2400" b="1" spc="-20" dirty="0">
                <a:solidFill>
                  <a:prstClr val="black"/>
                </a:solidFill>
                <a:cs typeface="Arial"/>
              </a:rPr>
              <a:t>ph</a:t>
            </a:r>
            <a:r>
              <a:rPr sz="2400" b="1" spc="5" dirty="0">
                <a:solidFill>
                  <a:prstClr val="black"/>
                </a:solidFill>
                <a:cs typeface="Arial"/>
              </a:rPr>
              <a:t>at</a:t>
            </a:r>
            <a:r>
              <a:rPr sz="2400" b="1" dirty="0">
                <a:solidFill>
                  <a:prstClr val="black"/>
                </a:solidFill>
                <a:cs typeface="Arial"/>
              </a:rPr>
              <a:t>e </a:t>
            </a:r>
            <a:r>
              <a:rPr sz="2400" b="1" spc="5" dirty="0">
                <a:solidFill>
                  <a:prstClr val="black"/>
                </a:solidFill>
                <a:cs typeface="Arial"/>
              </a:rPr>
              <a:t>(</a:t>
            </a:r>
            <a:r>
              <a:rPr sz="2400" b="1" dirty="0">
                <a:solidFill>
                  <a:prstClr val="black"/>
                </a:solidFill>
                <a:cs typeface="Arial"/>
              </a:rPr>
              <a:t>1 </a:t>
            </a:r>
            <a:r>
              <a:rPr sz="2400" b="1" spc="-10" dirty="0">
                <a:solidFill>
                  <a:prstClr val="black"/>
                </a:solidFill>
                <a:cs typeface="Arial"/>
              </a:rPr>
              <a:t>,</a:t>
            </a:r>
            <a:r>
              <a:rPr sz="2400" b="1" spc="-5" dirty="0">
                <a:solidFill>
                  <a:prstClr val="black"/>
                </a:solidFill>
                <a:cs typeface="Arial"/>
              </a:rPr>
              <a:t> </a:t>
            </a:r>
            <a:r>
              <a:rPr sz="2400" b="1" dirty="0">
                <a:solidFill>
                  <a:prstClr val="black"/>
                </a:solidFill>
                <a:cs typeface="Arial"/>
              </a:rPr>
              <a:t>2 </a:t>
            </a:r>
            <a:r>
              <a:rPr sz="2400" b="1" spc="-20" dirty="0">
                <a:solidFill>
                  <a:prstClr val="black"/>
                </a:solidFill>
                <a:cs typeface="Arial"/>
              </a:rPr>
              <a:t>ou</a:t>
            </a:r>
            <a:r>
              <a:rPr sz="2400" b="1" spc="-5" dirty="0">
                <a:solidFill>
                  <a:prstClr val="black"/>
                </a:solidFill>
                <a:cs typeface="Arial"/>
              </a:rPr>
              <a:t> </a:t>
            </a:r>
            <a:r>
              <a:rPr sz="2400" b="1" spc="5" dirty="0">
                <a:solidFill>
                  <a:prstClr val="black"/>
                </a:solidFill>
                <a:cs typeface="Arial"/>
              </a:rPr>
              <a:t>3</a:t>
            </a:r>
            <a:r>
              <a:rPr sz="2400" b="1" dirty="0">
                <a:solidFill>
                  <a:prstClr val="black"/>
                </a:solidFill>
                <a:cs typeface="Arial"/>
              </a:rPr>
              <a:t>)</a:t>
            </a:r>
            <a:r>
              <a:rPr sz="2400" b="1" spc="-5" dirty="0">
                <a:solidFill>
                  <a:prstClr val="black"/>
                </a:solidFill>
                <a:cs typeface="Arial"/>
              </a:rPr>
              <a:t> </a:t>
            </a:r>
            <a:r>
              <a:rPr sz="2400" spc="5" dirty="0">
                <a:solidFill>
                  <a:prstClr val="black"/>
                </a:solidFill>
                <a:cs typeface="Arial"/>
              </a:rPr>
              <a:t>a</a:t>
            </a:r>
            <a:r>
              <a:rPr sz="2400" dirty="0">
                <a:solidFill>
                  <a:prstClr val="black"/>
                </a:solidFill>
                <a:cs typeface="Arial"/>
              </a:rPr>
              <a:t>ss</a:t>
            </a:r>
            <a:r>
              <a:rPr sz="2400" spc="5" dirty="0">
                <a:solidFill>
                  <a:prstClr val="black"/>
                </a:solidFill>
                <a:cs typeface="Arial"/>
              </a:rPr>
              <a:t>o</a:t>
            </a:r>
            <a:r>
              <a:rPr sz="2400" dirty="0">
                <a:solidFill>
                  <a:prstClr val="black"/>
                </a:solidFill>
                <a:cs typeface="Arial"/>
              </a:rPr>
              <a:t>cié </a:t>
            </a:r>
            <a:r>
              <a:rPr sz="2400" spc="5" dirty="0">
                <a:solidFill>
                  <a:prstClr val="black"/>
                </a:solidFill>
                <a:cs typeface="Arial"/>
              </a:rPr>
              <a:t>a</a:t>
            </a:r>
            <a:r>
              <a:rPr sz="2400" dirty="0">
                <a:solidFill>
                  <a:prstClr val="black"/>
                </a:solidFill>
                <a:cs typeface="Arial"/>
              </a:rPr>
              <a:t>u </a:t>
            </a:r>
            <a:r>
              <a:rPr sz="2400" spc="5" dirty="0">
                <a:solidFill>
                  <a:prstClr val="black"/>
                </a:solidFill>
                <a:cs typeface="Arial"/>
              </a:rPr>
              <a:t>5</a:t>
            </a:r>
            <a:r>
              <a:rPr sz="2800" spc="-30" baseline="23391" dirty="0">
                <a:solidFill>
                  <a:prstClr val="black"/>
                </a:solidFill>
                <a:cs typeface="Arial"/>
              </a:rPr>
              <a:t>è</a:t>
            </a:r>
            <a:r>
              <a:rPr sz="2800" spc="-52" baseline="23391" dirty="0">
                <a:solidFill>
                  <a:prstClr val="black"/>
                </a:solidFill>
                <a:cs typeface="Arial"/>
              </a:rPr>
              <a:t>m</a:t>
            </a:r>
            <a:r>
              <a:rPr sz="2800" baseline="23391" dirty="0">
                <a:solidFill>
                  <a:prstClr val="black"/>
                </a:solidFill>
                <a:cs typeface="Arial"/>
              </a:rPr>
              <a:t>e</a:t>
            </a:r>
            <a:r>
              <a:rPr sz="2800" spc="337" baseline="23391" dirty="0">
                <a:solidFill>
                  <a:prstClr val="black"/>
                </a:solidFill>
                <a:cs typeface="Arial"/>
              </a:rPr>
              <a:t> </a:t>
            </a:r>
            <a:r>
              <a:rPr sz="2400" dirty="0">
                <a:solidFill>
                  <a:prstClr val="black"/>
                </a:solidFill>
                <a:cs typeface="Arial"/>
              </a:rPr>
              <a:t>c</a:t>
            </a:r>
            <a:r>
              <a:rPr sz="2400" spc="5" dirty="0">
                <a:solidFill>
                  <a:prstClr val="black"/>
                </a:solidFill>
                <a:cs typeface="Arial"/>
              </a:rPr>
              <a:t>arbon</a:t>
            </a:r>
            <a:r>
              <a:rPr sz="2400" dirty="0">
                <a:solidFill>
                  <a:prstClr val="black"/>
                </a:solidFill>
                <a:cs typeface="Arial"/>
              </a:rPr>
              <a:t>e </a:t>
            </a:r>
            <a:r>
              <a:rPr sz="2400" spc="5" dirty="0">
                <a:solidFill>
                  <a:prstClr val="black"/>
                </a:solidFill>
                <a:cs typeface="Arial"/>
              </a:rPr>
              <a:t>d</a:t>
            </a:r>
            <a:r>
              <a:rPr sz="2400" dirty="0">
                <a:solidFill>
                  <a:prstClr val="black"/>
                </a:solidFill>
                <a:cs typeface="Arial"/>
              </a:rPr>
              <a:t>e l’</a:t>
            </a:r>
            <a:r>
              <a:rPr sz="2400" spc="5" dirty="0">
                <a:solidFill>
                  <a:prstClr val="black"/>
                </a:solidFill>
                <a:cs typeface="Arial"/>
              </a:rPr>
              <a:t>o</a:t>
            </a:r>
            <a:r>
              <a:rPr sz="2400" dirty="0">
                <a:solidFill>
                  <a:prstClr val="black"/>
                </a:solidFill>
                <a:cs typeface="Arial"/>
              </a:rPr>
              <a:t>se</a:t>
            </a:r>
          </a:p>
          <a:p>
            <a:pPr lvl="1">
              <a:buFont typeface="Arial"/>
              <a:buChar char="•"/>
            </a:pPr>
            <a:endParaRPr sz="2400" dirty="0">
              <a:solidFill>
                <a:prstClr val="black"/>
              </a:solidFill>
              <a:cs typeface="Times New Roman"/>
            </a:endParaRPr>
          </a:p>
          <a:p>
            <a:pPr marL="241300" indent="-228600">
              <a:buFont typeface="Arial"/>
              <a:buChar char="•"/>
              <a:tabLst>
                <a:tab pos="241300" algn="l"/>
              </a:tabLst>
            </a:pPr>
            <a:r>
              <a:rPr sz="2400" spc="5" dirty="0">
                <a:solidFill>
                  <a:prstClr val="black"/>
                </a:solidFill>
                <a:cs typeface="Arial"/>
              </a:rPr>
              <a:t>Le</a:t>
            </a:r>
            <a:r>
              <a:rPr sz="2400" dirty="0">
                <a:solidFill>
                  <a:prstClr val="black"/>
                </a:solidFill>
                <a:cs typeface="Arial"/>
              </a:rPr>
              <a:t>s</a:t>
            </a:r>
            <a:r>
              <a:rPr sz="2400" spc="-5" dirty="0">
                <a:solidFill>
                  <a:prstClr val="black"/>
                </a:solidFill>
                <a:cs typeface="Arial"/>
              </a:rPr>
              <a:t> </a:t>
            </a:r>
            <a:r>
              <a:rPr sz="2400" spc="5" dirty="0">
                <a:solidFill>
                  <a:prstClr val="black"/>
                </a:solidFill>
                <a:cs typeface="Arial"/>
              </a:rPr>
              <a:t>nu</a:t>
            </a:r>
            <a:r>
              <a:rPr sz="2400" dirty="0">
                <a:solidFill>
                  <a:prstClr val="black"/>
                </a:solidFill>
                <a:cs typeface="Arial"/>
              </a:rPr>
              <a:t>cl</a:t>
            </a:r>
            <a:r>
              <a:rPr sz="2400" spc="5" dirty="0">
                <a:solidFill>
                  <a:prstClr val="black"/>
                </a:solidFill>
                <a:cs typeface="Arial"/>
              </a:rPr>
              <a:t>éo</a:t>
            </a:r>
            <a:r>
              <a:rPr sz="2400" spc="-15" dirty="0">
                <a:solidFill>
                  <a:prstClr val="black"/>
                </a:solidFill>
                <a:cs typeface="Arial"/>
              </a:rPr>
              <a:t>t</a:t>
            </a:r>
            <a:r>
              <a:rPr sz="2400" dirty="0">
                <a:solidFill>
                  <a:prstClr val="black"/>
                </a:solidFill>
                <a:cs typeface="Arial"/>
              </a:rPr>
              <a:t>i</a:t>
            </a:r>
            <a:r>
              <a:rPr sz="2400" spc="5" dirty="0">
                <a:solidFill>
                  <a:prstClr val="black"/>
                </a:solidFill>
                <a:cs typeface="Arial"/>
              </a:rPr>
              <a:t>de</a:t>
            </a:r>
            <a:r>
              <a:rPr sz="2400" dirty="0">
                <a:solidFill>
                  <a:prstClr val="black"/>
                </a:solidFill>
                <a:cs typeface="Arial"/>
              </a:rPr>
              <a:t>s</a:t>
            </a:r>
            <a:r>
              <a:rPr sz="2400" spc="-5" dirty="0">
                <a:solidFill>
                  <a:prstClr val="black"/>
                </a:solidFill>
                <a:cs typeface="Arial"/>
              </a:rPr>
              <a:t> </a:t>
            </a:r>
            <a:r>
              <a:rPr sz="2400" spc="5" dirty="0">
                <a:solidFill>
                  <a:prstClr val="black"/>
                </a:solidFill>
                <a:cs typeface="Arial"/>
              </a:rPr>
              <a:t>peu</a:t>
            </a:r>
            <a:r>
              <a:rPr sz="2400" dirty="0">
                <a:solidFill>
                  <a:prstClr val="black"/>
                </a:solidFill>
                <a:cs typeface="Arial"/>
              </a:rPr>
              <a:t>v</a:t>
            </a:r>
            <a:r>
              <a:rPr sz="2400" spc="5" dirty="0">
                <a:solidFill>
                  <a:prstClr val="black"/>
                </a:solidFill>
                <a:cs typeface="Arial"/>
              </a:rPr>
              <a:t>en</a:t>
            </a:r>
            <a:r>
              <a:rPr sz="2400" spc="-10" dirty="0">
                <a:solidFill>
                  <a:prstClr val="black"/>
                </a:solidFill>
                <a:cs typeface="Arial"/>
              </a:rPr>
              <a:t>t </a:t>
            </a:r>
            <a:r>
              <a:rPr sz="2400" spc="5" dirty="0">
                <a:solidFill>
                  <a:prstClr val="black"/>
                </a:solidFill>
                <a:cs typeface="Arial"/>
              </a:rPr>
              <a:t>ê</a:t>
            </a:r>
            <a:r>
              <a:rPr sz="2400" spc="-15" dirty="0">
                <a:solidFill>
                  <a:prstClr val="black"/>
                </a:solidFill>
                <a:cs typeface="Arial"/>
              </a:rPr>
              <a:t>t</a:t>
            </a:r>
            <a:r>
              <a:rPr sz="2400" spc="5" dirty="0">
                <a:solidFill>
                  <a:prstClr val="black"/>
                </a:solidFill>
                <a:cs typeface="Arial"/>
              </a:rPr>
              <a:t>r</a:t>
            </a:r>
            <a:r>
              <a:rPr sz="2400" dirty="0">
                <a:solidFill>
                  <a:prstClr val="black"/>
                </a:solidFill>
                <a:cs typeface="Arial"/>
              </a:rPr>
              <a:t>e </a:t>
            </a:r>
            <a:r>
              <a:rPr sz="2400" spc="5" dirty="0">
                <a:solidFill>
                  <a:prstClr val="black"/>
                </a:solidFill>
                <a:cs typeface="Arial"/>
              </a:rPr>
              <a:t>mono-</a:t>
            </a:r>
            <a:r>
              <a:rPr sz="2400" spc="-10" dirty="0">
                <a:solidFill>
                  <a:prstClr val="black"/>
                </a:solidFill>
                <a:cs typeface="Arial"/>
              </a:rPr>
              <a:t>, </a:t>
            </a:r>
            <a:r>
              <a:rPr sz="2400" dirty="0">
                <a:solidFill>
                  <a:prstClr val="black"/>
                </a:solidFill>
                <a:cs typeface="Arial"/>
              </a:rPr>
              <a:t>di- ou </a:t>
            </a:r>
            <a:r>
              <a:rPr sz="2400" spc="-15" dirty="0">
                <a:solidFill>
                  <a:prstClr val="black"/>
                </a:solidFill>
                <a:cs typeface="Arial"/>
              </a:rPr>
              <a:t>t</a:t>
            </a:r>
            <a:r>
              <a:rPr sz="2400" spc="-5" dirty="0">
                <a:solidFill>
                  <a:prstClr val="black"/>
                </a:solidFill>
                <a:cs typeface="Arial"/>
              </a:rPr>
              <a:t>r</a:t>
            </a:r>
            <a:r>
              <a:rPr sz="2400" dirty="0">
                <a:solidFill>
                  <a:prstClr val="black"/>
                </a:solidFill>
                <a:cs typeface="Arial"/>
              </a:rPr>
              <a:t>i</a:t>
            </a:r>
            <a:r>
              <a:rPr sz="2400" spc="5" dirty="0">
                <a:solidFill>
                  <a:prstClr val="black"/>
                </a:solidFill>
                <a:cs typeface="Arial"/>
              </a:rPr>
              <a:t>-pho</a:t>
            </a:r>
            <a:r>
              <a:rPr sz="2400" dirty="0">
                <a:solidFill>
                  <a:prstClr val="black"/>
                </a:solidFill>
                <a:cs typeface="Arial"/>
              </a:rPr>
              <a:t>s</a:t>
            </a:r>
            <a:r>
              <a:rPr sz="2400" spc="5" dirty="0">
                <a:solidFill>
                  <a:prstClr val="black"/>
                </a:solidFill>
                <a:cs typeface="Arial"/>
              </a:rPr>
              <a:t>pha</a:t>
            </a:r>
            <a:r>
              <a:rPr sz="2400" spc="-15" dirty="0">
                <a:solidFill>
                  <a:prstClr val="black"/>
                </a:solidFill>
                <a:cs typeface="Arial"/>
              </a:rPr>
              <a:t>t</a:t>
            </a:r>
            <a:r>
              <a:rPr sz="2400" dirty="0">
                <a:solidFill>
                  <a:prstClr val="black"/>
                </a:solidFill>
                <a:cs typeface="Arial"/>
              </a:rPr>
              <a:t>é</a:t>
            </a:r>
          </a:p>
          <a:p>
            <a:endParaRPr sz="2400" dirty="0">
              <a:solidFill>
                <a:prstClr val="black"/>
              </a:solidFill>
              <a:cs typeface="Times New Roman"/>
            </a:endParaRPr>
          </a:p>
        </p:txBody>
      </p:sp>
      <p:sp>
        <p:nvSpPr>
          <p:cNvPr id="3" name="Rectangle 2"/>
          <p:cNvSpPr/>
          <p:nvPr/>
        </p:nvSpPr>
        <p:spPr>
          <a:xfrm>
            <a:off x="1215159" y="-123706"/>
            <a:ext cx="3946721" cy="707886"/>
          </a:xfrm>
          <a:prstGeom prst="rect">
            <a:avLst/>
          </a:prstGeom>
          <a:noFill/>
        </p:spPr>
        <p:txBody>
          <a:bodyPr wrap="none" rtlCol="0">
            <a:spAutoFit/>
          </a:bodyPr>
          <a:lstStyle/>
          <a:p>
            <a:r>
              <a:rPr lang="fr-FR" sz="4000" dirty="0">
                <a:solidFill>
                  <a:srgbClr val="42BA97"/>
                </a:solidFill>
              </a:rPr>
              <a:t>3- Les </a:t>
            </a:r>
            <a:r>
              <a:rPr lang="fr-FR" sz="4000" dirty="0">
                <a:solidFill>
                  <a:srgbClr val="42BA97"/>
                </a:solidFill>
              </a:rPr>
              <a:t>nucléotides</a:t>
            </a:r>
          </a:p>
        </p:txBody>
      </p:sp>
      <p:pic>
        <p:nvPicPr>
          <p:cNvPr id="4" name="Imag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98922" y="1431031"/>
            <a:ext cx="5452883" cy="5001778"/>
          </a:xfrm>
          <a:prstGeom prst="rect">
            <a:avLst/>
          </a:prstGeom>
        </p:spPr>
      </p:pic>
    </p:spTree>
    <p:extLst>
      <p:ext uri="{BB962C8B-B14F-4D97-AF65-F5344CB8AC3E}">
        <p14:creationId xmlns:p14="http://schemas.microsoft.com/office/powerpoint/2010/main" val="867288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p:cNvSpPr txBox="1"/>
          <p:nvPr/>
        </p:nvSpPr>
        <p:spPr>
          <a:xfrm>
            <a:off x="688340" y="1123076"/>
            <a:ext cx="10062210" cy="5175776"/>
          </a:xfrm>
          <a:prstGeom prst="rect">
            <a:avLst/>
          </a:prstGeom>
        </p:spPr>
        <p:txBody>
          <a:bodyPr vert="horz" wrap="square" lIns="0" tIns="0" rIns="0" bIns="0" rtlCol="0">
            <a:spAutoFit/>
          </a:bodyPr>
          <a:lstStyle/>
          <a:p>
            <a:pPr marL="12700">
              <a:tabLst>
                <a:tab pos="241300" algn="l"/>
              </a:tabLst>
            </a:pPr>
            <a:r>
              <a:rPr sz="2400" spc="-25" dirty="0">
                <a:solidFill>
                  <a:prstClr val="black"/>
                </a:solidFill>
                <a:cs typeface="Arial"/>
              </a:rPr>
              <a:t>P</a:t>
            </a:r>
            <a:r>
              <a:rPr sz="2400" dirty="0">
                <a:solidFill>
                  <a:prstClr val="black"/>
                </a:solidFill>
                <a:cs typeface="Arial"/>
              </a:rPr>
              <a:t>l</a:t>
            </a:r>
            <a:r>
              <a:rPr sz="2400" spc="5" dirty="0">
                <a:solidFill>
                  <a:prstClr val="black"/>
                </a:solidFill>
                <a:cs typeface="Arial"/>
              </a:rPr>
              <a:t>u</a:t>
            </a:r>
            <a:r>
              <a:rPr sz="2400" dirty="0">
                <a:solidFill>
                  <a:prstClr val="black"/>
                </a:solidFill>
                <a:cs typeface="Arial"/>
              </a:rPr>
              <a:t>si</a:t>
            </a:r>
            <a:r>
              <a:rPr sz="2400" spc="5" dirty="0">
                <a:solidFill>
                  <a:prstClr val="black"/>
                </a:solidFill>
                <a:cs typeface="Arial"/>
              </a:rPr>
              <a:t>eur</a:t>
            </a:r>
            <a:r>
              <a:rPr sz="2400" dirty="0">
                <a:solidFill>
                  <a:prstClr val="black"/>
                </a:solidFill>
                <a:cs typeface="Arial"/>
              </a:rPr>
              <a:t>s</a:t>
            </a:r>
            <a:r>
              <a:rPr sz="2400" spc="-5" dirty="0">
                <a:solidFill>
                  <a:prstClr val="black"/>
                </a:solidFill>
                <a:cs typeface="Arial"/>
              </a:rPr>
              <a:t> </a:t>
            </a:r>
            <a:r>
              <a:rPr sz="2400" b="1" spc="5" dirty="0">
                <a:solidFill>
                  <a:srgbClr val="FF0000"/>
                </a:solidFill>
                <a:cs typeface="Arial"/>
              </a:rPr>
              <a:t>c</a:t>
            </a:r>
            <a:r>
              <a:rPr sz="2400" b="1" spc="-20" dirty="0">
                <a:solidFill>
                  <a:srgbClr val="FF0000"/>
                </a:solidFill>
                <a:cs typeface="Arial"/>
              </a:rPr>
              <a:t>o</a:t>
            </a:r>
            <a:r>
              <a:rPr sz="2400" b="1" spc="5" dirty="0">
                <a:solidFill>
                  <a:srgbClr val="FF0000"/>
                </a:solidFill>
                <a:cs typeface="Arial"/>
              </a:rPr>
              <a:t>e</a:t>
            </a:r>
            <a:r>
              <a:rPr sz="2400" b="1" spc="-20" dirty="0">
                <a:solidFill>
                  <a:srgbClr val="FF0000"/>
                </a:solidFill>
                <a:cs typeface="Arial"/>
              </a:rPr>
              <a:t>n</a:t>
            </a:r>
            <a:r>
              <a:rPr sz="2400" b="1" dirty="0">
                <a:solidFill>
                  <a:srgbClr val="FF0000"/>
                </a:solidFill>
                <a:cs typeface="Arial"/>
              </a:rPr>
              <a:t>z</a:t>
            </a:r>
            <a:r>
              <a:rPr sz="2400" b="1" spc="5" dirty="0">
                <a:solidFill>
                  <a:srgbClr val="FF0000"/>
                </a:solidFill>
                <a:cs typeface="Arial"/>
              </a:rPr>
              <a:t>y</a:t>
            </a:r>
            <a:r>
              <a:rPr sz="2400" b="1" spc="-5" dirty="0">
                <a:solidFill>
                  <a:srgbClr val="FF0000"/>
                </a:solidFill>
                <a:cs typeface="Arial"/>
              </a:rPr>
              <a:t>m</a:t>
            </a:r>
            <a:r>
              <a:rPr sz="2400" b="1" spc="5" dirty="0">
                <a:solidFill>
                  <a:srgbClr val="FF0000"/>
                </a:solidFill>
                <a:cs typeface="Arial"/>
              </a:rPr>
              <a:t>e</a:t>
            </a:r>
            <a:r>
              <a:rPr sz="2400" b="1" dirty="0">
                <a:solidFill>
                  <a:srgbClr val="FF0000"/>
                </a:solidFill>
                <a:cs typeface="Arial"/>
              </a:rPr>
              <a:t>s</a:t>
            </a:r>
            <a:r>
              <a:rPr sz="2400" b="1" dirty="0">
                <a:solidFill>
                  <a:srgbClr val="941651"/>
                </a:solidFill>
                <a:cs typeface="Arial"/>
              </a:rPr>
              <a:t> </a:t>
            </a:r>
            <a:r>
              <a:rPr sz="2400" dirty="0">
                <a:solidFill>
                  <a:prstClr val="black"/>
                </a:solidFill>
                <a:cs typeface="Arial"/>
              </a:rPr>
              <a:t>s</a:t>
            </a:r>
            <a:r>
              <a:rPr sz="2400" spc="5" dirty="0">
                <a:solidFill>
                  <a:prstClr val="black"/>
                </a:solidFill>
                <a:cs typeface="Arial"/>
              </a:rPr>
              <a:t>on</a:t>
            </a:r>
            <a:r>
              <a:rPr sz="2400" spc="-10" dirty="0">
                <a:solidFill>
                  <a:prstClr val="black"/>
                </a:solidFill>
                <a:cs typeface="Arial"/>
              </a:rPr>
              <a:t>t </a:t>
            </a:r>
            <a:r>
              <a:rPr sz="2400" spc="-15" dirty="0">
                <a:solidFill>
                  <a:prstClr val="black"/>
                </a:solidFill>
                <a:cs typeface="Arial"/>
              </a:rPr>
              <a:t>f</a:t>
            </a:r>
            <a:r>
              <a:rPr sz="2400" spc="5" dirty="0">
                <a:solidFill>
                  <a:prstClr val="black"/>
                </a:solidFill>
                <a:cs typeface="Arial"/>
              </a:rPr>
              <a:t>ormé</a:t>
            </a:r>
            <a:r>
              <a:rPr sz="2400" dirty="0">
                <a:solidFill>
                  <a:prstClr val="black"/>
                </a:solidFill>
                <a:cs typeface="Arial"/>
              </a:rPr>
              <a:t>s</a:t>
            </a:r>
            <a:r>
              <a:rPr sz="2400" spc="-5" dirty="0">
                <a:solidFill>
                  <a:prstClr val="black"/>
                </a:solidFill>
                <a:cs typeface="Arial"/>
              </a:rPr>
              <a:t> </a:t>
            </a:r>
            <a:r>
              <a:rPr sz="2400" dirty="0">
                <a:solidFill>
                  <a:prstClr val="black"/>
                </a:solidFill>
                <a:cs typeface="Arial"/>
              </a:rPr>
              <a:t>à </a:t>
            </a:r>
            <a:r>
              <a:rPr sz="2400" spc="5" dirty="0">
                <a:solidFill>
                  <a:prstClr val="black"/>
                </a:solidFill>
                <a:cs typeface="Arial"/>
              </a:rPr>
              <a:t>par</a:t>
            </a:r>
            <a:r>
              <a:rPr sz="2400" spc="-15" dirty="0">
                <a:solidFill>
                  <a:prstClr val="black"/>
                </a:solidFill>
                <a:cs typeface="Arial"/>
              </a:rPr>
              <a:t>t</a:t>
            </a:r>
            <a:r>
              <a:rPr sz="2400" dirty="0">
                <a:solidFill>
                  <a:prstClr val="black"/>
                </a:solidFill>
                <a:cs typeface="Arial"/>
              </a:rPr>
              <a:t>ir </a:t>
            </a:r>
            <a:r>
              <a:rPr sz="2400" spc="5" dirty="0">
                <a:solidFill>
                  <a:prstClr val="black"/>
                </a:solidFill>
                <a:cs typeface="Arial"/>
              </a:rPr>
              <a:t>d</a:t>
            </a:r>
            <a:r>
              <a:rPr sz="2400" dirty="0">
                <a:solidFill>
                  <a:prstClr val="black"/>
                </a:solidFill>
                <a:cs typeface="Arial"/>
              </a:rPr>
              <a:t>e </a:t>
            </a:r>
            <a:r>
              <a:rPr sz="2400" spc="5" dirty="0">
                <a:solidFill>
                  <a:prstClr val="black"/>
                </a:solidFill>
                <a:cs typeface="Arial"/>
              </a:rPr>
              <a:t>nu</a:t>
            </a:r>
            <a:r>
              <a:rPr sz="2400" dirty="0">
                <a:solidFill>
                  <a:prstClr val="black"/>
                </a:solidFill>
                <a:cs typeface="Arial"/>
              </a:rPr>
              <a:t>cl</a:t>
            </a:r>
            <a:r>
              <a:rPr sz="2400" spc="5" dirty="0">
                <a:solidFill>
                  <a:prstClr val="black"/>
                </a:solidFill>
                <a:cs typeface="Arial"/>
              </a:rPr>
              <a:t>éo</a:t>
            </a:r>
            <a:r>
              <a:rPr sz="2400" spc="-15" dirty="0">
                <a:solidFill>
                  <a:prstClr val="black"/>
                </a:solidFill>
                <a:cs typeface="Arial"/>
              </a:rPr>
              <a:t>t</a:t>
            </a:r>
            <a:r>
              <a:rPr sz="2400" dirty="0">
                <a:solidFill>
                  <a:prstClr val="black"/>
                </a:solidFill>
                <a:cs typeface="Arial"/>
              </a:rPr>
              <a:t>i</a:t>
            </a:r>
            <a:r>
              <a:rPr sz="2400" spc="5" dirty="0">
                <a:solidFill>
                  <a:prstClr val="black"/>
                </a:solidFill>
                <a:cs typeface="Arial"/>
              </a:rPr>
              <a:t>de</a:t>
            </a:r>
            <a:r>
              <a:rPr sz="2400" dirty="0">
                <a:solidFill>
                  <a:prstClr val="black"/>
                </a:solidFill>
                <a:cs typeface="Arial"/>
              </a:rPr>
              <a:t>s</a:t>
            </a:r>
          </a:p>
          <a:p>
            <a:pPr>
              <a:spcBef>
                <a:spcPts val="34"/>
              </a:spcBef>
              <a:buFont typeface="Arial"/>
              <a:buChar char="•"/>
            </a:pPr>
            <a:endParaRPr sz="2400" dirty="0">
              <a:solidFill>
                <a:prstClr val="black"/>
              </a:solidFill>
              <a:cs typeface="Times New Roman"/>
            </a:endParaRPr>
          </a:p>
          <a:p>
            <a:pPr marL="241300" indent="-228600">
              <a:buFont typeface="Arial"/>
              <a:buChar char="•"/>
              <a:tabLst>
                <a:tab pos="241300" algn="l"/>
              </a:tabLst>
            </a:pPr>
            <a:r>
              <a:rPr sz="2400" spc="-25" dirty="0">
                <a:solidFill>
                  <a:prstClr val="black"/>
                </a:solidFill>
                <a:cs typeface="Arial"/>
              </a:rPr>
              <a:t>A</a:t>
            </a:r>
            <a:r>
              <a:rPr sz="2400" b="1" spc="5" dirty="0">
                <a:solidFill>
                  <a:prstClr val="black"/>
                </a:solidFill>
                <a:cs typeface="Arial"/>
              </a:rPr>
              <a:t>M</a:t>
            </a:r>
            <a:r>
              <a:rPr sz="2400" spc="-20" dirty="0">
                <a:solidFill>
                  <a:prstClr val="black"/>
                </a:solidFill>
                <a:cs typeface="Arial"/>
              </a:rPr>
              <a:t>P</a:t>
            </a:r>
            <a:r>
              <a:rPr sz="2400" spc="-60" dirty="0">
                <a:solidFill>
                  <a:prstClr val="black"/>
                </a:solidFill>
                <a:cs typeface="Arial"/>
              </a:rPr>
              <a:t> </a:t>
            </a:r>
            <a:r>
              <a:rPr sz="2400" spc="-20" dirty="0">
                <a:solidFill>
                  <a:prstClr val="black"/>
                </a:solidFill>
                <a:cs typeface="Arial"/>
              </a:rPr>
              <a:t>=</a:t>
            </a:r>
            <a:r>
              <a:rPr sz="2400" spc="-155" dirty="0">
                <a:solidFill>
                  <a:prstClr val="black"/>
                </a:solidFill>
                <a:cs typeface="Arial"/>
              </a:rPr>
              <a:t> </a:t>
            </a:r>
            <a:r>
              <a:rPr sz="2400" spc="-25" dirty="0">
                <a:solidFill>
                  <a:prstClr val="black"/>
                </a:solidFill>
                <a:cs typeface="Arial"/>
              </a:rPr>
              <a:t>A</a:t>
            </a:r>
            <a:r>
              <a:rPr sz="2400" spc="5" dirty="0">
                <a:solidFill>
                  <a:prstClr val="black"/>
                </a:solidFill>
                <a:cs typeface="Arial"/>
              </a:rPr>
              <a:t>déno</a:t>
            </a:r>
            <a:r>
              <a:rPr sz="2400" dirty="0">
                <a:solidFill>
                  <a:prstClr val="black"/>
                </a:solidFill>
                <a:cs typeface="Arial"/>
              </a:rPr>
              <a:t>si</a:t>
            </a:r>
            <a:r>
              <a:rPr sz="2400" spc="5" dirty="0">
                <a:solidFill>
                  <a:prstClr val="black"/>
                </a:solidFill>
                <a:cs typeface="Arial"/>
              </a:rPr>
              <a:t>n</a:t>
            </a:r>
            <a:r>
              <a:rPr sz="2400" dirty="0">
                <a:solidFill>
                  <a:prstClr val="black"/>
                </a:solidFill>
                <a:cs typeface="Arial"/>
              </a:rPr>
              <a:t>e </a:t>
            </a:r>
            <a:r>
              <a:rPr sz="2400" spc="5" dirty="0">
                <a:solidFill>
                  <a:prstClr val="black"/>
                </a:solidFill>
                <a:cs typeface="Arial"/>
              </a:rPr>
              <a:t>monopho</a:t>
            </a:r>
            <a:r>
              <a:rPr sz="2400" dirty="0">
                <a:solidFill>
                  <a:prstClr val="black"/>
                </a:solidFill>
                <a:cs typeface="Arial"/>
              </a:rPr>
              <a:t>s</a:t>
            </a:r>
            <a:r>
              <a:rPr sz="2400" spc="5" dirty="0">
                <a:solidFill>
                  <a:prstClr val="black"/>
                </a:solidFill>
                <a:cs typeface="Arial"/>
              </a:rPr>
              <a:t>pha</a:t>
            </a:r>
            <a:r>
              <a:rPr sz="2400" spc="-15" dirty="0">
                <a:solidFill>
                  <a:prstClr val="black"/>
                </a:solidFill>
                <a:cs typeface="Arial"/>
              </a:rPr>
              <a:t>t</a:t>
            </a:r>
            <a:r>
              <a:rPr sz="2400" dirty="0">
                <a:solidFill>
                  <a:prstClr val="black"/>
                </a:solidFill>
                <a:cs typeface="Arial"/>
              </a:rPr>
              <a:t>e </a:t>
            </a:r>
            <a:r>
              <a:rPr sz="2400" spc="5" dirty="0">
                <a:solidFill>
                  <a:prstClr val="black"/>
                </a:solidFill>
                <a:cs typeface="Arial"/>
              </a:rPr>
              <a:t>(me</a:t>
            </a:r>
            <a:r>
              <a:rPr sz="2400" dirty="0">
                <a:solidFill>
                  <a:prstClr val="black"/>
                </a:solidFill>
                <a:cs typeface="Arial"/>
              </a:rPr>
              <a:t>ss</a:t>
            </a:r>
            <a:r>
              <a:rPr sz="2400" spc="5" dirty="0">
                <a:solidFill>
                  <a:prstClr val="black"/>
                </a:solidFill>
                <a:cs typeface="Arial"/>
              </a:rPr>
              <a:t>ager</a:t>
            </a:r>
            <a:r>
              <a:rPr sz="2400" dirty="0">
                <a:solidFill>
                  <a:prstClr val="black"/>
                </a:solidFill>
                <a:cs typeface="Arial"/>
              </a:rPr>
              <a:t>)</a:t>
            </a:r>
          </a:p>
          <a:p>
            <a:pPr>
              <a:buFont typeface="Arial"/>
              <a:buChar char="•"/>
            </a:pPr>
            <a:endParaRPr sz="2400" dirty="0">
              <a:solidFill>
                <a:prstClr val="black"/>
              </a:solidFill>
              <a:cs typeface="Times New Roman"/>
            </a:endParaRPr>
          </a:p>
          <a:p>
            <a:pPr marL="241300" indent="-228600">
              <a:buFont typeface="Arial"/>
              <a:buChar char="•"/>
              <a:tabLst>
                <a:tab pos="241300" algn="l"/>
              </a:tabLst>
            </a:pPr>
            <a:r>
              <a:rPr sz="2400" spc="-25" dirty="0">
                <a:solidFill>
                  <a:prstClr val="black"/>
                </a:solidFill>
                <a:cs typeface="Arial"/>
              </a:rPr>
              <a:t>A</a:t>
            </a:r>
            <a:r>
              <a:rPr sz="2400" b="1" dirty="0">
                <a:solidFill>
                  <a:prstClr val="black"/>
                </a:solidFill>
                <a:cs typeface="Arial"/>
              </a:rPr>
              <a:t>D</a:t>
            </a:r>
            <a:r>
              <a:rPr sz="2400" spc="-20" dirty="0">
                <a:solidFill>
                  <a:prstClr val="black"/>
                </a:solidFill>
                <a:cs typeface="Arial"/>
              </a:rPr>
              <a:t>P</a:t>
            </a:r>
            <a:r>
              <a:rPr sz="2400" spc="-60" dirty="0">
                <a:solidFill>
                  <a:prstClr val="black"/>
                </a:solidFill>
                <a:cs typeface="Arial"/>
              </a:rPr>
              <a:t> </a:t>
            </a:r>
            <a:r>
              <a:rPr sz="2400" spc="-20" dirty="0">
                <a:solidFill>
                  <a:prstClr val="black"/>
                </a:solidFill>
                <a:cs typeface="Arial"/>
              </a:rPr>
              <a:t>=</a:t>
            </a:r>
            <a:r>
              <a:rPr sz="2400" spc="-155" dirty="0">
                <a:solidFill>
                  <a:prstClr val="black"/>
                </a:solidFill>
                <a:cs typeface="Arial"/>
              </a:rPr>
              <a:t> </a:t>
            </a:r>
            <a:r>
              <a:rPr sz="2400" spc="-25" dirty="0">
                <a:solidFill>
                  <a:prstClr val="black"/>
                </a:solidFill>
                <a:cs typeface="Arial"/>
              </a:rPr>
              <a:t>A</a:t>
            </a:r>
            <a:r>
              <a:rPr sz="2400" spc="5" dirty="0">
                <a:solidFill>
                  <a:prstClr val="black"/>
                </a:solidFill>
                <a:cs typeface="Arial"/>
              </a:rPr>
              <a:t>déno</a:t>
            </a:r>
            <a:r>
              <a:rPr sz="2400" dirty="0">
                <a:solidFill>
                  <a:prstClr val="black"/>
                </a:solidFill>
                <a:cs typeface="Arial"/>
              </a:rPr>
              <a:t>si</a:t>
            </a:r>
            <a:r>
              <a:rPr sz="2400" spc="5" dirty="0">
                <a:solidFill>
                  <a:prstClr val="black"/>
                </a:solidFill>
                <a:cs typeface="Arial"/>
              </a:rPr>
              <a:t>n</a:t>
            </a:r>
            <a:r>
              <a:rPr sz="2400" dirty="0">
                <a:solidFill>
                  <a:prstClr val="black"/>
                </a:solidFill>
                <a:cs typeface="Arial"/>
              </a:rPr>
              <a:t>e </a:t>
            </a:r>
            <a:r>
              <a:rPr sz="2400" spc="5" dirty="0">
                <a:solidFill>
                  <a:prstClr val="black"/>
                </a:solidFill>
                <a:cs typeface="Arial"/>
              </a:rPr>
              <a:t>d</a:t>
            </a:r>
            <a:r>
              <a:rPr sz="2400" dirty="0">
                <a:solidFill>
                  <a:prstClr val="black"/>
                </a:solidFill>
                <a:cs typeface="Arial"/>
              </a:rPr>
              <a:t>i</a:t>
            </a:r>
            <a:r>
              <a:rPr sz="2400" spc="5" dirty="0">
                <a:solidFill>
                  <a:prstClr val="black"/>
                </a:solidFill>
                <a:cs typeface="Arial"/>
              </a:rPr>
              <a:t>pho</a:t>
            </a:r>
            <a:r>
              <a:rPr sz="2400" dirty="0">
                <a:solidFill>
                  <a:prstClr val="black"/>
                </a:solidFill>
                <a:cs typeface="Arial"/>
              </a:rPr>
              <a:t>s</a:t>
            </a:r>
            <a:r>
              <a:rPr sz="2400" spc="5" dirty="0">
                <a:solidFill>
                  <a:prstClr val="black"/>
                </a:solidFill>
                <a:cs typeface="Arial"/>
              </a:rPr>
              <a:t>pha</a:t>
            </a:r>
            <a:r>
              <a:rPr sz="2400" spc="-15" dirty="0">
                <a:solidFill>
                  <a:prstClr val="black"/>
                </a:solidFill>
                <a:cs typeface="Arial"/>
              </a:rPr>
              <a:t>t</a:t>
            </a:r>
            <a:r>
              <a:rPr sz="2400" dirty="0">
                <a:solidFill>
                  <a:prstClr val="black"/>
                </a:solidFill>
                <a:cs typeface="Arial"/>
              </a:rPr>
              <a:t>e</a:t>
            </a:r>
          </a:p>
          <a:p>
            <a:pPr marL="241300" marR="5080" indent="-228600">
              <a:lnSpc>
                <a:spcPct val="125000"/>
              </a:lnSpc>
              <a:spcBef>
                <a:spcPts val="2205"/>
              </a:spcBef>
              <a:buFont typeface="Arial"/>
              <a:buChar char="•"/>
              <a:tabLst>
                <a:tab pos="241300" algn="l"/>
              </a:tabLst>
            </a:pPr>
            <a:r>
              <a:rPr sz="2400" spc="-25" dirty="0">
                <a:solidFill>
                  <a:prstClr val="black"/>
                </a:solidFill>
                <a:cs typeface="Arial"/>
              </a:rPr>
              <a:t>A</a:t>
            </a:r>
            <a:r>
              <a:rPr sz="2400" b="1" spc="-20" dirty="0">
                <a:solidFill>
                  <a:prstClr val="black"/>
                </a:solidFill>
                <a:cs typeface="Arial"/>
              </a:rPr>
              <a:t>T</a:t>
            </a:r>
            <a:r>
              <a:rPr sz="2400" spc="-20" dirty="0">
                <a:solidFill>
                  <a:prstClr val="black"/>
                </a:solidFill>
                <a:cs typeface="Arial"/>
              </a:rPr>
              <a:t>P</a:t>
            </a:r>
            <a:r>
              <a:rPr sz="2400" spc="-60" dirty="0">
                <a:solidFill>
                  <a:prstClr val="black"/>
                </a:solidFill>
                <a:cs typeface="Arial"/>
              </a:rPr>
              <a:t> </a:t>
            </a:r>
            <a:r>
              <a:rPr sz="2400" spc="-20" dirty="0">
                <a:solidFill>
                  <a:prstClr val="black"/>
                </a:solidFill>
                <a:cs typeface="Arial"/>
              </a:rPr>
              <a:t>=</a:t>
            </a:r>
            <a:r>
              <a:rPr sz="2400" spc="-155" dirty="0">
                <a:solidFill>
                  <a:prstClr val="black"/>
                </a:solidFill>
                <a:cs typeface="Arial"/>
              </a:rPr>
              <a:t> </a:t>
            </a:r>
            <a:r>
              <a:rPr sz="2400" spc="-25" dirty="0">
                <a:solidFill>
                  <a:prstClr val="black"/>
                </a:solidFill>
                <a:cs typeface="Arial"/>
              </a:rPr>
              <a:t>A</a:t>
            </a:r>
            <a:r>
              <a:rPr sz="2400" spc="5" dirty="0">
                <a:solidFill>
                  <a:prstClr val="black"/>
                </a:solidFill>
                <a:cs typeface="Arial"/>
              </a:rPr>
              <a:t>déno</a:t>
            </a:r>
            <a:r>
              <a:rPr sz="2400" dirty="0">
                <a:solidFill>
                  <a:prstClr val="black"/>
                </a:solidFill>
                <a:cs typeface="Arial"/>
              </a:rPr>
              <a:t>si</a:t>
            </a:r>
            <a:r>
              <a:rPr sz="2400" spc="5" dirty="0">
                <a:solidFill>
                  <a:prstClr val="black"/>
                </a:solidFill>
                <a:cs typeface="Arial"/>
              </a:rPr>
              <a:t>n</a:t>
            </a:r>
            <a:r>
              <a:rPr sz="2400" dirty="0">
                <a:solidFill>
                  <a:prstClr val="black"/>
                </a:solidFill>
                <a:cs typeface="Arial"/>
              </a:rPr>
              <a:t>e </a:t>
            </a:r>
            <a:r>
              <a:rPr sz="2400" spc="-15" dirty="0">
                <a:solidFill>
                  <a:prstClr val="black"/>
                </a:solidFill>
                <a:cs typeface="Arial"/>
              </a:rPr>
              <a:t>t</a:t>
            </a:r>
            <a:r>
              <a:rPr sz="2400" spc="5" dirty="0">
                <a:solidFill>
                  <a:prstClr val="black"/>
                </a:solidFill>
                <a:cs typeface="Arial"/>
              </a:rPr>
              <a:t>r</a:t>
            </a:r>
            <a:r>
              <a:rPr sz="2400" dirty="0">
                <a:solidFill>
                  <a:prstClr val="black"/>
                </a:solidFill>
                <a:cs typeface="Arial"/>
              </a:rPr>
              <a:t>i</a:t>
            </a:r>
            <a:r>
              <a:rPr sz="2400" spc="5" dirty="0">
                <a:solidFill>
                  <a:prstClr val="black"/>
                </a:solidFill>
                <a:cs typeface="Arial"/>
              </a:rPr>
              <a:t>pho</a:t>
            </a:r>
            <a:r>
              <a:rPr sz="2400" dirty="0">
                <a:solidFill>
                  <a:prstClr val="black"/>
                </a:solidFill>
                <a:cs typeface="Arial"/>
              </a:rPr>
              <a:t>s</a:t>
            </a:r>
            <a:r>
              <a:rPr sz="2400" spc="5" dirty="0">
                <a:solidFill>
                  <a:prstClr val="black"/>
                </a:solidFill>
                <a:cs typeface="Arial"/>
              </a:rPr>
              <a:t>pha</a:t>
            </a:r>
            <a:r>
              <a:rPr sz="2400" spc="-15" dirty="0">
                <a:solidFill>
                  <a:prstClr val="black"/>
                </a:solidFill>
                <a:cs typeface="Arial"/>
              </a:rPr>
              <a:t>t</a:t>
            </a:r>
            <a:r>
              <a:rPr sz="2400" dirty="0">
                <a:solidFill>
                  <a:prstClr val="black"/>
                </a:solidFill>
                <a:cs typeface="Arial"/>
              </a:rPr>
              <a:t>e </a:t>
            </a:r>
            <a:r>
              <a:rPr sz="2400" spc="-20" dirty="0">
                <a:solidFill>
                  <a:prstClr val="black"/>
                </a:solidFill>
                <a:cs typeface="Arial"/>
              </a:rPr>
              <a:t>=&gt;</a:t>
            </a:r>
            <a:r>
              <a:rPr sz="2400" spc="-5" dirty="0">
                <a:solidFill>
                  <a:prstClr val="black"/>
                </a:solidFill>
                <a:cs typeface="Arial"/>
              </a:rPr>
              <a:t> </a:t>
            </a:r>
            <a:r>
              <a:rPr sz="2400" spc="5" dirty="0">
                <a:solidFill>
                  <a:prstClr val="black"/>
                </a:solidFill>
                <a:cs typeface="Arial"/>
              </a:rPr>
              <a:t>dépho</a:t>
            </a:r>
            <a:r>
              <a:rPr sz="2400" dirty="0">
                <a:solidFill>
                  <a:prstClr val="black"/>
                </a:solidFill>
                <a:cs typeface="Arial"/>
              </a:rPr>
              <a:t>s</a:t>
            </a:r>
            <a:r>
              <a:rPr sz="2400" spc="5" dirty="0">
                <a:solidFill>
                  <a:prstClr val="black"/>
                </a:solidFill>
                <a:cs typeface="Arial"/>
              </a:rPr>
              <a:t>phor</a:t>
            </a:r>
            <a:r>
              <a:rPr sz="2400" dirty="0">
                <a:solidFill>
                  <a:prstClr val="black"/>
                </a:solidFill>
                <a:cs typeface="Arial"/>
              </a:rPr>
              <a:t>yl</a:t>
            </a:r>
            <a:r>
              <a:rPr sz="2400" spc="5" dirty="0">
                <a:solidFill>
                  <a:prstClr val="black"/>
                </a:solidFill>
                <a:cs typeface="Arial"/>
              </a:rPr>
              <a:t>a</a:t>
            </a:r>
            <a:r>
              <a:rPr sz="2400" spc="-15" dirty="0">
                <a:solidFill>
                  <a:prstClr val="black"/>
                </a:solidFill>
                <a:cs typeface="Arial"/>
              </a:rPr>
              <a:t>t</a:t>
            </a:r>
            <a:r>
              <a:rPr sz="2400" dirty="0">
                <a:solidFill>
                  <a:prstClr val="black"/>
                </a:solidFill>
                <a:cs typeface="Arial"/>
              </a:rPr>
              <a:t>i</a:t>
            </a:r>
            <a:r>
              <a:rPr sz="2400" spc="5" dirty="0">
                <a:solidFill>
                  <a:prstClr val="black"/>
                </a:solidFill>
                <a:cs typeface="Arial"/>
              </a:rPr>
              <a:t>o</a:t>
            </a:r>
            <a:r>
              <a:rPr sz="2400" dirty="0">
                <a:solidFill>
                  <a:prstClr val="black"/>
                </a:solidFill>
                <a:cs typeface="Arial"/>
              </a:rPr>
              <a:t>n li</a:t>
            </a:r>
            <a:r>
              <a:rPr sz="2400" spc="5" dirty="0">
                <a:solidFill>
                  <a:prstClr val="black"/>
                </a:solidFill>
                <a:cs typeface="Arial"/>
              </a:rPr>
              <a:t>bèr</a:t>
            </a:r>
            <a:r>
              <a:rPr sz="2400" dirty="0">
                <a:solidFill>
                  <a:prstClr val="black"/>
                </a:solidFill>
                <a:cs typeface="Arial"/>
              </a:rPr>
              <a:t>e </a:t>
            </a:r>
            <a:r>
              <a:rPr sz="2400" spc="5" dirty="0">
                <a:solidFill>
                  <a:prstClr val="black"/>
                </a:solidFill>
                <a:cs typeface="Arial"/>
              </a:rPr>
              <a:t>d</a:t>
            </a:r>
            <a:r>
              <a:rPr sz="2400" dirty="0">
                <a:solidFill>
                  <a:prstClr val="black"/>
                </a:solidFill>
                <a:cs typeface="Arial"/>
              </a:rPr>
              <a:t>e l'</a:t>
            </a:r>
            <a:r>
              <a:rPr sz="2400" spc="5" dirty="0">
                <a:solidFill>
                  <a:prstClr val="black"/>
                </a:solidFill>
                <a:cs typeface="Arial"/>
              </a:rPr>
              <a:t>énerg</a:t>
            </a:r>
            <a:r>
              <a:rPr sz="2400" dirty="0">
                <a:solidFill>
                  <a:prstClr val="black"/>
                </a:solidFill>
                <a:cs typeface="Arial"/>
              </a:rPr>
              <a:t>ie</a:t>
            </a:r>
          </a:p>
          <a:p>
            <a:pPr>
              <a:spcBef>
                <a:spcPts val="34"/>
              </a:spcBef>
              <a:buFont typeface="Arial"/>
              <a:buChar char="•"/>
            </a:pPr>
            <a:endParaRPr sz="2400" dirty="0">
              <a:solidFill>
                <a:prstClr val="black"/>
              </a:solidFill>
              <a:cs typeface="Times New Roman"/>
            </a:endParaRPr>
          </a:p>
          <a:p>
            <a:pPr marL="241300" indent="-228600">
              <a:buFont typeface="Arial"/>
              <a:buChar char="•"/>
              <a:tabLst>
                <a:tab pos="241300" algn="l"/>
              </a:tabLst>
            </a:pPr>
            <a:r>
              <a:rPr sz="2400" dirty="0">
                <a:solidFill>
                  <a:prstClr val="black"/>
                </a:solidFill>
                <a:cs typeface="Arial"/>
              </a:rPr>
              <a:t>C</a:t>
            </a:r>
            <a:r>
              <a:rPr sz="2400" spc="5" dirty="0">
                <a:solidFill>
                  <a:prstClr val="black"/>
                </a:solidFill>
                <a:cs typeface="Arial"/>
              </a:rPr>
              <a:t>oen</a:t>
            </a:r>
            <a:r>
              <a:rPr sz="2400" dirty="0">
                <a:solidFill>
                  <a:prstClr val="black"/>
                </a:solidFill>
                <a:cs typeface="Arial"/>
              </a:rPr>
              <a:t>zy</a:t>
            </a:r>
            <a:r>
              <a:rPr sz="2400" spc="5" dirty="0">
                <a:solidFill>
                  <a:prstClr val="black"/>
                </a:solidFill>
                <a:cs typeface="Arial"/>
              </a:rPr>
              <a:t>m</a:t>
            </a:r>
            <a:r>
              <a:rPr sz="2400" dirty="0">
                <a:solidFill>
                  <a:prstClr val="black"/>
                </a:solidFill>
                <a:cs typeface="Arial"/>
              </a:rPr>
              <a:t>e</a:t>
            </a:r>
            <a:r>
              <a:rPr sz="2400" spc="-155" dirty="0">
                <a:solidFill>
                  <a:prstClr val="black"/>
                </a:solidFill>
                <a:cs typeface="Arial"/>
              </a:rPr>
              <a:t> </a:t>
            </a:r>
            <a:r>
              <a:rPr sz="2400" spc="-20" dirty="0">
                <a:solidFill>
                  <a:prstClr val="black"/>
                </a:solidFill>
                <a:cs typeface="Arial"/>
              </a:rPr>
              <a:t>A</a:t>
            </a:r>
            <a:r>
              <a:rPr sz="2400" spc="-165" dirty="0">
                <a:solidFill>
                  <a:prstClr val="black"/>
                </a:solidFill>
                <a:cs typeface="Arial"/>
              </a:rPr>
              <a:t> </a:t>
            </a:r>
            <a:r>
              <a:rPr sz="2400" spc="5" dirty="0">
                <a:solidFill>
                  <a:prstClr val="black"/>
                </a:solidFill>
                <a:cs typeface="Arial"/>
              </a:rPr>
              <a:t>(re</a:t>
            </a:r>
            <a:r>
              <a:rPr sz="2400" dirty="0">
                <a:solidFill>
                  <a:prstClr val="black"/>
                </a:solidFill>
                <a:cs typeface="Arial"/>
              </a:rPr>
              <a:t>s</a:t>
            </a:r>
            <a:r>
              <a:rPr sz="2400" spc="5" dirty="0">
                <a:solidFill>
                  <a:prstClr val="black"/>
                </a:solidFill>
                <a:cs typeface="Arial"/>
              </a:rPr>
              <a:t>p</a:t>
            </a:r>
            <a:r>
              <a:rPr sz="2400" dirty="0">
                <a:solidFill>
                  <a:prstClr val="black"/>
                </a:solidFill>
                <a:cs typeface="Arial"/>
              </a:rPr>
              <a:t>i</a:t>
            </a:r>
            <a:r>
              <a:rPr sz="2400" spc="5" dirty="0">
                <a:solidFill>
                  <a:prstClr val="black"/>
                </a:solidFill>
                <a:cs typeface="Arial"/>
              </a:rPr>
              <a:t>ra</a:t>
            </a:r>
            <a:r>
              <a:rPr sz="2400" spc="-15" dirty="0">
                <a:solidFill>
                  <a:prstClr val="black"/>
                </a:solidFill>
                <a:cs typeface="Arial"/>
              </a:rPr>
              <a:t>t</a:t>
            </a:r>
            <a:r>
              <a:rPr sz="2400" dirty="0">
                <a:solidFill>
                  <a:prstClr val="black"/>
                </a:solidFill>
                <a:cs typeface="Arial"/>
              </a:rPr>
              <a:t>i</a:t>
            </a:r>
            <a:r>
              <a:rPr sz="2400" spc="5" dirty="0">
                <a:solidFill>
                  <a:prstClr val="black"/>
                </a:solidFill>
                <a:cs typeface="Arial"/>
              </a:rPr>
              <a:t>o</a:t>
            </a:r>
            <a:r>
              <a:rPr sz="2400" dirty="0">
                <a:solidFill>
                  <a:prstClr val="black"/>
                </a:solidFill>
                <a:cs typeface="Arial"/>
              </a:rPr>
              <a:t>n c</a:t>
            </a:r>
            <a:r>
              <a:rPr sz="2400" spc="5" dirty="0">
                <a:solidFill>
                  <a:prstClr val="black"/>
                </a:solidFill>
                <a:cs typeface="Arial"/>
              </a:rPr>
              <a:t>e</a:t>
            </a:r>
            <a:r>
              <a:rPr sz="2400" dirty="0">
                <a:solidFill>
                  <a:prstClr val="black"/>
                </a:solidFill>
                <a:cs typeface="Arial"/>
              </a:rPr>
              <a:t>ll</a:t>
            </a:r>
            <a:r>
              <a:rPr sz="2400" spc="5" dirty="0">
                <a:solidFill>
                  <a:prstClr val="black"/>
                </a:solidFill>
                <a:cs typeface="Arial"/>
              </a:rPr>
              <a:t>u</a:t>
            </a:r>
            <a:r>
              <a:rPr sz="2400" dirty="0">
                <a:solidFill>
                  <a:prstClr val="black"/>
                </a:solidFill>
                <a:cs typeface="Arial"/>
              </a:rPr>
              <a:t>l</a:t>
            </a:r>
            <a:r>
              <a:rPr sz="2400" spc="5" dirty="0">
                <a:solidFill>
                  <a:prstClr val="black"/>
                </a:solidFill>
                <a:cs typeface="Arial"/>
              </a:rPr>
              <a:t>a</a:t>
            </a:r>
            <a:r>
              <a:rPr sz="2400" dirty="0">
                <a:solidFill>
                  <a:prstClr val="black"/>
                </a:solidFill>
                <a:cs typeface="Arial"/>
              </a:rPr>
              <a:t>i</a:t>
            </a:r>
            <a:r>
              <a:rPr sz="2400" spc="5" dirty="0">
                <a:solidFill>
                  <a:prstClr val="black"/>
                </a:solidFill>
                <a:cs typeface="Arial"/>
              </a:rPr>
              <a:t>re</a:t>
            </a:r>
            <a:r>
              <a:rPr sz="2400" dirty="0">
                <a:solidFill>
                  <a:prstClr val="black"/>
                </a:solidFill>
                <a:cs typeface="Arial"/>
              </a:rPr>
              <a:t>) </a:t>
            </a:r>
            <a:r>
              <a:rPr sz="2400" spc="5" dirty="0">
                <a:solidFill>
                  <a:prstClr val="black"/>
                </a:solidFill>
                <a:cs typeface="Arial"/>
              </a:rPr>
              <a:t>e</a:t>
            </a:r>
            <a:r>
              <a:rPr sz="2400" spc="-15" dirty="0">
                <a:solidFill>
                  <a:prstClr val="black"/>
                </a:solidFill>
                <a:cs typeface="Arial"/>
              </a:rPr>
              <a:t>st</a:t>
            </a:r>
            <a:r>
              <a:rPr sz="2400" spc="-10" dirty="0">
                <a:solidFill>
                  <a:prstClr val="black"/>
                </a:solidFill>
                <a:cs typeface="Arial"/>
              </a:rPr>
              <a:t> </a:t>
            </a:r>
            <a:r>
              <a:rPr sz="2400" dirty="0">
                <a:solidFill>
                  <a:prstClr val="black"/>
                </a:solidFill>
                <a:cs typeface="Arial"/>
              </a:rPr>
              <a:t>c</a:t>
            </a:r>
            <a:r>
              <a:rPr sz="2400" spc="5" dirty="0">
                <a:solidFill>
                  <a:prstClr val="black"/>
                </a:solidFill>
                <a:cs typeface="Arial"/>
              </a:rPr>
              <a:t>on</a:t>
            </a:r>
            <a:r>
              <a:rPr sz="2400" spc="-15" dirty="0">
                <a:solidFill>
                  <a:prstClr val="black"/>
                </a:solidFill>
                <a:cs typeface="Arial"/>
              </a:rPr>
              <a:t>st</a:t>
            </a:r>
            <a:r>
              <a:rPr sz="2400" dirty="0">
                <a:solidFill>
                  <a:prstClr val="black"/>
                </a:solidFill>
                <a:cs typeface="Arial"/>
              </a:rPr>
              <a:t>i</a:t>
            </a:r>
            <a:r>
              <a:rPr sz="2400" spc="-15" dirty="0">
                <a:solidFill>
                  <a:prstClr val="black"/>
                </a:solidFill>
                <a:cs typeface="Arial"/>
              </a:rPr>
              <a:t>t</a:t>
            </a:r>
            <a:r>
              <a:rPr sz="2400" spc="5" dirty="0">
                <a:solidFill>
                  <a:prstClr val="black"/>
                </a:solidFill>
                <a:cs typeface="Arial"/>
              </a:rPr>
              <a:t>ué</a:t>
            </a:r>
            <a:r>
              <a:rPr sz="2400" dirty="0">
                <a:solidFill>
                  <a:prstClr val="black"/>
                </a:solidFill>
                <a:cs typeface="Arial"/>
              </a:rPr>
              <a:t>e </a:t>
            </a:r>
            <a:r>
              <a:rPr sz="2400" spc="5" dirty="0">
                <a:solidFill>
                  <a:prstClr val="black"/>
                </a:solidFill>
                <a:cs typeface="Arial"/>
              </a:rPr>
              <a:t>d</a:t>
            </a:r>
            <a:r>
              <a:rPr sz="2400" dirty="0">
                <a:solidFill>
                  <a:prstClr val="black"/>
                </a:solidFill>
                <a:cs typeface="Arial"/>
              </a:rPr>
              <a:t>’</a:t>
            </a:r>
            <a:r>
              <a:rPr sz="2400" spc="-25" dirty="0">
                <a:solidFill>
                  <a:prstClr val="black"/>
                </a:solidFill>
                <a:cs typeface="Arial"/>
              </a:rPr>
              <a:t>A</a:t>
            </a:r>
            <a:r>
              <a:rPr sz="2400" dirty="0">
                <a:solidFill>
                  <a:prstClr val="black"/>
                </a:solidFill>
                <a:cs typeface="Arial"/>
              </a:rPr>
              <a:t>D</a:t>
            </a:r>
            <a:r>
              <a:rPr sz="2400" spc="-20" dirty="0">
                <a:solidFill>
                  <a:prstClr val="black"/>
                </a:solidFill>
                <a:cs typeface="Arial"/>
              </a:rPr>
              <a:t>P</a:t>
            </a:r>
            <a:endParaRPr sz="2400" dirty="0">
              <a:solidFill>
                <a:prstClr val="black"/>
              </a:solidFill>
              <a:cs typeface="Arial"/>
            </a:endParaRPr>
          </a:p>
          <a:p>
            <a:pPr>
              <a:buFont typeface="Arial"/>
              <a:buChar char="•"/>
            </a:pPr>
            <a:endParaRPr sz="2400" dirty="0">
              <a:solidFill>
                <a:prstClr val="black"/>
              </a:solidFill>
              <a:cs typeface="Times New Roman"/>
            </a:endParaRPr>
          </a:p>
          <a:p>
            <a:r>
              <a:rPr sz="2400" dirty="0">
                <a:solidFill>
                  <a:prstClr val="black"/>
                </a:solidFill>
                <a:cs typeface="Arial"/>
              </a:rPr>
              <a:t>N</a:t>
            </a:r>
            <a:r>
              <a:rPr sz="2400" spc="-5" dirty="0">
                <a:solidFill>
                  <a:prstClr val="black"/>
                </a:solidFill>
                <a:cs typeface="Arial"/>
              </a:rPr>
              <a:t>A</a:t>
            </a:r>
            <a:r>
              <a:rPr sz="2400" dirty="0">
                <a:solidFill>
                  <a:prstClr val="black"/>
                </a:solidFill>
                <a:cs typeface="Arial"/>
              </a:rPr>
              <a:t>D (</a:t>
            </a:r>
            <a:r>
              <a:rPr sz="2400" spc="5" dirty="0">
                <a:solidFill>
                  <a:prstClr val="black"/>
                </a:solidFill>
                <a:cs typeface="Arial"/>
              </a:rPr>
              <a:t>o</a:t>
            </a:r>
            <a:r>
              <a:rPr sz="2400" dirty="0">
                <a:solidFill>
                  <a:prstClr val="black"/>
                </a:solidFill>
                <a:cs typeface="Arial"/>
              </a:rPr>
              <a:t>xy</a:t>
            </a:r>
            <a:r>
              <a:rPr sz="2400" spc="5" dirty="0">
                <a:solidFill>
                  <a:prstClr val="black"/>
                </a:solidFill>
                <a:cs typeface="Arial"/>
              </a:rPr>
              <a:t>d</a:t>
            </a:r>
            <a:r>
              <a:rPr sz="2400" dirty="0">
                <a:solidFill>
                  <a:prstClr val="black"/>
                </a:solidFill>
                <a:cs typeface="Arial"/>
              </a:rPr>
              <a:t>o </a:t>
            </a:r>
            <a:r>
              <a:rPr sz="2400" spc="5" dirty="0">
                <a:solidFill>
                  <a:prstClr val="black"/>
                </a:solidFill>
                <a:cs typeface="Arial"/>
              </a:rPr>
              <a:t>rédu</a:t>
            </a:r>
            <a:r>
              <a:rPr sz="2400" spc="-15" dirty="0">
                <a:solidFill>
                  <a:prstClr val="black"/>
                </a:solidFill>
                <a:cs typeface="Arial"/>
              </a:rPr>
              <a:t>ct</a:t>
            </a:r>
            <a:r>
              <a:rPr sz="2400" dirty="0">
                <a:solidFill>
                  <a:prstClr val="black"/>
                </a:solidFill>
                <a:cs typeface="Arial"/>
              </a:rPr>
              <a:t>i</a:t>
            </a:r>
            <a:r>
              <a:rPr sz="2400" spc="5" dirty="0">
                <a:solidFill>
                  <a:prstClr val="black"/>
                </a:solidFill>
                <a:cs typeface="Arial"/>
              </a:rPr>
              <a:t>on)</a:t>
            </a:r>
            <a:r>
              <a:rPr sz="2400" spc="-20" dirty="0">
                <a:solidFill>
                  <a:prstClr val="black"/>
                </a:solidFill>
                <a:cs typeface="Arial"/>
              </a:rPr>
              <a:t>=</a:t>
            </a:r>
            <a:r>
              <a:rPr sz="2400" spc="-5" dirty="0">
                <a:solidFill>
                  <a:prstClr val="black"/>
                </a:solidFill>
                <a:cs typeface="Arial"/>
              </a:rPr>
              <a:t> </a:t>
            </a:r>
            <a:r>
              <a:rPr sz="2400" dirty="0">
                <a:solidFill>
                  <a:prstClr val="black"/>
                </a:solidFill>
                <a:cs typeface="Arial"/>
              </a:rPr>
              <a:t>Nic</a:t>
            </a:r>
            <a:r>
              <a:rPr sz="2400" spc="5" dirty="0">
                <a:solidFill>
                  <a:prstClr val="black"/>
                </a:solidFill>
                <a:cs typeface="Arial"/>
              </a:rPr>
              <a:t>o</a:t>
            </a:r>
            <a:r>
              <a:rPr sz="2400" spc="-15" dirty="0">
                <a:solidFill>
                  <a:prstClr val="black"/>
                </a:solidFill>
                <a:cs typeface="Arial"/>
              </a:rPr>
              <a:t>t</a:t>
            </a:r>
            <a:r>
              <a:rPr sz="2400" dirty="0">
                <a:solidFill>
                  <a:prstClr val="black"/>
                </a:solidFill>
                <a:cs typeface="Arial"/>
              </a:rPr>
              <a:t>i</a:t>
            </a:r>
            <a:r>
              <a:rPr sz="2400" spc="5" dirty="0">
                <a:solidFill>
                  <a:prstClr val="black"/>
                </a:solidFill>
                <a:cs typeface="Arial"/>
              </a:rPr>
              <a:t>nam</a:t>
            </a:r>
            <a:r>
              <a:rPr sz="2400" dirty="0">
                <a:solidFill>
                  <a:prstClr val="black"/>
                </a:solidFill>
                <a:cs typeface="Arial"/>
              </a:rPr>
              <a:t>i</a:t>
            </a:r>
            <a:r>
              <a:rPr sz="2400" spc="5" dirty="0">
                <a:solidFill>
                  <a:prstClr val="black"/>
                </a:solidFill>
                <a:cs typeface="Arial"/>
              </a:rPr>
              <a:t>d</a:t>
            </a:r>
            <a:r>
              <a:rPr sz="2400" dirty="0">
                <a:solidFill>
                  <a:prstClr val="black"/>
                </a:solidFill>
                <a:cs typeface="Arial"/>
              </a:rPr>
              <a:t>e</a:t>
            </a:r>
            <a:r>
              <a:rPr sz="2400" spc="-155" dirty="0">
                <a:solidFill>
                  <a:prstClr val="black"/>
                </a:solidFill>
                <a:cs typeface="Arial"/>
              </a:rPr>
              <a:t> </a:t>
            </a:r>
            <a:r>
              <a:rPr sz="2400" spc="-25" dirty="0" err="1">
                <a:solidFill>
                  <a:prstClr val="black"/>
                </a:solidFill>
                <a:cs typeface="Arial"/>
              </a:rPr>
              <a:t>A</a:t>
            </a:r>
            <a:r>
              <a:rPr sz="2400" spc="5" dirty="0" err="1">
                <a:solidFill>
                  <a:prstClr val="black"/>
                </a:solidFill>
                <a:cs typeface="Arial"/>
              </a:rPr>
              <a:t>déno</a:t>
            </a:r>
            <a:r>
              <a:rPr sz="2400" dirty="0" err="1">
                <a:solidFill>
                  <a:prstClr val="black"/>
                </a:solidFill>
                <a:cs typeface="Arial"/>
              </a:rPr>
              <a:t>si</a:t>
            </a:r>
            <a:r>
              <a:rPr sz="2400" spc="5" dirty="0" err="1">
                <a:solidFill>
                  <a:prstClr val="black"/>
                </a:solidFill>
                <a:cs typeface="Arial"/>
              </a:rPr>
              <a:t>n</a:t>
            </a:r>
            <a:r>
              <a:rPr sz="2400" dirty="0" err="1">
                <a:solidFill>
                  <a:prstClr val="black"/>
                </a:solidFill>
                <a:cs typeface="Arial"/>
              </a:rPr>
              <a:t>e</a:t>
            </a:r>
            <a:r>
              <a:rPr sz="2400" dirty="0">
                <a:solidFill>
                  <a:prstClr val="black"/>
                </a:solidFill>
                <a:cs typeface="Arial"/>
              </a:rPr>
              <a:t> </a:t>
            </a:r>
            <a:r>
              <a:rPr sz="2400" spc="5" dirty="0" err="1">
                <a:solidFill>
                  <a:prstClr val="black"/>
                </a:solidFill>
                <a:cs typeface="Arial"/>
              </a:rPr>
              <a:t>d</a:t>
            </a:r>
            <a:r>
              <a:rPr sz="2400" dirty="0" err="1">
                <a:solidFill>
                  <a:prstClr val="black"/>
                </a:solidFill>
                <a:cs typeface="Arial"/>
              </a:rPr>
              <a:t>i</a:t>
            </a:r>
            <a:r>
              <a:rPr sz="2400" spc="5" dirty="0" err="1">
                <a:solidFill>
                  <a:prstClr val="black"/>
                </a:solidFill>
                <a:cs typeface="Arial"/>
              </a:rPr>
              <a:t>pho</a:t>
            </a:r>
            <a:r>
              <a:rPr sz="2400" dirty="0" err="1">
                <a:solidFill>
                  <a:prstClr val="black"/>
                </a:solidFill>
                <a:cs typeface="Arial"/>
              </a:rPr>
              <a:t>s</a:t>
            </a:r>
            <a:r>
              <a:rPr sz="2400" spc="5" dirty="0" err="1">
                <a:solidFill>
                  <a:prstClr val="black"/>
                </a:solidFill>
                <a:cs typeface="Arial"/>
              </a:rPr>
              <a:t>pha</a:t>
            </a:r>
            <a:r>
              <a:rPr sz="2400" spc="-15" dirty="0" err="1">
                <a:solidFill>
                  <a:prstClr val="black"/>
                </a:solidFill>
                <a:cs typeface="Arial"/>
              </a:rPr>
              <a:t>t</a:t>
            </a:r>
            <a:r>
              <a:rPr sz="2400" dirty="0" err="1">
                <a:solidFill>
                  <a:prstClr val="black"/>
                </a:solidFill>
                <a:cs typeface="Arial"/>
              </a:rPr>
              <a:t>e</a:t>
            </a:r>
            <a:r>
              <a:rPr lang="fr-FR" sz="2400" dirty="0">
                <a:solidFill>
                  <a:prstClr val="black"/>
                </a:solidFill>
                <a:cs typeface="Arial"/>
              </a:rPr>
              <a:t> :</a:t>
            </a:r>
            <a:r>
              <a:rPr lang="fr-FR" sz="2400" dirty="0">
                <a:solidFill>
                  <a:prstClr val="black"/>
                </a:solidFill>
              </a:rPr>
              <a:t> </a:t>
            </a:r>
            <a:r>
              <a:rPr lang="fr-FR" sz="2400" b="1" dirty="0">
                <a:solidFill>
                  <a:prstClr val="black"/>
                </a:solidFill>
              </a:rPr>
              <a:t>tient </a:t>
            </a:r>
            <a:r>
              <a:rPr lang="fr-FR" sz="2400" b="1" dirty="0">
                <a:solidFill>
                  <a:prstClr val="black"/>
                </a:solidFill>
              </a:rPr>
              <a:t>un rôle important dans la production d'énergie au niveau des cellules</a:t>
            </a:r>
            <a:r>
              <a:rPr lang="fr-FR" sz="2400" dirty="0">
                <a:solidFill>
                  <a:prstClr val="black"/>
                </a:solidFill>
              </a:rPr>
              <a:t>. </a:t>
            </a:r>
            <a:r>
              <a:rPr lang="fr-FR" sz="2400" dirty="0">
                <a:solidFill>
                  <a:prstClr val="black"/>
                </a:solidFill>
              </a:rPr>
              <a:t>il </a:t>
            </a:r>
            <a:r>
              <a:rPr lang="fr-FR" sz="2400" dirty="0">
                <a:solidFill>
                  <a:prstClr val="black"/>
                </a:solidFill>
              </a:rPr>
              <a:t>est à l'origine de la synthèse d'ATP via la chaîne respiratoire. </a:t>
            </a:r>
          </a:p>
          <a:p>
            <a:pPr marL="241300" indent="-228600">
              <a:buFont typeface="Arial"/>
              <a:buChar char="•"/>
              <a:tabLst>
                <a:tab pos="241300" algn="l"/>
              </a:tabLst>
            </a:pPr>
            <a:endParaRPr sz="2400" dirty="0">
              <a:solidFill>
                <a:prstClr val="black"/>
              </a:solidFill>
              <a:cs typeface="Arial"/>
            </a:endParaRPr>
          </a:p>
        </p:txBody>
      </p:sp>
      <p:sp>
        <p:nvSpPr>
          <p:cNvPr id="3" name="ZoneTexte 2"/>
          <p:cNvSpPr txBox="1"/>
          <p:nvPr/>
        </p:nvSpPr>
        <p:spPr>
          <a:xfrm>
            <a:off x="731413" y="167640"/>
            <a:ext cx="5568960" cy="707886"/>
          </a:xfrm>
          <a:prstGeom prst="rect">
            <a:avLst/>
          </a:prstGeom>
          <a:noFill/>
        </p:spPr>
        <p:txBody>
          <a:bodyPr wrap="none" rtlCol="0">
            <a:spAutoFit/>
          </a:bodyPr>
          <a:lstStyle>
            <a:defPPr>
              <a:defRPr lang="fr-FR"/>
            </a:defPPr>
            <a:lvl1pPr>
              <a:defRPr sz="4000">
                <a:solidFill>
                  <a:schemeClr val="accent4"/>
                </a:solidFill>
              </a:defRPr>
            </a:lvl1pPr>
          </a:lstStyle>
          <a:p>
            <a:r>
              <a:rPr lang="fr-FR" dirty="0" smtClean="0">
                <a:solidFill>
                  <a:srgbClr val="42BA97"/>
                </a:solidFill>
              </a:rPr>
              <a:t>4-Dérivés </a:t>
            </a:r>
            <a:r>
              <a:rPr lang="fr-FR" dirty="0">
                <a:solidFill>
                  <a:srgbClr val="42BA97"/>
                </a:solidFill>
              </a:rPr>
              <a:t>des nucléotides</a:t>
            </a:r>
          </a:p>
        </p:txBody>
      </p:sp>
    </p:spTree>
    <p:extLst>
      <p:ext uri="{BB962C8B-B14F-4D97-AF65-F5344CB8AC3E}">
        <p14:creationId xmlns:p14="http://schemas.microsoft.com/office/powerpoint/2010/main" val="3531808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 calcmode="lin" valueType="num">
                                      <p:cBhvr additive="base">
                                        <p:cTn id="1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78012" y="281929"/>
            <a:ext cx="6863354" cy="707886"/>
          </a:xfrm>
          <a:prstGeom prst="rect">
            <a:avLst/>
          </a:prstGeom>
          <a:noFill/>
        </p:spPr>
        <p:txBody>
          <a:bodyPr wrap="none" rtlCol="0">
            <a:spAutoFit/>
          </a:bodyPr>
          <a:lstStyle>
            <a:defPPr>
              <a:defRPr lang="fr-FR"/>
            </a:defPPr>
            <a:lvl1pPr>
              <a:defRPr sz="4000">
                <a:solidFill>
                  <a:schemeClr val="accent4"/>
                </a:solidFill>
              </a:defRPr>
            </a:lvl1pPr>
          </a:lstStyle>
          <a:p>
            <a:r>
              <a:rPr dirty="0" smtClean="0">
                <a:solidFill>
                  <a:srgbClr val="42BA97"/>
                </a:solidFill>
              </a:rPr>
              <a:t> </a:t>
            </a:r>
            <a:r>
              <a:rPr lang="fr-FR" dirty="0" smtClean="0">
                <a:solidFill>
                  <a:srgbClr val="42BA97"/>
                </a:solidFill>
              </a:rPr>
              <a:t>5-</a:t>
            </a:r>
            <a:r>
              <a:rPr dirty="0" smtClean="0">
                <a:solidFill>
                  <a:srgbClr val="42BA97"/>
                </a:solidFill>
              </a:rPr>
              <a:t>Les </a:t>
            </a:r>
            <a:r>
              <a:rPr dirty="0">
                <a:solidFill>
                  <a:srgbClr val="42BA97"/>
                </a:solidFill>
              </a:rPr>
              <a:t>polymères nucléotidiques</a:t>
            </a:r>
          </a:p>
        </p:txBody>
      </p:sp>
      <p:sp>
        <p:nvSpPr>
          <p:cNvPr id="3" name="object 3"/>
          <p:cNvSpPr txBox="1"/>
          <p:nvPr/>
        </p:nvSpPr>
        <p:spPr>
          <a:xfrm>
            <a:off x="688340" y="1607200"/>
            <a:ext cx="10132695" cy="2939266"/>
          </a:xfrm>
          <a:prstGeom prst="rect">
            <a:avLst/>
          </a:prstGeom>
        </p:spPr>
        <p:txBody>
          <a:bodyPr vert="horz" wrap="square" lIns="0" tIns="0" rIns="0" bIns="0" rtlCol="0">
            <a:spAutoFit/>
          </a:bodyPr>
          <a:lstStyle/>
          <a:p>
            <a:pPr marL="241300" indent="-228600">
              <a:buFont typeface="Arial"/>
              <a:buChar char="•"/>
              <a:tabLst>
                <a:tab pos="241300" algn="l"/>
              </a:tabLst>
            </a:pPr>
            <a:r>
              <a:rPr sz="2800" spc="5" dirty="0">
                <a:solidFill>
                  <a:prstClr val="black"/>
                </a:solidFill>
                <a:cs typeface="Arial"/>
              </a:rPr>
              <a:t>Le</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nu</a:t>
            </a:r>
            <a:r>
              <a:rPr sz="2800" dirty="0">
                <a:solidFill>
                  <a:prstClr val="black"/>
                </a:solidFill>
                <a:cs typeface="Arial"/>
              </a:rPr>
              <a:t>cl</a:t>
            </a:r>
            <a:r>
              <a:rPr sz="2800" spc="5" dirty="0">
                <a:solidFill>
                  <a:prstClr val="black"/>
                </a:solidFill>
                <a:cs typeface="Arial"/>
              </a:rPr>
              <a:t>éo</a:t>
            </a:r>
            <a:r>
              <a:rPr sz="2800" spc="-15" dirty="0">
                <a:solidFill>
                  <a:prstClr val="black"/>
                </a:solidFill>
                <a:cs typeface="Arial"/>
              </a:rPr>
              <a:t>t</a:t>
            </a:r>
            <a:r>
              <a:rPr sz="2800" dirty="0">
                <a:solidFill>
                  <a:prstClr val="black"/>
                </a:solidFill>
                <a:cs typeface="Arial"/>
              </a:rPr>
              <a:t>i</a:t>
            </a:r>
            <a:r>
              <a:rPr sz="2800" spc="5" dirty="0">
                <a:solidFill>
                  <a:prstClr val="black"/>
                </a:solidFill>
                <a:cs typeface="Arial"/>
              </a:rPr>
              <a:t>de</a:t>
            </a:r>
            <a:r>
              <a:rPr sz="2800" dirty="0">
                <a:solidFill>
                  <a:prstClr val="black"/>
                </a:solidFill>
                <a:cs typeface="Arial"/>
              </a:rPr>
              <a:t>s</a:t>
            </a:r>
            <a:r>
              <a:rPr sz="2800" spc="-5" dirty="0">
                <a:solidFill>
                  <a:prstClr val="black"/>
                </a:solidFill>
                <a:cs typeface="Arial"/>
              </a:rPr>
              <a:t> </a:t>
            </a:r>
            <a:r>
              <a:rPr sz="2800" dirty="0">
                <a:solidFill>
                  <a:prstClr val="black"/>
                </a:solidFill>
                <a:cs typeface="Arial"/>
              </a:rPr>
              <a:t>s</a:t>
            </a:r>
            <a:r>
              <a:rPr sz="2800" spc="5" dirty="0">
                <a:solidFill>
                  <a:prstClr val="black"/>
                </a:solidFill>
                <a:cs typeface="Arial"/>
              </a:rPr>
              <a:t>on</a:t>
            </a:r>
            <a:r>
              <a:rPr sz="2800" spc="-10" dirty="0">
                <a:solidFill>
                  <a:prstClr val="black"/>
                </a:solidFill>
                <a:cs typeface="Arial"/>
              </a:rPr>
              <a:t>t </a:t>
            </a:r>
            <a:r>
              <a:rPr sz="2800" spc="5" dirty="0">
                <a:solidFill>
                  <a:prstClr val="black"/>
                </a:solidFill>
                <a:cs typeface="Arial"/>
              </a:rPr>
              <a:t>re</a:t>
            </a:r>
            <a:r>
              <a:rPr sz="2800" dirty="0">
                <a:solidFill>
                  <a:prstClr val="black"/>
                </a:solidFill>
                <a:cs typeface="Arial"/>
              </a:rPr>
              <a:t>li</a:t>
            </a:r>
            <a:r>
              <a:rPr sz="2800" spc="5" dirty="0">
                <a:solidFill>
                  <a:prstClr val="black"/>
                </a:solidFill>
                <a:cs typeface="Arial"/>
              </a:rPr>
              <a:t>é</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pa</a:t>
            </a:r>
            <a:r>
              <a:rPr sz="2800" dirty="0">
                <a:solidFill>
                  <a:prstClr val="black"/>
                </a:solidFill>
                <a:cs typeface="Arial"/>
              </a:rPr>
              <a:t>r </a:t>
            </a:r>
            <a:r>
              <a:rPr sz="2800" spc="5" dirty="0">
                <a:solidFill>
                  <a:prstClr val="black"/>
                </a:solidFill>
                <a:cs typeface="Arial"/>
              </a:rPr>
              <a:t>de</a:t>
            </a:r>
            <a:r>
              <a:rPr sz="2800" dirty="0">
                <a:solidFill>
                  <a:prstClr val="black"/>
                </a:solidFill>
                <a:cs typeface="Arial"/>
              </a:rPr>
              <a:t>s</a:t>
            </a:r>
            <a:r>
              <a:rPr sz="2800" spc="-5" dirty="0">
                <a:solidFill>
                  <a:prstClr val="black"/>
                </a:solidFill>
                <a:cs typeface="Arial"/>
              </a:rPr>
              <a:t> </a:t>
            </a:r>
            <a:r>
              <a:rPr sz="2800" b="1" spc="-15" dirty="0">
                <a:solidFill>
                  <a:srgbClr val="FF0000"/>
                </a:solidFill>
                <a:cs typeface="Arial"/>
              </a:rPr>
              <a:t>li</a:t>
            </a:r>
            <a:r>
              <a:rPr sz="2800" b="1" spc="-20" dirty="0">
                <a:solidFill>
                  <a:srgbClr val="FF0000"/>
                </a:solidFill>
                <a:cs typeface="Arial"/>
              </a:rPr>
              <a:t>a</a:t>
            </a:r>
            <a:r>
              <a:rPr sz="2800" b="1" spc="-15" dirty="0">
                <a:solidFill>
                  <a:srgbClr val="FF0000"/>
                </a:solidFill>
                <a:cs typeface="Arial"/>
              </a:rPr>
              <a:t>i</a:t>
            </a:r>
            <a:r>
              <a:rPr sz="2800" b="1" spc="-20" dirty="0">
                <a:solidFill>
                  <a:srgbClr val="FF0000"/>
                </a:solidFill>
                <a:cs typeface="Arial"/>
              </a:rPr>
              <a:t>son</a:t>
            </a:r>
            <a:r>
              <a:rPr sz="2800" b="1" dirty="0">
                <a:solidFill>
                  <a:srgbClr val="FF0000"/>
                </a:solidFill>
                <a:cs typeface="Arial"/>
              </a:rPr>
              <a:t>s </a:t>
            </a:r>
            <a:r>
              <a:rPr sz="2800" b="1" spc="-20" dirty="0">
                <a:solidFill>
                  <a:srgbClr val="FF0000"/>
                </a:solidFill>
                <a:cs typeface="Arial"/>
              </a:rPr>
              <a:t>pho</a:t>
            </a:r>
            <a:r>
              <a:rPr sz="2800" b="1" dirty="0">
                <a:solidFill>
                  <a:srgbClr val="FF0000"/>
                </a:solidFill>
                <a:cs typeface="Arial"/>
              </a:rPr>
              <a:t>s</a:t>
            </a:r>
            <a:r>
              <a:rPr sz="2800" b="1" spc="-20" dirty="0">
                <a:solidFill>
                  <a:srgbClr val="FF0000"/>
                </a:solidFill>
                <a:cs typeface="Arial"/>
              </a:rPr>
              <a:t>phod</a:t>
            </a:r>
            <a:r>
              <a:rPr sz="2800" b="1" spc="-15" dirty="0">
                <a:solidFill>
                  <a:srgbClr val="FF0000"/>
                </a:solidFill>
                <a:cs typeface="Arial"/>
              </a:rPr>
              <a:t>i</a:t>
            </a:r>
            <a:r>
              <a:rPr sz="2800" b="1" spc="-20" dirty="0">
                <a:solidFill>
                  <a:srgbClr val="FF0000"/>
                </a:solidFill>
                <a:cs typeface="Arial"/>
              </a:rPr>
              <a:t>e</a:t>
            </a:r>
            <a:r>
              <a:rPr sz="2800" b="1" dirty="0">
                <a:solidFill>
                  <a:srgbClr val="FF0000"/>
                </a:solidFill>
                <a:cs typeface="Arial"/>
              </a:rPr>
              <a:t>s</a:t>
            </a:r>
            <a:r>
              <a:rPr sz="2800" b="1" spc="5" dirty="0">
                <a:solidFill>
                  <a:srgbClr val="FF0000"/>
                </a:solidFill>
                <a:cs typeface="Arial"/>
              </a:rPr>
              <a:t>t</a:t>
            </a:r>
            <a:r>
              <a:rPr sz="2800" b="1" dirty="0">
                <a:solidFill>
                  <a:srgbClr val="FF0000"/>
                </a:solidFill>
                <a:cs typeface="Arial"/>
              </a:rPr>
              <a:t>e</a:t>
            </a:r>
            <a:r>
              <a:rPr sz="2800" b="1" spc="-5" dirty="0">
                <a:solidFill>
                  <a:srgbClr val="FF0000"/>
                </a:solidFill>
                <a:cs typeface="Arial"/>
              </a:rPr>
              <a:t>r</a:t>
            </a:r>
            <a:r>
              <a:rPr sz="2800" b="1" dirty="0">
                <a:solidFill>
                  <a:srgbClr val="FF0000"/>
                </a:solidFill>
                <a:cs typeface="Arial"/>
              </a:rPr>
              <a:t>s</a:t>
            </a:r>
            <a:endParaRPr sz="2800" dirty="0">
              <a:solidFill>
                <a:srgbClr val="FF0000"/>
              </a:solidFill>
              <a:cs typeface="Arial"/>
            </a:endParaRPr>
          </a:p>
          <a:p>
            <a:pPr>
              <a:buFont typeface="Arial"/>
              <a:buChar char="•"/>
            </a:pPr>
            <a:endParaRPr sz="2650" dirty="0">
              <a:solidFill>
                <a:srgbClr val="FF0000"/>
              </a:solidFill>
              <a:cs typeface="Times New Roman"/>
            </a:endParaRPr>
          </a:p>
          <a:p>
            <a:pPr marL="241300" indent="-228600">
              <a:buFont typeface="Arial"/>
              <a:buChar char="•"/>
              <a:tabLst>
                <a:tab pos="241300" algn="l"/>
              </a:tabLst>
            </a:pPr>
            <a:r>
              <a:rPr sz="2800" spc="-15" dirty="0">
                <a:solidFill>
                  <a:prstClr val="black"/>
                </a:solidFill>
                <a:cs typeface="Arial"/>
              </a:rPr>
              <a:t>I</a:t>
            </a:r>
            <a:r>
              <a:rPr sz="2800" dirty="0">
                <a:solidFill>
                  <a:prstClr val="black"/>
                </a:solidFill>
                <a:cs typeface="Arial"/>
              </a:rPr>
              <a:t>l</a:t>
            </a:r>
            <a:r>
              <a:rPr sz="2800" spc="-5" dirty="0">
                <a:solidFill>
                  <a:prstClr val="black"/>
                </a:solidFill>
                <a:cs typeface="Arial"/>
              </a:rPr>
              <a:t> </a:t>
            </a:r>
            <a:r>
              <a:rPr sz="2800" spc="5" dirty="0">
                <a:solidFill>
                  <a:prstClr val="black"/>
                </a:solidFill>
                <a:cs typeface="Arial"/>
              </a:rPr>
              <a:t>e</a:t>
            </a:r>
            <a:r>
              <a:rPr sz="2800" dirty="0">
                <a:solidFill>
                  <a:prstClr val="black"/>
                </a:solidFill>
                <a:cs typeface="Arial"/>
              </a:rPr>
              <a:t>xi</a:t>
            </a:r>
            <a:r>
              <a:rPr sz="2800" spc="-15" dirty="0">
                <a:solidFill>
                  <a:prstClr val="black"/>
                </a:solidFill>
                <a:cs typeface="Arial"/>
              </a:rPr>
              <a:t>st</a:t>
            </a:r>
            <a:r>
              <a:rPr sz="2800" dirty="0">
                <a:solidFill>
                  <a:prstClr val="black"/>
                </a:solidFill>
                <a:cs typeface="Arial"/>
              </a:rPr>
              <a:t>e </a:t>
            </a:r>
            <a:r>
              <a:rPr sz="2800" spc="5" dirty="0">
                <a:solidFill>
                  <a:prstClr val="black"/>
                </a:solidFill>
                <a:cs typeface="Arial"/>
              </a:rPr>
              <a:t>deu</a:t>
            </a:r>
            <a:r>
              <a:rPr sz="2800" dirty="0">
                <a:solidFill>
                  <a:prstClr val="black"/>
                </a:solidFill>
                <a:cs typeface="Arial"/>
              </a:rPr>
              <a:t>x</a:t>
            </a:r>
            <a:r>
              <a:rPr sz="2800" spc="-5" dirty="0">
                <a:solidFill>
                  <a:prstClr val="black"/>
                </a:solidFill>
                <a:cs typeface="Arial"/>
              </a:rPr>
              <a:t> </a:t>
            </a:r>
            <a:r>
              <a:rPr sz="2800" spc="-15" dirty="0">
                <a:solidFill>
                  <a:prstClr val="black"/>
                </a:solidFill>
                <a:cs typeface="Arial"/>
              </a:rPr>
              <a:t>t</a:t>
            </a:r>
            <a:r>
              <a:rPr sz="2800" dirty="0">
                <a:solidFill>
                  <a:prstClr val="black"/>
                </a:solidFill>
                <a:cs typeface="Arial"/>
              </a:rPr>
              <a:t>y</a:t>
            </a:r>
            <a:r>
              <a:rPr sz="2800" spc="5" dirty="0">
                <a:solidFill>
                  <a:prstClr val="black"/>
                </a:solidFill>
                <a:cs typeface="Arial"/>
              </a:rPr>
              <a:t>pe</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d</a:t>
            </a:r>
            <a:r>
              <a:rPr sz="2800" dirty="0">
                <a:solidFill>
                  <a:prstClr val="black"/>
                </a:solidFill>
                <a:cs typeface="Arial"/>
              </a:rPr>
              <a:t>’</a:t>
            </a:r>
            <a:r>
              <a:rPr sz="2800" spc="5" dirty="0">
                <a:solidFill>
                  <a:prstClr val="black"/>
                </a:solidFill>
                <a:cs typeface="Arial"/>
              </a:rPr>
              <a:t>a</a:t>
            </a:r>
            <a:r>
              <a:rPr sz="2800" dirty="0">
                <a:solidFill>
                  <a:prstClr val="black"/>
                </a:solidFill>
                <a:cs typeface="Arial"/>
              </a:rPr>
              <a:t>ci</a:t>
            </a:r>
            <a:r>
              <a:rPr sz="2800" spc="5" dirty="0">
                <a:solidFill>
                  <a:prstClr val="black"/>
                </a:solidFill>
                <a:cs typeface="Arial"/>
              </a:rPr>
              <a:t>de</a:t>
            </a:r>
            <a:r>
              <a:rPr sz="2800" dirty="0">
                <a:solidFill>
                  <a:prstClr val="black"/>
                </a:solidFill>
                <a:cs typeface="Arial"/>
              </a:rPr>
              <a:t>s</a:t>
            </a:r>
            <a:r>
              <a:rPr sz="2800" spc="-5" dirty="0">
                <a:solidFill>
                  <a:prstClr val="black"/>
                </a:solidFill>
                <a:cs typeface="Arial"/>
              </a:rPr>
              <a:t> </a:t>
            </a:r>
            <a:r>
              <a:rPr sz="2800" spc="5" dirty="0">
                <a:solidFill>
                  <a:prstClr val="black"/>
                </a:solidFill>
                <a:cs typeface="Arial"/>
              </a:rPr>
              <a:t>nu</a:t>
            </a:r>
            <a:r>
              <a:rPr sz="2800" dirty="0">
                <a:solidFill>
                  <a:prstClr val="black"/>
                </a:solidFill>
                <a:cs typeface="Arial"/>
              </a:rPr>
              <a:t>cl</a:t>
            </a:r>
            <a:r>
              <a:rPr sz="2800" spc="5" dirty="0">
                <a:solidFill>
                  <a:prstClr val="black"/>
                </a:solidFill>
                <a:cs typeface="Arial"/>
              </a:rPr>
              <a:t>é</a:t>
            </a:r>
            <a:r>
              <a:rPr sz="2800" dirty="0">
                <a:solidFill>
                  <a:prstClr val="black"/>
                </a:solidFill>
                <a:cs typeface="Arial"/>
              </a:rPr>
              <a:t>i</a:t>
            </a:r>
            <a:r>
              <a:rPr sz="2800" spc="5" dirty="0">
                <a:solidFill>
                  <a:prstClr val="black"/>
                </a:solidFill>
                <a:cs typeface="Arial"/>
              </a:rPr>
              <a:t>que</a:t>
            </a:r>
            <a:r>
              <a:rPr sz="2800" dirty="0">
                <a:solidFill>
                  <a:prstClr val="black"/>
                </a:solidFill>
                <a:cs typeface="Arial"/>
              </a:rPr>
              <a:t>s</a:t>
            </a:r>
            <a:r>
              <a:rPr sz="2800" spc="-5" dirty="0">
                <a:solidFill>
                  <a:prstClr val="black"/>
                </a:solidFill>
                <a:cs typeface="Arial"/>
              </a:rPr>
              <a:t> </a:t>
            </a:r>
            <a:r>
              <a:rPr sz="2800" spc="-10" dirty="0">
                <a:solidFill>
                  <a:prstClr val="black"/>
                </a:solidFill>
                <a:cs typeface="Arial"/>
              </a:rPr>
              <a:t>:</a:t>
            </a:r>
            <a:endParaRPr sz="2800" dirty="0">
              <a:solidFill>
                <a:prstClr val="black"/>
              </a:solidFill>
              <a:cs typeface="Arial"/>
            </a:endParaRPr>
          </a:p>
          <a:p>
            <a:pPr>
              <a:buFont typeface="Arial"/>
              <a:buChar char="•"/>
            </a:pPr>
            <a:endParaRPr sz="2650" dirty="0">
              <a:solidFill>
                <a:srgbClr val="FF0000"/>
              </a:solidFill>
              <a:cs typeface="Times New Roman"/>
            </a:endParaRPr>
          </a:p>
          <a:p>
            <a:pPr marL="1144270" lvl="1" indent="-217170">
              <a:buFont typeface="Arial"/>
              <a:buChar char="-"/>
              <a:tabLst>
                <a:tab pos="1144905" algn="l"/>
              </a:tabLst>
            </a:pPr>
            <a:r>
              <a:rPr sz="2800" b="1" spc="-15" dirty="0">
                <a:solidFill>
                  <a:srgbClr val="FF0000"/>
                </a:solidFill>
                <a:cs typeface="Arial"/>
              </a:rPr>
              <a:t>l'</a:t>
            </a:r>
            <a:r>
              <a:rPr sz="2800" b="1" spc="-20" dirty="0">
                <a:solidFill>
                  <a:srgbClr val="FF0000"/>
                </a:solidFill>
                <a:cs typeface="Arial"/>
              </a:rPr>
              <a:t>a</a:t>
            </a:r>
            <a:r>
              <a:rPr sz="2800" b="1" dirty="0">
                <a:solidFill>
                  <a:srgbClr val="FF0000"/>
                </a:solidFill>
                <a:cs typeface="Arial"/>
              </a:rPr>
              <a:t>c</a:t>
            </a:r>
            <a:r>
              <a:rPr sz="2800" b="1" spc="-15" dirty="0">
                <a:solidFill>
                  <a:srgbClr val="FF0000"/>
                </a:solidFill>
                <a:cs typeface="Arial"/>
              </a:rPr>
              <a:t>i</a:t>
            </a:r>
            <a:r>
              <a:rPr sz="2800" b="1" spc="-20" dirty="0">
                <a:solidFill>
                  <a:srgbClr val="FF0000"/>
                </a:solidFill>
                <a:cs typeface="Arial"/>
              </a:rPr>
              <a:t>d</a:t>
            </a:r>
            <a:r>
              <a:rPr sz="2800" b="1" dirty="0">
                <a:solidFill>
                  <a:srgbClr val="FF0000"/>
                </a:solidFill>
                <a:cs typeface="Arial"/>
              </a:rPr>
              <a:t>e </a:t>
            </a:r>
            <a:r>
              <a:rPr sz="2800" b="1" spc="-20" dirty="0">
                <a:solidFill>
                  <a:srgbClr val="FF0000"/>
                </a:solidFill>
                <a:cs typeface="Arial"/>
              </a:rPr>
              <a:t>d</a:t>
            </a:r>
            <a:r>
              <a:rPr sz="2800" b="1" dirty="0">
                <a:solidFill>
                  <a:srgbClr val="FF0000"/>
                </a:solidFill>
                <a:cs typeface="Arial"/>
              </a:rPr>
              <a:t>és</a:t>
            </a:r>
            <a:r>
              <a:rPr sz="2800" b="1" spc="-20" dirty="0">
                <a:solidFill>
                  <a:srgbClr val="FF0000"/>
                </a:solidFill>
                <a:cs typeface="Arial"/>
              </a:rPr>
              <a:t>o</a:t>
            </a:r>
            <a:r>
              <a:rPr sz="2800" b="1" dirty="0">
                <a:solidFill>
                  <a:srgbClr val="FF0000"/>
                </a:solidFill>
                <a:cs typeface="Arial"/>
              </a:rPr>
              <a:t>xy</a:t>
            </a:r>
            <a:r>
              <a:rPr sz="2800" b="1" spc="-5" dirty="0">
                <a:solidFill>
                  <a:srgbClr val="FF0000"/>
                </a:solidFill>
                <a:cs typeface="Arial"/>
              </a:rPr>
              <a:t>r</a:t>
            </a:r>
            <a:r>
              <a:rPr sz="2800" b="1" spc="-15" dirty="0">
                <a:solidFill>
                  <a:srgbClr val="FF0000"/>
                </a:solidFill>
                <a:cs typeface="Arial"/>
              </a:rPr>
              <a:t>i</a:t>
            </a:r>
            <a:r>
              <a:rPr sz="2800" b="1" spc="-20" dirty="0">
                <a:solidFill>
                  <a:srgbClr val="FF0000"/>
                </a:solidFill>
                <a:cs typeface="Arial"/>
              </a:rPr>
              <a:t>bonu</a:t>
            </a:r>
            <a:r>
              <a:rPr sz="2800" b="1" dirty="0">
                <a:solidFill>
                  <a:srgbClr val="FF0000"/>
                </a:solidFill>
                <a:cs typeface="Arial"/>
              </a:rPr>
              <a:t>c</a:t>
            </a:r>
            <a:r>
              <a:rPr sz="2800" b="1" spc="-15" dirty="0">
                <a:solidFill>
                  <a:srgbClr val="FF0000"/>
                </a:solidFill>
                <a:cs typeface="Arial"/>
              </a:rPr>
              <a:t>l</a:t>
            </a:r>
            <a:r>
              <a:rPr sz="2800" b="1" spc="-20" dirty="0">
                <a:solidFill>
                  <a:srgbClr val="FF0000"/>
                </a:solidFill>
                <a:cs typeface="Arial"/>
              </a:rPr>
              <a:t>é</a:t>
            </a:r>
            <a:r>
              <a:rPr sz="2800" b="1" spc="-15" dirty="0">
                <a:solidFill>
                  <a:srgbClr val="FF0000"/>
                </a:solidFill>
                <a:cs typeface="Arial"/>
              </a:rPr>
              <a:t>i</a:t>
            </a:r>
            <a:r>
              <a:rPr sz="2800" b="1" spc="-20" dirty="0">
                <a:solidFill>
                  <a:srgbClr val="FF0000"/>
                </a:solidFill>
                <a:cs typeface="Arial"/>
              </a:rPr>
              <a:t>qu</a:t>
            </a:r>
            <a:r>
              <a:rPr sz="2800" b="1" dirty="0">
                <a:solidFill>
                  <a:srgbClr val="FF0000"/>
                </a:solidFill>
                <a:cs typeface="Arial"/>
              </a:rPr>
              <a:t>e </a:t>
            </a:r>
            <a:r>
              <a:rPr sz="2800" spc="5" dirty="0">
                <a:solidFill>
                  <a:prstClr val="black"/>
                </a:solidFill>
                <a:cs typeface="Arial"/>
              </a:rPr>
              <a:t>(</a:t>
            </a:r>
            <a:r>
              <a:rPr sz="2800" spc="-10" dirty="0">
                <a:solidFill>
                  <a:prstClr val="black"/>
                </a:solidFill>
                <a:cs typeface="Arial"/>
              </a:rPr>
              <a:t>A</a:t>
            </a:r>
            <a:r>
              <a:rPr sz="2800" dirty="0">
                <a:solidFill>
                  <a:prstClr val="black"/>
                </a:solidFill>
                <a:cs typeface="Arial"/>
              </a:rPr>
              <a:t>DN</a:t>
            </a:r>
            <a:r>
              <a:rPr sz="2800" spc="-5" dirty="0">
                <a:solidFill>
                  <a:prstClr val="black"/>
                </a:solidFill>
                <a:cs typeface="Arial"/>
              </a:rPr>
              <a:t>):</a:t>
            </a:r>
            <a:endParaRPr sz="2800" dirty="0">
              <a:solidFill>
                <a:prstClr val="black"/>
              </a:solidFill>
              <a:cs typeface="Arial"/>
            </a:endParaRPr>
          </a:p>
          <a:p>
            <a:pPr lvl="1">
              <a:spcBef>
                <a:spcPts val="34"/>
              </a:spcBef>
              <a:buFont typeface="Arial"/>
              <a:buChar char="-"/>
            </a:pPr>
            <a:endParaRPr sz="2600" dirty="0">
              <a:solidFill>
                <a:srgbClr val="FF0000"/>
              </a:solidFill>
              <a:cs typeface="Times New Roman"/>
            </a:endParaRPr>
          </a:p>
          <a:p>
            <a:pPr marL="1144270" lvl="1" indent="-217170">
              <a:buFont typeface="Arial"/>
              <a:buChar char="-"/>
              <a:tabLst>
                <a:tab pos="1144905" algn="l"/>
              </a:tabLst>
            </a:pPr>
            <a:r>
              <a:rPr sz="2800" b="1" spc="-15" dirty="0">
                <a:solidFill>
                  <a:srgbClr val="FF0000"/>
                </a:solidFill>
                <a:cs typeface="Arial"/>
              </a:rPr>
              <a:t>l'</a:t>
            </a:r>
            <a:r>
              <a:rPr sz="2800" b="1" spc="-20" dirty="0">
                <a:solidFill>
                  <a:srgbClr val="FF0000"/>
                </a:solidFill>
                <a:cs typeface="Arial"/>
              </a:rPr>
              <a:t>a</a:t>
            </a:r>
            <a:r>
              <a:rPr sz="2800" b="1" dirty="0">
                <a:solidFill>
                  <a:srgbClr val="FF0000"/>
                </a:solidFill>
                <a:cs typeface="Arial"/>
              </a:rPr>
              <a:t>c</a:t>
            </a:r>
            <a:r>
              <a:rPr sz="2800" b="1" spc="-15" dirty="0">
                <a:solidFill>
                  <a:srgbClr val="FF0000"/>
                </a:solidFill>
                <a:cs typeface="Arial"/>
              </a:rPr>
              <a:t>i</a:t>
            </a:r>
            <a:r>
              <a:rPr sz="2800" b="1" spc="-20" dirty="0">
                <a:solidFill>
                  <a:srgbClr val="FF0000"/>
                </a:solidFill>
                <a:cs typeface="Arial"/>
              </a:rPr>
              <a:t>d</a:t>
            </a:r>
            <a:r>
              <a:rPr sz="2800" b="1" dirty="0">
                <a:solidFill>
                  <a:srgbClr val="FF0000"/>
                </a:solidFill>
                <a:cs typeface="Arial"/>
              </a:rPr>
              <a:t>e </a:t>
            </a:r>
            <a:r>
              <a:rPr sz="2800" b="1" spc="-5" dirty="0">
                <a:solidFill>
                  <a:srgbClr val="FF0000"/>
                </a:solidFill>
                <a:cs typeface="Arial"/>
              </a:rPr>
              <a:t>r</a:t>
            </a:r>
            <a:r>
              <a:rPr sz="2800" b="1" spc="-15" dirty="0">
                <a:solidFill>
                  <a:srgbClr val="FF0000"/>
                </a:solidFill>
                <a:cs typeface="Arial"/>
              </a:rPr>
              <a:t>i</a:t>
            </a:r>
            <a:r>
              <a:rPr sz="2800" b="1" spc="-20" dirty="0">
                <a:solidFill>
                  <a:srgbClr val="FF0000"/>
                </a:solidFill>
                <a:cs typeface="Arial"/>
              </a:rPr>
              <a:t>bonu</a:t>
            </a:r>
            <a:r>
              <a:rPr sz="2800" b="1" dirty="0">
                <a:solidFill>
                  <a:srgbClr val="FF0000"/>
                </a:solidFill>
                <a:cs typeface="Arial"/>
              </a:rPr>
              <a:t>c</a:t>
            </a:r>
            <a:r>
              <a:rPr sz="2800" b="1" spc="-15" dirty="0">
                <a:solidFill>
                  <a:srgbClr val="FF0000"/>
                </a:solidFill>
                <a:cs typeface="Arial"/>
              </a:rPr>
              <a:t>l</a:t>
            </a:r>
            <a:r>
              <a:rPr sz="2800" b="1" spc="-20" dirty="0">
                <a:solidFill>
                  <a:srgbClr val="FF0000"/>
                </a:solidFill>
                <a:cs typeface="Arial"/>
              </a:rPr>
              <a:t>é</a:t>
            </a:r>
            <a:r>
              <a:rPr sz="2800" b="1" spc="-15" dirty="0">
                <a:solidFill>
                  <a:srgbClr val="FF0000"/>
                </a:solidFill>
                <a:cs typeface="Arial"/>
              </a:rPr>
              <a:t>i</a:t>
            </a:r>
            <a:r>
              <a:rPr sz="2800" b="1" spc="-20" dirty="0">
                <a:solidFill>
                  <a:srgbClr val="FF0000"/>
                </a:solidFill>
                <a:cs typeface="Arial"/>
              </a:rPr>
              <a:t>qu</a:t>
            </a:r>
            <a:r>
              <a:rPr sz="2800" b="1" dirty="0">
                <a:solidFill>
                  <a:srgbClr val="FF0000"/>
                </a:solidFill>
                <a:cs typeface="Arial"/>
              </a:rPr>
              <a:t>e</a:t>
            </a:r>
            <a:r>
              <a:rPr sz="2800" b="1" spc="-5" dirty="0">
                <a:solidFill>
                  <a:srgbClr val="FF0000"/>
                </a:solidFill>
                <a:cs typeface="Arial"/>
              </a:rPr>
              <a:t> </a:t>
            </a:r>
            <a:r>
              <a:rPr sz="2800" spc="5" dirty="0">
                <a:solidFill>
                  <a:prstClr val="black"/>
                </a:solidFill>
                <a:cs typeface="Arial"/>
              </a:rPr>
              <a:t>(</a:t>
            </a:r>
            <a:r>
              <a:rPr sz="2800" spc="-10" dirty="0">
                <a:solidFill>
                  <a:prstClr val="black"/>
                </a:solidFill>
                <a:cs typeface="Arial"/>
              </a:rPr>
              <a:t>A</a:t>
            </a:r>
            <a:r>
              <a:rPr sz="2800" dirty="0">
                <a:solidFill>
                  <a:prstClr val="black"/>
                </a:solidFill>
                <a:cs typeface="Arial"/>
              </a:rPr>
              <a:t>RN) </a:t>
            </a:r>
            <a:r>
              <a:rPr sz="2800" spc="-10" dirty="0">
                <a:solidFill>
                  <a:prstClr val="black"/>
                </a:solidFill>
                <a:cs typeface="Arial"/>
              </a:rPr>
              <a:t>:</a:t>
            </a:r>
            <a:endParaRPr sz="2800" dirty="0">
              <a:solidFill>
                <a:prstClr val="black"/>
              </a:solidFill>
              <a:cs typeface="Arial"/>
            </a:endParaRPr>
          </a:p>
        </p:txBody>
      </p:sp>
    </p:spTree>
    <p:extLst>
      <p:ext uri="{BB962C8B-B14F-4D97-AF65-F5344CB8AC3E}">
        <p14:creationId xmlns:p14="http://schemas.microsoft.com/office/powerpoint/2010/main" val="586910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840" y="904287"/>
            <a:ext cx="10515600" cy="2862322"/>
          </a:xfrm>
          <a:prstGeom prst="rect">
            <a:avLst/>
          </a:prstGeom>
        </p:spPr>
        <p:txBody>
          <a:bodyPr wrap="square">
            <a:spAutoFit/>
          </a:bodyPr>
          <a:lstStyle/>
          <a:p>
            <a:pPr>
              <a:lnSpc>
                <a:spcPct val="150000"/>
              </a:lnSpc>
            </a:pPr>
            <a:r>
              <a:rPr lang="fr-FR" sz="2000" dirty="0">
                <a:solidFill>
                  <a:prstClr val="black"/>
                </a:solidFill>
              </a:rPr>
              <a:t>C’est </a:t>
            </a:r>
            <a:r>
              <a:rPr lang="fr-FR" sz="2000" dirty="0">
                <a:solidFill>
                  <a:prstClr val="black"/>
                </a:solidFill>
              </a:rPr>
              <a:t>une chaîne de plusieurs nucléotides, eux-mêmes composés de :</a:t>
            </a:r>
          </a:p>
          <a:p>
            <a:pPr>
              <a:lnSpc>
                <a:spcPct val="150000"/>
              </a:lnSpc>
            </a:pPr>
            <a:r>
              <a:rPr lang="fr-FR" sz="2000" dirty="0">
                <a:solidFill>
                  <a:prstClr val="black"/>
                </a:solidFill>
              </a:rPr>
              <a:t>Bases azotées dérivées de 2 noyaux </a:t>
            </a:r>
            <a:r>
              <a:rPr lang="fr-FR" sz="2000" dirty="0" err="1">
                <a:solidFill>
                  <a:prstClr val="black"/>
                </a:solidFill>
              </a:rPr>
              <a:t>hétérocyclés</a:t>
            </a:r>
            <a:r>
              <a:rPr lang="fr-FR" sz="2000" dirty="0">
                <a:solidFill>
                  <a:prstClr val="black"/>
                </a:solidFill>
              </a:rPr>
              <a:t> azotés :</a:t>
            </a:r>
          </a:p>
          <a:p>
            <a:pPr>
              <a:lnSpc>
                <a:spcPct val="150000"/>
              </a:lnSpc>
            </a:pPr>
            <a:r>
              <a:rPr lang="fr-FR" sz="2000" dirty="0">
                <a:solidFill>
                  <a:prstClr val="black"/>
                </a:solidFill>
              </a:rPr>
              <a:t>- Noyau Purine : Adénine (A), Guanine (G) : Bases Puriques</a:t>
            </a:r>
          </a:p>
          <a:p>
            <a:pPr>
              <a:lnSpc>
                <a:spcPct val="150000"/>
              </a:lnSpc>
            </a:pPr>
            <a:r>
              <a:rPr lang="fr-FR" sz="2000" dirty="0">
                <a:solidFill>
                  <a:prstClr val="black"/>
                </a:solidFill>
              </a:rPr>
              <a:t>- Noyau Pyrimidine : Cytosine (C), Uracile (U), Thymine (T) : Bases Pyrimidiques</a:t>
            </a:r>
          </a:p>
          <a:p>
            <a:pPr>
              <a:lnSpc>
                <a:spcPct val="150000"/>
              </a:lnSpc>
            </a:pPr>
            <a:r>
              <a:rPr lang="fr-FR" sz="2000" b="1" dirty="0">
                <a:solidFill>
                  <a:prstClr val="black"/>
                </a:solidFill>
              </a:rPr>
              <a:t> NB: </a:t>
            </a:r>
            <a:r>
              <a:rPr lang="fr-FR" sz="2000" dirty="0">
                <a:solidFill>
                  <a:prstClr val="black"/>
                </a:solidFill>
              </a:rPr>
              <a:t>La </a:t>
            </a:r>
            <a:r>
              <a:rPr lang="fr-FR" sz="2000" dirty="0">
                <a:solidFill>
                  <a:prstClr val="black"/>
                </a:solidFill>
              </a:rPr>
              <a:t>Thymine (T) se trouve uniquement chez l’ADN et l’Uracile (U) uniquement chez l’ARN.</a:t>
            </a:r>
          </a:p>
          <a:p>
            <a:pPr>
              <a:lnSpc>
                <a:spcPct val="150000"/>
              </a:lnSpc>
            </a:pPr>
            <a:r>
              <a:rPr lang="fr-FR" sz="2000" b="1" dirty="0">
                <a:solidFill>
                  <a:prstClr val="black"/>
                </a:solidFill>
              </a:rPr>
              <a:t>Pentose</a:t>
            </a:r>
            <a:r>
              <a:rPr lang="fr-FR" sz="2000" dirty="0">
                <a:solidFill>
                  <a:prstClr val="black"/>
                </a:solidFill>
              </a:rPr>
              <a:t> : est soit le </a:t>
            </a:r>
            <a:r>
              <a:rPr lang="fr-FR" sz="2000" b="1" dirty="0">
                <a:solidFill>
                  <a:prstClr val="black"/>
                </a:solidFill>
              </a:rPr>
              <a:t>Ribose</a:t>
            </a:r>
            <a:r>
              <a:rPr lang="fr-FR" sz="2000" dirty="0">
                <a:solidFill>
                  <a:prstClr val="black"/>
                </a:solidFill>
              </a:rPr>
              <a:t> (dans l’ARN) ou le </a:t>
            </a:r>
            <a:r>
              <a:rPr lang="fr-FR" sz="2000" b="1" dirty="0">
                <a:solidFill>
                  <a:prstClr val="black"/>
                </a:solidFill>
              </a:rPr>
              <a:t>Désoxyribose</a:t>
            </a:r>
            <a:r>
              <a:rPr lang="fr-FR" sz="2000" dirty="0">
                <a:solidFill>
                  <a:prstClr val="black"/>
                </a:solidFill>
              </a:rPr>
              <a:t> (dans l’ADN</a:t>
            </a:r>
            <a:r>
              <a:rPr lang="fr-FR" sz="2000" dirty="0">
                <a:solidFill>
                  <a:prstClr val="black"/>
                </a:solidFill>
              </a:rPr>
              <a:t>)</a:t>
            </a:r>
            <a:endParaRPr lang="fr-FR" sz="2000" dirty="0">
              <a:solidFill>
                <a:prstClr val="black"/>
              </a:solidFill>
            </a:endParaRPr>
          </a:p>
        </p:txBody>
      </p:sp>
      <p:sp>
        <p:nvSpPr>
          <p:cNvPr id="3" name="Rectangle 2"/>
          <p:cNvSpPr/>
          <p:nvPr/>
        </p:nvSpPr>
        <p:spPr>
          <a:xfrm>
            <a:off x="1176198" y="196401"/>
            <a:ext cx="6507231" cy="584775"/>
          </a:xfrm>
          <a:prstGeom prst="rect">
            <a:avLst/>
          </a:prstGeom>
          <a:noFill/>
        </p:spPr>
        <p:txBody>
          <a:bodyPr wrap="none" rtlCol="0">
            <a:spAutoFit/>
          </a:bodyPr>
          <a:lstStyle/>
          <a:p>
            <a:r>
              <a:rPr lang="fr-FR" sz="3200" dirty="0">
                <a:solidFill>
                  <a:srgbClr val="0033CC"/>
                </a:solidFill>
              </a:rPr>
              <a:t>A- ADN </a:t>
            </a:r>
            <a:r>
              <a:rPr lang="fr-FR" sz="3200" dirty="0">
                <a:solidFill>
                  <a:srgbClr val="0033CC"/>
                </a:solidFill>
              </a:rPr>
              <a:t>: Acide </a:t>
            </a:r>
            <a:r>
              <a:rPr lang="fr-FR" sz="3200" dirty="0" err="1">
                <a:solidFill>
                  <a:srgbClr val="0033CC"/>
                </a:solidFill>
              </a:rPr>
              <a:t>DésoxyriboNucléique</a:t>
            </a:r>
            <a:endParaRPr lang="fr-FR" sz="3200" dirty="0">
              <a:solidFill>
                <a:srgbClr val="0033CC"/>
              </a:solidFill>
            </a:endParaRPr>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9760" y="3657600"/>
            <a:ext cx="8381999" cy="3200400"/>
          </a:xfrm>
          <a:prstGeom prst="rect">
            <a:avLst/>
          </a:prstGeom>
        </p:spPr>
      </p:pic>
    </p:spTree>
    <p:extLst>
      <p:ext uri="{BB962C8B-B14F-4D97-AF65-F5344CB8AC3E}">
        <p14:creationId xmlns:p14="http://schemas.microsoft.com/office/powerpoint/2010/main" val="1180818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 calcmode="lin" valueType="num">
                                      <p:cBhvr additive="base">
                                        <p:cTn id="2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 calcmode="lin" valueType="num">
                                      <p:cBhvr additive="base">
                                        <p:cTn id="3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8160" y="1516856"/>
            <a:ext cx="11673840" cy="2031325"/>
          </a:xfrm>
          <a:prstGeom prst="rect">
            <a:avLst/>
          </a:prstGeom>
        </p:spPr>
        <p:txBody>
          <a:bodyPr wrap="square">
            <a:spAutoFit/>
          </a:bodyPr>
          <a:lstStyle/>
          <a:p>
            <a:pPr>
              <a:lnSpc>
                <a:spcPct val="150000"/>
              </a:lnSpc>
            </a:pPr>
            <a:r>
              <a:rPr lang="fr-FR" sz="2800" dirty="0">
                <a:solidFill>
                  <a:prstClr val="black"/>
                </a:solidFill>
              </a:rPr>
              <a:t>L’ADN est une macromolécule de longue chaîne </a:t>
            </a:r>
            <a:r>
              <a:rPr lang="fr-FR" sz="2800" dirty="0" err="1">
                <a:solidFill>
                  <a:prstClr val="black"/>
                </a:solidFill>
              </a:rPr>
              <a:t>polynucléotidique</a:t>
            </a:r>
            <a:r>
              <a:rPr lang="fr-FR" sz="2800" dirty="0">
                <a:solidFill>
                  <a:prstClr val="black"/>
                </a:solidFill>
              </a:rPr>
              <a:t> orientée dans le sens </a:t>
            </a:r>
            <a:r>
              <a:rPr lang="fr-FR" sz="2800" dirty="0">
                <a:solidFill>
                  <a:prstClr val="black"/>
                </a:solidFill>
              </a:rPr>
              <a:t>de </a:t>
            </a:r>
            <a:r>
              <a:rPr lang="fr-FR" sz="2800" b="1" dirty="0">
                <a:solidFill>
                  <a:prstClr val="black"/>
                </a:solidFill>
              </a:rPr>
              <a:t>l’extrémité </a:t>
            </a:r>
            <a:r>
              <a:rPr lang="fr-FR" sz="2800" b="1" dirty="0">
                <a:solidFill>
                  <a:prstClr val="black"/>
                </a:solidFill>
              </a:rPr>
              <a:t>5’ </a:t>
            </a:r>
            <a:r>
              <a:rPr lang="fr-FR" sz="2800" dirty="0">
                <a:solidFill>
                  <a:prstClr val="black"/>
                </a:solidFill>
              </a:rPr>
              <a:t>(comportant un groupement phosphate) vers </a:t>
            </a:r>
            <a:r>
              <a:rPr lang="fr-FR" sz="2800" b="1" dirty="0">
                <a:solidFill>
                  <a:prstClr val="black"/>
                </a:solidFill>
              </a:rPr>
              <a:t>l’extrémité 3’</a:t>
            </a:r>
            <a:r>
              <a:rPr lang="fr-FR" sz="2800" dirty="0">
                <a:solidFill>
                  <a:prstClr val="black"/>
                </a:solidFill>
              </a:rPr>
              <a:t> qui possède un </a:t>
            </a:r>
            <a:r>
              <a:rPr lang="fr-FR" sz="2800" dirty="0">
                <a:solidFill>
                  <a:prstClr val="black"/>
                </a:solidFill>
              </a:rPr>
              <a:t>OH C’est </a:t>
            </a:r>
            <a:r>
              <a:rPr lang="fr-FR" sz="2800" dirty="0">
                <a:solidFill>
                  <a:prstClr val="black"/>
                </a:solidFill>
              </a:rPr>
              <a:t>la structure primaire.</a:t>
            </a:r>
          </a:p>
        </p:txBody>
      </p:sp>
      <p:pic>
        <p:nvPicPr>
          <p:cNvPr id="3" name="Imag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62069" y="3598162"/>
            <a:ext cx="8109113" cy="2101598"/>
          </a:xfrm>
          <a:prstGeom prst="rect">
            <a:avLst/>
          </a:prstGeom>
        </p:spPr>
      </p:pic>
      <p:sp>
        <p:nvSpPr>
          <p:cNvPr id="5" name="Rectangle 4"/>
          <p:cNvSpPr/>
          <p:nvPr/>
        </p:nvSpPr>
        <p:spPr>
          <a:xfrm>
            <a:off x="1130478" y="379281"/>
            <a:ext cx="6507231" cy="584775"/>
          </a:xfrm>
          <a:prstGeom prst="rect">
            <a:avLst/>
          </a:prstGeom>
          <a:noFill/>
        </p:spPr>
        <p:txBody>
          <a:bodyPr wrap="none" rtlCol="0">
            <a:spAutoFit/>
          </a:bodyPr>
          <a:lstStyle/>
          <a:p>
            <a:r>
              <a:rPr lang="fr-FR" sz="3200" dirty="0">
                <a:solidFill>
                  <a:srgbClr val="0033CC"/>
                </a:solidFill>
              </a:rPr>
              <a:t>A- ADN </a:t>
            </a:r>
            <a:r>
              <a:rPr lang="fr-FR" sz="3200" dirty="0">
                <a:solidFill>
                  <a:srgbClr val="0033CC"/>
                </a:solidFill>
              </a:rPr>
              <a:t>: Acide </a:t>
            </a:r>
            <a:r>
              <a:rPr lang="fr-FR" sz="3200" dirty="0" err="1">
                <a:solidFill>
                  <a:srgbClr val="0033CC"/>
                </a:solidFill>
              </a:rPr>
              <a:t>DésoxyriboNucléique</a:t>
            </a:r>
            <a:endParaRPr lang="fr-FR" sz="3200" dirty="0">
              <a:solidFill>
                <a:srgbClr val="0033CC"/>
              </a:solidFill>
            </a:endParaRPr>
          </a:p>
        </p:txBody>
      </p:sp>
    </p:spTree>
    <p:extLst>
      <p:ext uri="{BB962C8B-B14F-4D97-AF65-F5344CB8AC3E}">
        <p14:creationId xmlns:p14="http://schemas.microsoft.com/office/powerpoint/2010/main" val="62020018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1199495"/>
            <a:ext cx="9906000" cy="4401205"/>
          </a:xfrm>
          <a:prstGeom prst="rect">
            <a:avLst/>
          </a:prstGeom>
        </p:spPr>
        <p:txBody>
          <a:bodyPr wrap="square">
            <a:spAutoFit/>
          </a:bodyPr>
          <a:lstStyle/>
          <a:p>
            <a:pPr marL="285750" indent="-285750">
              <a:lnSpc>
                <a:spcPct val="200000"/>
              </a:lnSpc>
              <a:buFontTx/>
              <a:buChar char="-"/>
            </a:pPr>
            <a:r>
              <a:rPr lang="fr-FR" sz="2800" dirty="0">
                <a:solidFill>
                  <a:prstClr val="black"/>
                </a:solidFill>
              </a:rPr>
              <a:t>la </a:t>
            </a:r>
            <a:r>
              <a:rPr lang="fr-FR" sz="2800" dirty="0">
                <a:solidFill>
                  <a:prstClr val="black"/>
                </a:solidFill>
              </a:rPr>
              <a:t>formation de protéines et de l'ARN, </a:t>
            </a:r>
            <a:endParaRPr lang="fr-FR" sz="2800" dirty="0">
              <a:solidFill>
                <a:prstClr val="black"/>
              </a:solidFill>
            </a:endParaRPr>
          </a:p>
          <a:p>
            <a:pPr marL="285750" indent="-285750">
              <a:lnSpc>
                <a:spcPct val="200000"/>
              </a:lnSpc>
              <a:buFontTx/>
              <a:buChar char="-"/>
            </a:pPr>
            <a:r>
              <a:rPr lang="fr-FR" sz="2800" dirty="0">
                <a:solidFill>
                  <a:prstClr val="black"/>
                </a:solidFill>
              </a:rPr>
              <a:t>le support de l'information génétique qui est transmise de génération en génération </a:t>
            </a:r>
            <a:endParaRPr lang="fr-FR" sz="2800" dirty="0">
              <a:solidFill>
                <a:prstClr val="black"/>
              </a:solidFill>
            </a:endParaRPr>
          </a:p>
          <a:p>
            <a:pPr marL="285750" indent="-285750">
              <a:lnSpc>
                <a:spcPct val="200000"/>
              </a:lnSpc>
              <a:buFontTx/>
              <a:buChar char="-"/>
            </a:pPr>
            <a:r>
              <a:rPr lang="fr-FR" sz="2800" dirty="0">
                <a:solidFill>
                  <a:prstClr val="black"/>
                </a:solidFill>
              </a:rPr>
              <a:t>l'échange </a:t>
            </a:r>
            <a:r>
              <a:rPr lang="fr-FR" sz="2800" dirty="0">
                <a:solidFill>
                  <a:prstClr val="black"/>
                </a:solidFill>
              </a:rPr>
              <a:t>de matériel génétique lors de la division cellulaire pendant la </a:t>
            </a:r>
            <a:r>
              <a:rPr lang="fr-FR" sz="2800" dirty="0">
                <a:solidFill>
                  <a:prstClr val="black"/>
                </a:solidFill>
              </a:rPr>
              <a:t>méiose. </a:t>
            </a:r>
            <a:endParaRPr lang="fr-FR" sz="2800" dirty="0">
              <a:solidFill>
                <a:prstClr val="black"/>
              </a:solidFill>
            </a:endParaRPr>
          </a:p>
        </p:txBody>
      </p:sp>
      <p:sp>
        <p:nvSpPr>
          <p:cNvPr id="3" name="Rectangle 2"/>
          <p:cNvSpPr/>
          <p:nvPr/>
        </p:nvSpPr>
        <p:spPr>
          <a:xfrm>
            <a:off x="1130478" y="379281"/>
            <a:ext cx="6507231" cy="1077218"/>
          </a:xfrm>
          <a:prstGeom prst="rect">
            <a:avLst/>
          </a:prstGeom>
          <a:noFill/>
        </p:spPr>
        <p:txBody>
          <a:bodyPr wrap="none" rtlCol="0">
            <a:spAutoFit/>
          </a:bodyPr>
          <a:lstStyle/>
          <a:p>
            <a:r>
              <a:rPr lang="fr-FR" sz="3200" dirty="0">
                <a:solidFill>
                  <a:srgbClr val="0033CC"/>
                </a:solidFill>
              </a:rPr>
              <a:t>A- ADN </a:t>
            </a:r>
            <a:r>
              <a:rPr lang="fr-FR" sz="3200" dirty="0">
                <a:solidFill>
                  <a:srgbClr val="0033CC"/>
                </a:solidFill>
              </a:rPr>
              <a:t>: Acide </a:t>
            </a:r>
            <a:r>
              <a:rPr lang="fr-FR" sz="3200" dirty="0" err="1">
                <a:solidFill>
                  <a:srgbClr val="0033CC"/>
                </a:solidFill>
              </a:rPr>
              <a:t>DésoxyriboNucléique</a:t>
            </a:r>
            <a:endParaRPr lang="fr-FR" sz="3200" dirty="0">
              <a:solidFill>
                <a:srgbClr val="0033CC"/>
              </a:solidFill>
            </a:endParaRPr>
          </a:p>
          <a:p>
            <a:r>
              <a:rPr lang="fr-FR" sz="3200" dirty="0">
                <a:solidFill>
                  <a:srgbClr val="0033CC"/>
                </a:solidFill>
              </a:rPr>
              <a:t>Rôles et fonctions </a:t>
            </a:r>
            <a:endParaRPr lang="fr-FR" sz="3200" dirty="0">
              <a:solidFill>
                <a:srgbClr val="0033CC"/>
              </a:solidFill>
            </a:endParaRPr>
          </a:p>
        </p:txBody>
      </p:sp>
    </p:spTree>
    <p:extLst>
      <p:ext uri="{BB962C8B-B14F-4D97-AF65-F5344CB8AC3E}">
        <p14:creationId xmlns:p14="http://schemas.microsoft.com/office/powerpoint/2010/main" val="310223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24638" y="720968"/>
            <a:ext cx="11932920" cy="3269741"/>
          </a:xfrm>
          <a:prstGeom prst="rect">
            <a:avLst/>
          </a:prstGeom>
          <a:noFill/>
        </p:spPr>
        <p:txBody>
          <a:bodyPr wrap="square" rtlCol="0">
            <a:spAutoFit/>
          </a:bodyPr>
          <a:lstStyle/>
          <a:p>
            <a:pPr>
              <a:lnSpc>
                <a:spcPct val="150000"/>
              </a:lnSpc>
            </a:pPr>
            <a:r>
              <a:rPr lang="fr-FR" sz="2000" dirty="0">
                <a:solidFill>
                  <a:prstClr val="black"/>
                </a:solidFill>
              </a:rPr>
              <a:t>- Les </a:t>
            </a:r>
            <a:r>
              <a:rPr lang="fr-FR" sz="2000" dirty="0">
                <a:solidFill>
                  <a:prstClr val="black"/>
                </a:solidFill>
              </a:rPr>
              <a:t>ARN sont des macromolécules composées d’une seule chaîne nucléotidique </a:t>
            </a:r>
            <a:r>
              <a:rPr lang="fr-FR" sz="2000" dirty="0">
                <a:solidFill>
                  <a:prstClr val="black"/>
                </a:solidFill>
              </a:rPr>
              <a:t>= Monocaténaires</a:t>
            </a:r>
            <a:r>
              <a:rPr lang="fr-FR" sz="2000" dirty="0">
                <a:solidFill>
                  <a:prstClr val="black"/>
                </a:solidFill>
              </a:rPr>
              <a:t>.</a:t>
            </a:r>
          </a:p>
          <a:p>
            <a:pPr>
              <a:lnSpc>
                <a:spcPct val="150000"/>
              </a:lnSpc>
            </a:pPr>
            <a:r>
              <a:rPr lang="fr-FR" sz="2000" dirty="0">
                <a:solidFill>
                  <a:prstClr val="black"/>
                </a:solidFill>
              </a:rPr>
              <a:t>Mais dans une même chaîne d’ARN des portions peuvent être sous forme bicaténaire avec une</a:t>
            </a:r>
          </a:p>
          <a:p>
            <a:pPr>
              <a:lnSpc>
                <a:spcPct val="150000"/>
              </a:lnSpc>
            </a:pPr>
            <a:r>
              <a:rPr lang="fr-FR" sz="2000" dirty="0">
                <a:solidFill>
                  <a:prstClr val="black"/>
                </a:solidFill>
              </a:rPr>
              <a:t>complémentarité suivant la règle :</a:t>
            </a:r>
          </a:p>
          <a:p>
            <a:pPr>
              <a:lnSpc>
                <a:spcPct val="150000"/>
              </a:lnSpc>
            </a:pPr>
            <a:r>
              <a:rPr lang="fr-FR" sz="2000" dirty="0">
                <a:solidFill>
                  <a:prstClr val="black"/>
                </a:solidFill>
              </a:rPr>
              <a:t>- 2 liaisons hydrogène entre A et U</a:t>
            </a:r>
          </a:p>
          <a:p>
            <a:pPr>
              <a:lnSpc>
                <a:spcPct val="150000"/>
              </a:lnSpc>
            </a:pPr>
            <a:r>
              <a:rPr lang="fr-FR" sz="2000" dirty="0">
                <a:solidFill>
                  <a:prstClr val="black"/>
                </a:solidFill>
              </a:rPr>
              <a:t>- et 3 liaisons hydrogène entre C et G</a:t>
            </a:r>
          </a:p>
          <a:p>
            <a:pPr>
              <a:lnSpc>
                <a:spcPct val="150000"/>
              </a:lnSpc>
            </a:pPr>
            <a:r>
              <a:rPr lang="fr-FR" sz="2000" dirty="0">
                <a:solidFill>
                  <a:prstClr val="black"/>
                </a:solidFill>
              </a:rPr>
              <a:t>Il existe 3 types d’ARN qui jouent un rôle essentiel dans la transcription (ARNm) et la </a:t>
            </a:r>
            <a:r>
              <a:rPr lang="fr-FR" sz="2000" dirty="0">
                <a:solidFill>
                  <a:prstClr val="black"/>
                </a:solidFill>
              </a:rPr>
              <a:t>traduction (</a:t>
            </a:r>
            <a:r>
              <a:rPr lang="fr-FR" sz="2000" dirty="0" err="1">
                <a:solidFill>
                  <a:prstClr val="black"/>
                </a:solidFill>
              </a:rPr>
              <a:t>ARNt</a:t>
            </a:r>
            <a:r>
              <a:rPr lang="fr-FR" sz="2000" dirty="0">
                <a:solidFill>
                  <a:prstClr val="black"/>
                </a:solidFill>
              </a:rPr>
              <a:t> </a:t>
            </a:r>
            <a:r>
              <a:rPr lang="fr-FR" sz="2000" dirty="0">
                <a:solidFill>
                  <a:prstClr val="black"/>
                </a:solidFill>
              </a:rPr>
              <a:t>et ARNr) de l'information génétique qui aboutit à la biosynthèse des protéines.</a:t>
            </a:r>
          </a:p>
        </p:txBody>
      </p:sp>
      <p:sp>
        <p:nvSpPr>
          <p:cNvPr id="3" name="Rectangle 2"/>
          <p:cNvSpPr/>
          <p:nvPr/>
        </p:nvSpPr>
        <p:spPr>
          <a:xfrm>
            <a:off x="124638" y="13082"/>
            <a:ext cx="5929700" cy="707886"/>
          </a:xfrm>
          <a:prstGeom prst="rect">
            <a:avLst/>
          </a:prstGeom>
          <a:noFill/>
        </p:spPr>
        <p:txBody>
          <a:bodyPr wrap="none" rtlCol="0">
            <a:spAutoFit/>
          </a:bodyPr>
          <a:lstStyle/>
          <a:p>
            <a:r>
              <a:rPr lang="fr-FR" sz="4000" dirty="0">
                <a:solidFill>
                  <a:srgbClr val="42BA97"/>
                </a:solidFill>
              </a:rPr>
              <a:t>ARN : </a:t>
            </a:r>
            <a:r>
              <a:rPr lang="fr-FR" sz="4000" dirty="0">
                <a:solidFill>
                  <a:srgbClr val="42BA97"/>
                </a:solidFill>
              </a:rPr>
              <a:t>Acide Ribonucléique</a:t>
            </a:r>
            <a:endParaRPr lang="fr-FR" sz="4000" dirty="0">
              <a:solidFill>
                <a:srgbClr val="42BA97"/>
              </a:solidFill>
            </a:endParaRPr>
          </a:p>
        </p:txBody>
      </p:sp>
      <p:pic>
        <p:nvPicPr>
          <p:cNvPr id="4" name="Image 3"/>
          <p:cNvPicPr>
            <a:picLocks noChangeAspect="1"/>
          </p:cNvPicPr>
          <p:nvPr/>
        </p:nvPicPr>
        <p:blipFill>
          <a:blip r:embed="rId2"/>
          <a:stretch>
            <a:fillRect/>
          </a:stretch>
        </p:blipFill>
        <p:spPr>
          <a:xfrm>
            <a:off x="4251960" y="3990709"/>
            <a:ext cx="4653915" cy="2736533"/>
          </a:xfrm>
          <a:prstGeom prst="rect">
            <a:avLst/>
          </a:prstGeom>
        </p:spPr>
      </p:pic>
    </p:spTree>
    <p:extLst>
      <p:ext uri="{BB962C8B-B14F-4D97-AF65-F5344CB8AC3E}">
        <p14:creationId xmlns:p14="http://schemas.microsoft.com/office/powerpoint/2010/main" val="13698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1264980"/>
            <a:ext cx="10957560" cy="507831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fr-FR" sz="2400" b="1" dirty="0">
                <a:solidFill>
                  <a:prstClr val="black"/>
                </a:solidFill>
              </a:rPr>
              <a:t>ARN messager (ARNm) </a:t>
            </a:r>
            <a:r>
              <a:rPr lang="fr-FR" sz="2400" dirty="0">
                <a:solidFill>
                  <a:prstClr val="black"/>
                </a:solidFill>
              </a:rPr>
              <a:t>: copie de transcription de l’ADN (un équivalent à l’ADN</a:t>
            </a:r>
            <a:r>
              <a:rPr lang="fr-FR" sz="2400" dirty="0">
                <a:solidFill>
                  <a:prstClr val="black"/>
                </a:solidFill>
              </a:rPr>
              <a:t>).</a:t>
            </a:r>
          </a:p>
          <a:p>
            <a:pPr marL="342900" indent="-342900" algn="just">
              <a:lnSpc>
                <a:spcPct val="150000"/>
              </a:lnSpc>
              <a:buFont typeface="Arial" panose="020B0604020202020204" pitchFamily="34" charset="0"/>
              <a:buChar char="•"/>
            </a:pPr>
            <a:r>
              <a:rPr lang="fr-FR" sz="2400" b="1" dirty="0">
                <a:solidFill>
                  <a:prstClr val="black"/>
                </a:solidFill>
              </a:rPr>
              <a:t>ARN </a:t>
            </a:r>
            <a:r>
              <a:rPr lang="fr-FR" sz="2400" b="1" dirty="0">
                <a:solidFill>
                  <a:prstClr val="black"/>
                </a:solidFill>
              </a:rPr>
              <a:t>ribosomique (ARNr) </a:t>
            </a:r>
            <a:r>
              <a:rPr lang="fr-FR" sz="2400" dirty="0">
                <a:solidFill>
                  <a:prstClr val="black"/>
                </a:solidFill>
              </a:rPr>
              <a:t>: Ribosomes traduisent l’information génétique </a:t>
            </a:r>
            <a:r>
              <a:rPr lang="fr-FR" sz="2400" dirty="0">
                <a:solidFill>
                  <a:prstClr val="black"/>
                </a:solidFill>
              </a:rPr>
              <a:t>contenue dans </a:t>
            </a:r>
            <a:r>
              <a:rPr lang="fr-FR" sz="2400" dirty="0" err="1">
                <a:solidFill>
                  <a:prstClr val="black"/>
                </a:solidFill>
              </a:rPr>
              <a:t>ARNmen</a:t>
            </a:r>
            <a:r>
              <a:rPr lang="fr-FR" sz="2400" dirty="0">
                <a:solidFill>
                  <a:prstClr val="black"/>
                </a:solidFill>
              </a:rPr>
              <a:t> </a:t>
            </a:r>
            <a:r>
              <a:rPr lang="fr-FR" sz="2400" dirty="0">
                <a:solidFill>
                  <a:prstClr val="black"/>
                </a:solidFill>
              </a:rPr>
              <a:t>une séquence </a:t>
            </a:r>
            <a:r>
              <a:rPr lang="fr-FR" sz="2400" dirty="0" err="1">
                <a:solidFill>
                  <a:prstClr val="black"/>
                </a:solidFill>
              </a:rPr>
              <a:t>d’aa</a:t>
            </a:r>
            <a:r>
              <a:rPr lang="fr-FR" sz="2400" dirty="0">
                <a:solidFill>
                  <a:prstClr val="black"/>
                </a:solidFill>
              </a:rPr>
              <a:t>.</a:t>
            </a:r>
          </a:p>
          <a:p>
            <a:pPr marL="342900" indent="-342900" algn="just">
              <a:lnSpc>
                <a:spcPct val="150000"/>
              </a:lnSpc>
              <a:buFont typeface="Arial" panose="020B0604020202020204" pitchFamily="34" charset="0"/>
              <a:buChar char="•"/>
            </a:pPr>
            <a:r>
              <a:rPr lang="fr-FR" sz="2400" dirty="0">
                <a:solidFill>
                  <a:prstClr val="black"/>
                </a:solidFill>
              </a:rPr>
              <a:t> </a:t>
            </a:r>
            <a:r>
              <a:rPr lang="fr-FR" sz="2400" b="1" dirty="0">
                <a:solidFill>
                  <a:prstClr val="black"/>
                </a:solidFill>
              </a:rPr>
              <a:t>ARN de transfert (</a:t>
            </a:r>
            <a:r>
              <a:rPr lang="fr-FR" sz="2400" b="1" dirty="0" err="1">
                <a:solidFill>
                  <a:prstClr val="black"/>
                </a:solidFill>
              </a:rPr>
              <a:t>ARNt</a:t>
            </a:r>
            <a:r>
              <a:rPr lang="fr-FR" sz="2400" b="1" dirty="0">
                <a:solidFill>
                  <a:prstClr val="black"/>
                </a:solidFill>
              </a:rPr>
              <a:t>) </a:t>
            </a:r>
            <a:r>
              <a:rPr lang="fr-FR" sz="2400" dirty="0">
                <a:solidFill>
                  <a:prstClr val="black"/>
                </a:solidFill>
              </a:rPr>
              <a:t>: transportent les </a:t>
            </a:r>
            <a:r>
              <a:rPr lang="fr-FR" sz="2400" dirty="0" err="1">
                <a:solidFill>
                  <a:prstClr val="black"/>
                </a:solidFill>
              </a:rPr>
              <a:t>aa</a:t>
            </a:r>
            <a:r>
              <a:rPr lang="fr-FR" sz="2400" dirty="0">
                <a:solidFill>
                  <a:prstClr val="black"/>
                </a:solidFill>
              </a:rPr>
              <a:t> nécessaires à la synthèse des protéines.</a:t>
            </a:r>
          </a:p>
          <a:p>
            <a:pPr marL="342900" indent="-342900" algn="just">
              <a:lnSpc>
                <a:spcPct val="150000"/>
              </a:lnSpc>
              <a:buFont typeface="Arial" panose="020B0604020202020204" pitchFamily="34" charset="0"/>
              <a:buChar char="•"/>
            </a:pPr>
            <a:r>
              <a:rPr lang="fr-FR" sz="2400" b="1" dirty="0">
                <a:solidFill>
                  <a:prstClr val="black"/>
                </a:solidFill>
              </a:rPr>
              <a:t>Petits </a:t>
            </a:r>
            <a:r>
              <a:rPr lang="fr-FR" sz="2400" b="1" dirty="0">
                <a:solidFill>
                  <a:prstClr val="black"/>
                </a:solidFill>
              </a:rPr>
              <a:t>ARN nucléaires (</a:t>
            </a:r>
            <a:r>
              <a:rPr lang="fr-FR" sz="2400" b="1" dirty="0" err="1">
                <a:solidFill>
                  <a:prstClr val="black"/>
                </a:solidFill>
              </a:rPr>
              <a:t>ARNpn</a:t>
            </a:r>
            <a:r>
              <a:rPr lang="fr-FR" sz="2400" b="1" dirty="0">
                <a:solidFill>
                  <a:prstClr val="black"/>
                </a:solidFill>
              </a:rPr>
              <a:t>) </a:t>
            </a:r>
            <a:r>
              <a:rPr lang="fr-FR" sz="2400" dirty="0">
                <a:solidFill>
                  <a:prstClr val="black"/>
                </a:solidFill>
              </a:rPr>
              <a:t>: ne sont jamais à l’état libre; ils sont liés aux </a:t>
            </a:r>
            <a:r>
              <a:rPr lang="fr-FR" sz="2400" dirty="0">
                <a:solidFill>
                  <a:prstClr val="black"/>
                </a:solidFill>
              </a:rPr>
              <a:t>complexes protéiques </a:t>
            </a:r>
            <a:r>
              <a:rPr lang="fr-FR" sz="2400" dirty="0">
                <a:solidFill>
                  <a:prstClr val="black"/>
                </a:solidFill>
              </a:rPr>
              <a:t>stables. Maturation des transcrits primaires et le transport de ARNm vers le cytoplasme.</a:t>
            </a:r>
          </a:p>
        </p:txBody>
      </p:sp>
      <p:sp>
        <p:nvSpPr>
          <p:cNvPr id="3" name="ZoneTexte 2"/>
          <p:cNvSpPr txBox="1"/>
          <p:nvPr/>
        </p:nvSpPr>
        <p:spPr>
          <a:xfrm>
            <a:off x="975360" y="518160"/>
            <a:ext cx="2821606" cy="523220"/>
          </a:xfrm>
          <a:prstGeom prst="rect">
            <a:avLst/>
          </a:prstGeom>
          <a:noFill/>
        </p:spPr>
        <p:txBody>
          <a:bodyPr wrap="none" rtlCol="0">
            <a:spAutoFit/>
          </a:bodyPr>
          <a:lstStyle/>
          <a:p>
            <a:r>
              <a:rPr lang="fr-FR" sz="2800" b="1" dirty="0">
                <a:solidFill>
                  <a:srgbClr val="0070C0"/>
                </a:solidFill>
              </a:rPr>
              <a:t>Rôles de l’ARN </a:t>
            </a:r>
            <a:endParaRPr lang="fr-FR" sz="2800" b="1" dirty="0">
              <a:solidFill>
                <a:srgbClr val="0070C0"/>
              </a:solidFill>
            </a:endParaRPr>
          </a:p>
        </p:txBody>
      </p:sp>
    </p:spTree>
    <p:extLst>
      <p:ext uri="{BB962C8B-B14F-4D97-AF65-F5344CB8AC3E}">
        <p14:creationId xmlns:p14="http://schemas.microsoft.com/office/powerpoint/2010/main" val="265688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p:cNvGraphicFramePr>
            <a:graphicFrameLocks noGrp="1"/>
          </p:cNvGraphicFramePr>
          <p:nvPr>
            <p:extLst/>
          </p:nvPr>
        </p:nvGraphicFramePr>
        <p:xfrm>
          <a:off x="603250" y="1450975"/>
          <a:ext cx="10972800" cy="4632960"/>
        </p:xfrm>
        <a:graphic>
          <a:graphicData uri="http://schemas.openxmlformats.org/drawingml/2006/table">
            <a:tbl>
              <a:tblPr firstRow="1" bandRow="1">
                <a:tableStyleId>{08FB837D-C827-4EFA-A057-4D05807E0F7C}</a:tableStyleId>
              </a:tblPr>
              <a:tblGrid>
                <a:gridCol w="2012414"/>
                <a:gridCol w="4494882"/>
                <a:gridCol w="4465504"/>
              </a:tblGrid>
              <a:tr h="944880">
                <a:tc>
                  <a:txBody>
                    <a:bodyPr/>
                    <a:lstStyle/>
                    <a:p>
                      <a:pPr marL="84455" marR="158750">
                        <a:lnSpc>
                          <a:spcPct val="101400"/>
                        </a:lnSpc>
                      </a:pPr>
                      <a:r>
                        <a:rPr sz="2400" spc="-5" dirty="0"/>
                        <a:t>E</a:t>
                      </a:r>
                      <a:r>
                        <a:rPr sz="2400" dirty="0"/>
                        <a:t>lé</a:t>
                      </a:r>
                      <a:r>
                        <a:rPr sz="2400" spc="-5" dirty="0"/>
                        <a:t>m</a:t>
                      </a:r>
                      <a:r>
                        <a:rPr sz="2400" dirty="0"/>
                        <a:t>e</a:t>
                      </a:r>
                      <a:r>
                        <a:rPr sz="2400" spc="-30" dirty="0"/>
                        <a:t>n</a:t>
                      </a:r>
                      <a:r>
                        <a:rPr sz="2400" spc="5" dirty="0"/>
                        <a:t>t</a:t>
                      </a:r>
                      <a:r>
                        <a:rPr sz="2400" dirty="0"/>
                        <a:t>s </a:t>
                      </a:r>
                      <a:r>
                        <a:rPr sz="2400" spc="-15" dirty="0"/>
                        <a:t>c</a:t>
                      </a:r>
                      <a:r>
                        <a:rPr sz="2400" spc="-5" dirty="0"/>
                        <a:t>omp</a:t>
                      </a:r>
                      <a:r>
                        <a:rPr sz="2400" spc="5" dirty="0"/>
                        <a:t>a</a:t>
                      </a:r>
                      <a:r>
                        <a:rPr sz="2400" spc="-60" dirty="0"/>
                        <a:t>r</a:t>
                      </a:r>
                      <a:r>
                        <a:rPr sz="2400" spc="-25" dirty="0"/>
                        <a:t>a</a:t>
                      </a:r>
                      <a:r>
                        <a:rPr sz="2400" dirty="0"/>
                        <a:t>ti</a:t>
                      </a:r>
                      <a:r>
                        <a:rPr sz="2400" spc="-30" dirty="0"/>
                        <a:t>f</a:t>
                      </a:r>
                      <a:r>
                        <a:rPr sz="2400" dirty="0"/>
                        <a:t>s</a:t>
                      </a:r>
                      <a:endParaRPr sz="2400" dirty="0">
                        <a:latin typeface="+mj-lt"/>
                        <a:cs typeface="Calibri"/>
                      </a:endParaRPr>
                    </a:p>
                  </a:txBody>
                  <a:tcPr marL="0" marR="0" marT="0" marB="0"/>
                </a:tc>
                <a:tc>
                  <a:txBody>
                    <a:bodyPr/>
                    <a:lstStyle/>
                    <a:p>
                      <a:pPr algn="ctr">
                        <a:lnSpc>
                          <a:spcPct val="100000"/>
                        </a:lnSpc>
                      </a:pPr>
                      <a:r>
                        <a:rPr sz="2400" dirty="0"/>
                        <a:t>A</a:t>
                      </a:r>
                      <a:r>
                        <a:rPr sz="2400" spc="-5" dirty="0"/>
                        <a:t>D</a:t>
                      </a:r>
                      <a:r>
                        <a:rPr sz="2400" dirty="0"/>
                        <a:t>N</a:t>
                      </a:r>
                      <a:endParaRPr sz="2400">
                        <a:latin typeface="+mj-lt"/>
                        <a:cs typeface="Calibri"/>
                      </a:endParaRPr>
                    </a:p>
                  </a:txBody>
                  <a:tcPr marL="0" marR="0" marT="0" marB="0"/>
                </a:tc>
                <a:tc>
                  <a:txBody>
                    <a:bodyPr/>
                    <a:lstStyle/>
                    <a:p>
                      <a:pPr algn="ctr">
                        <a:lnSpc>
                          <a:spcPct val="100000"/>
                        </a:lnSpc>
                      </a:pPr>
                      <a:r>
                        <a:rPr sz="2400" dirty="0"/>
                        <a:t>A</a:t>
                      </a:r>
                      <a:r>
                        <a:rPr sz="2400" spc="-5" dirty="0"/>
                        <a:t>R</a:t>
                      </a:r>
                      <a:r>
                        <a:rPr sz="2400" dirty="0"/>
                        <a:t>N</a:t>
                      </a:r>
                      <a:endParaRPr sz="2400">
                        <a:latin typeface="+mj-lt"/>
                        <a:cs typeface="Calibri"/>
                      </a:endParaRPr>
                    </a:p>
                  </a:txBody>
                  <a:tcPr marL="0" marR="0" marT="0" marB="0"/>
                </a:tc>
              </a:tr>
              <a:tr h="518160">
                <a:tc>
                  <a:txBody>
                    <a:bodyPr/>
                    <a:lstStyle/>
                    <a:p>
                      <a:pPr marL="84455">
                        <a:lnSpc>
                          <a:spcPct val="100000"/>
                        </a:lnSpc>
                      </a:pPr>
                      <a:r>
                        <a:rPr sz="2400" spc="-50" dirty="0"/>
                        <a:t>P</a:t>
                      </a:r>
                      <a:r>
                        <a:rPr sz="2400" dirty="0"/>
                        <a:t>e</a:t>
                      </a:r>
                      <a:r>
                        <a:rPr sz="2400" spc="-30" dirty="0"/>
                        <a:t>n</a:t>
                      </a:r>
                      <a:r>
                        <a:rPr sz="2400" spc="-25" dirty="0"/>
                        <a:t>t</a:t>
                      </a:r>
                      <a:r>
                        <a:rPr sz="2400" spc="-5" dirty="0"/>
                        <a:t>os</a:t>
                      </a:r>
                      <a:r>
                        <a:rPr sz="2400" dirty="0"/>
                        <a:t>e</a:t>
                      </a:r>
                      <a:endParaRPr sz="2400">
                        <a:latin typeface="+mj-lt"/>
                        <a:cs typeface="Calibri"/>
                      </a:endParaRPr>
                    </a:p>
                  </a:txBody>
                  <a:tcPr marL="0" marR="0" marT="0" marB="0"/>
                </a:tc>
                <a:tc>
                  <a:txBody>
                    <a:bodyPr/>
                    <a:lstStyle/>
                    <a:p>
                      <a:pPr marL="1278255">
                        <a:lnSpc>
                          <a:spcPct val="100000"/>
                        </a:lnSpc>
                      </a:pPr>
                      <a:r>
                        <a:rPr sz="2400" dirty="0"/>
                        <a:t>D</a:t>
                      </a:r>
                      <a:r>
                        <a:rPr sz="2400" spc="-10" dirty="0"/>
                        <a:t>é</a:t>
                      </a:r>
                      <a:r>
                        <a:rPr sz="2400" spc="5" dirty="0"/>
                        <a:t>s</a:t>
                      </a:r>
                      <a:r>
                        <a:rPr sz="2400" spc="-60" dirty="0"/>
                        <a:t>o</a:t>
                      </a:r>
                      <a:r>
                        <a:rPr sz="2400" spc="-5" dirty="0"/>
                        <a:t>xyri</a:t>
                      </a:r>
                      <a:r>
                        <a:rPr sz="2400" dirty="0"/>
                        <a:t>b</a:t>
                      </a:r>
                      <a:r>
                        <a:rPr sz="2400" spc="-5" dirty="0"/>
                        <a:t>o</a:t>
                      </a:r>
                      <a:r>
                        <a:rPr sz="2400" spc="5" dirty="0"/>
                        <a:t>s</a:t>
                      </a:r>
                      <a:r>
                        <a:rPr sz="2400" dirty="0"/>
                        <a:t>e</a:t>
                      </a:r>
                      <a:endParaRPr sz="2400">
                        <a:latin typeface="+mj-lt"/>
                        <a:cs typeface="Calibri"/>
                      </a:endParaRPr>
                    </a:p>
                  </a:txBody>
                  <a:tcPr marL="0" marR="0" marT="0" marB="0"/>
                </a:tc>
                <a:tc>
                  <a:txBody>
                    <a:bodyPr/>
                    <a:lstStyle/>
                    <a:p>
                      <a:pPr marL="635" algn="ctr">
                        <a:lnSpc>
                          <a:spcPct val="100000"/>
                        </a:lnSpc>
                      </a:pPr>
                      <a:r>
                        <a:rPr sz="2400" dirty="0"/>
                        <a:t>R</a:t>
                      </a:r>
                      <a:r>
                        <a:rPr sz="2400" spc="-10" dirty="0"/>
                        <a:t>i</a:t>
                      </a:r>
                      <a:r>
                        <a:rPr sz="2400" dirty="0"/>
                        <a:t>b</a:t>
                      </a:r>
                      <a:r>
                        <a:rPr sz="2400" spc="-5" dirty="0"/>
                        <a:t>o</a:t>
                      </a:r>
                      <a:r>
                        <a:rPr sz="2400" dirty="0"/>
                        <a:t>se</a:t>
                      </a:r>
                      <a:endParaRPr sz="2400">
                        <a:latin typeface="+mj-lt"/>
                        <a:cs typeface="Calibri"/>
                      </a:endParaRPr>
                    </a:p>
                  </a:txBody>
                  <a:tcPr marL="0" marR="0" marT="0" marB="0"/>
                </a:tc>
              </a:tr>
              <a:tr h="944880">
                <a:tc>
                  <a:txBody>
                    <a:bodyPr/>
                    <a:lstStyle/>
                    <a:p>
                      <a:pPr marL="84455">
                        <a:lnSpc>
                          <a:spcPct val="100000"/>
                        </a:lnSpc>
                      </a:pPr>
                      <a:r>
                        <a:rPr sz="2400" spc="5" dirty="0"/>
                        <a:t>Ba</a:t>
                      </a:r>
                      <a:r>
                        <a:rPr sz="2400" spc="-5" dirty="0"/>
                        <a:t>s</a:t>
                      </a:r>
                      <a:r>
                        <a:rPr sz="2400" dirty="0"/>
                        <a:t>es</a:t>
                      </a:r>
                      <a:endParaRPr sz="2400">
                        <a:latin typeface="+mj-lt"/>
                        <a:cs typeface="Calibri"/>
                      </a:endParaRPr>
                    </a:p>
                  </a:txBody>
                  <a:tcPr marL="0" marR="0" marT="0" marB="0"/>
                </a:tc>
                <a:tc>
                  <a:txBody>
                    <a:bodyPr/>
                    <a:lstStyle/>
                    <a:p>
                      <a:pPr marL="1621790" marR="174625" indent="-1440180">
                        <a:lnSpc>
                          <a:spcPct val="101400"/>
                        </a:lnSpc>
                      </a:pPr>
                      <a:r>
                        <a:rPr sz="2400" spc="5" dirty="0"/>
                        <a:t>A</a:t>
                      </a:r>
                      <a:r>
                        <a:rPr sz="2400" dirty="0"/>
                        <a:t>d</a:t>
                      </a:r>
                      <a:r>
                        <a:rPr sz="2400" spc="-10" dirty="0"/>
                        <a:t>é</a:t>
                      </a:r>
                      <a:r>
                        <a:rPr sz="2400" dirty="0"/>
                        <a:t>n</a:t>
                      </a:r>
                      <a:r>
                        <a:rPr sz="2400" spc="-5" dirty="0"/>
                        <a:t>i</a:t>
                      </a:r>
                      <a:r>
                        <a:rPr sz="2400" dirty="0"/>
                        <a:t>n</a:t>
                      </a:r>
                      <a:r>
                        <a:rPr sz="2400" spc="-10" dirty="0"/>
                        <a:t>e</a:t>
                      </a:r>
                      <a:r>
                        <a:rPr sz="2400" dirty="0"/>
                        <a:t>,</a:t>
                      </a:r>
                      <a:r>
                        <a:rPr sz="2400" spc="5" dirty="0"/>
                        <a:t> </a:t>
                      </a:r>
                      <a:r>
                        <a:rPr sz="2400" b="1" u="heavy" dirty="0"/>
                        <a:t>T</a:t>
                      </a:r>
                      <a:r>
                        <a:rPr sz="2400" b="1" u="heavy" spc="-55" dirty="0"/>
                        <a:t>h</a:t>
                      </a:r>
                      <a:r>
                        <a:rPr sz="2400" b="1" u="heavy" spc="-5" dirty="0"/>
                        <a:t>ymin</a:t>
                      </a:r>
                      <a:r>
                        <a:rPr sz="2400" b="1" u="heavy" dirty="0"/>
                        <a:t>e</a:t>
                      </a:r>
                      <a:r>
                        <a:rPr sz="2400" dirty="0"/>
                        <a:t>,</a:t>
                      </a:r>
                      <a:r>
                        <a:rPr sz="2400" spc="5" dirty="0"/>
                        <a:t> </a:t>
                      </a:r>
                      <a:r>
                        <a:rPr sz="2400" spc="-5" dirty="0"/>
                        <a:t>G</a:t>
                      </a:r>
                      <a:r>
                        <a:rPr sz="2400" dirty="0"/>
                        <a:t>u</a:t>
                      </a:r>
                      <a:r>
                        <a:rPr sz="2400" spc="-5" dirty="0"/>
                        <a:t>a</a:t>
                      </a:r>
                      <a:r>
                        <a:rPr sz="2400" dirty="0"/>
                        <a:t>n</a:t>
                      </a:r>
                      <a:r>
                        <a:rPr sz="2400" spc="-5" dirty="0"/>
                        <a:t>i</a:t>
                      </a:r>
                      <a:r>
                        <a:rPr sz="2400" dirty="0"/>
                        <a:t>n</a:t>
                      </a:r>
                      <a:r>
                        <a:rPr sz="2400" spc="-10" dirty="0"/>
                        <a:t>e</a:t>
                      </a:r>
                      <a:r>
                        <a:rPr sz="2400" dirty="0"/>
                        <a:t>, </a:t>
                      </a:r>
                      <a:r>
                        <a:rPr sz="2400" spc="-10" dirty="0"/>
                        <a:t>C</a:t>
                      </a:r>
                      <a:r>
                        <a:rPr sz="2400" spc="10" dirty="0"/>
                        <a:t>y</a:t>
                      </a:r>
                      <a:r>
                        <a:rPr sz="2400" spc="-30" dirty="0"/>
                        <a:t>t</a:t>
                      </a:r>
                      <a:r>
                        <a:rPr sz="2400" spc="-5" dirty="0"/>
                        <a:t>o</a:t>
                      </a:r>
                      <a:r>
                        <a:rPr sz="2400" spc="5" dirty="0"/>
                        <a:t>s</a:t>
                      </a:r>
                      <a:r>
                        <a:rPr sz="2400" spc="-5" dirty="0"/>
                        <a:t>i</a:t>
                      </a:r>
                      <a:r>
                        <a:rPr sz="2400" spc="5" dirty="0"/>
                        <a:t>n</a:t>
                      </a:r>
                      <a:r>
                        <a:rPr sz="2400" dirty="0"/>
                        <a:t>e</a:t>
                      </a:r>
                      <a:endParaRPr sz="2400" dirty="0">
                        <a:latin typeface="+mj-lt"/>
                        <a:cs typeface="Calibri"/>
                      </a:endParaRPr>
                    </a:p>
                  </a:txBody>
                  <a:tcPr marL="0" marR="0" marT="0" marB="0"/>
                </a:tc>
                <a:tc>
                  <a:txBody>
                    <a:bodyPr/>
                    <a:lstStyle/>
                    <a:p>
                      <a:pPr marL="1607185" marR="281940" indent="-1318260">
                        <a:lnSpc>
                          <a:spcPct val="101400"/>
                        </a:lnSpc>
                      </a:pPr>
                      <a:r>
                        <a:rPr sz="2400" spc="5" dirty="0"/>
                        <a:t>A</a:t>
                      </a:r>
                      <a:r>
                        <a:rPr sz="2400" dirty="0"/>
                        <a:t>d</a:t>
                      </a:r>
                      <a:r>
                        <a:rPr sz="2400" spc="-10" dirty="0"/>
                        <a:t>é</a:t>
                      </a:r>
                      <a:r>
                        <a:rPr sz="2400" dirty="0"/>
                        <a:t>n</a:t>
                      </a:r>
                      <a:r>
                        <a:rPr sz="2400" spc="-5" dirty="0"/>
                        <a:t>i</a:t>
                      </a:r>
                      <a:r>
                        <a:rPr sz="2400" dirty="0"/>
                        <a:t>n</a:t>
                      </a:r>
                      <a:r>
                        <a:rPr sz="2400" spc="-10" dirty="0"/>
                        <a:t>e</a:t>
                      </a:r>
                      <a:r>
                        <a:rPr sz="2400" dirty="0"/>
                        <a:t>,</a:t>
                      </a:r>
                      <a:r>
                        <a:rPr sz="2400" spc="5" dirty="0"/>
                        <a:t> </a:t>
                      </a:r>
                      <a:r>
                        <a:rPr sz="2400" b="1" u="heavy" spc="-5" dirty="0"/>
                        <a:t>U</a:t>
                      </a:r>
                      <a:r>
                        <a:rPr sz="2400" b="1" u="heavy" spc="-60" dirty="0"/>
                        <a:t>r</a:t>
                      </a:r>
                      <a:r>
                        <a:rPr sz="2400" b="1" u="heavy" spc="5" dirty="0"/>
                        <a:t>a</a:t>
                      </a:r>
                      <a:r>
                        <a:rPr sz="2400" b="1" u="heavy" dirty="0"/>
                        <a:t>cile</a:t>
                      </a:r>
                      <a:r>
                        <a:rPr sz="2400" dirty="0"/>
                        <a:t>,</a:t>
                      </a:r>
                      <a:r>
                        <a:rPr sz="2400" spc="5" dirty="0"/>
                        <a:t> </a:t>
                      </a:r>
                      <a:r>
                        <a:rPr sz="2400" spc="-5" dirty="0"/>
                        <a:t>G</a:t>
                      </a:r>
                      <a:r>
                        <a:rPr sz="2400" dirty="0"/>
                        <a:t>u</a:t>
                      </a:r>
                      <a:r>
                        <a:rPr sz="2400" spc="-5" dirty="0"/>
                        <a:t>a</a:t>
                      </a:r>
                      <a:r>
                        <a:rPr sz="2400" dirty="0"/>
                        <a:t>n</a:t>
                      </a:r>
                      <a:r>
                        <a:rPr sz="2400" spc="-5" dirty="0"/>
                        <a:t>i</a:t>
                      </a:r>
                      <a:r>
                        <a:rPr sz="2400" dirty="0"/>
                        <a:t>n</a:t>
                      </a:r>
                      <a:r>
                        <a:rPr sz="2400" spc="-10" dirty="0"/>
                        <a:t>e</a:t>
                      </a:r>
                      <a:r>
                        <a:rPr sz="2400" dirty="0"/>
                        <a:t>, </a:t>
                      </a:r>
                      <a:r>
                        <a:rPr sz="2400" spc="-10" dirty="0"/>
                        <a:t>C</a:t>
                      </a:r>
                      <a:r>
                        <a:rPr sz="2400" spc="10" dirty="0"/>
                        <a:t>y</a:t>
                      </a:r>
                      <a:r>
                        <a:rPr sz="2400" spc="-30" dirty="0"/>
                        <a:t>t</a:t>
                      </a:r>
                      <a:r>
                        <a:rPr sz="2400" spc="-5" dirty="0"/>
                        <a:t>o</a:t>
                      </a:r>
                      <a:r>
                        <a:rPr sz="2400" spc="5" dirty="0"/>
                        <a:t>s</a:t>
                      </a:r>
                      <a:r>
                        <a:rPr sz="2400" spc="-5" dirty="0"/>
                        <a:t>i</a:t>
                      </a:r>
                      <a:r>
                        <a:rPr sz="2400" spc="5" dirty="0"/>
                        <a:t>n</a:t>
                      </a:r>
                      <a:r>
                        <a:rPr sz="2400" dirty="0"/>
                        <a:t>e</a:t>
                      </a:r>
                      <a:endParaRPr sz="2400" dirty="0">
                        <a:latin typeface="+mj-lt"/>
                        <a:cs typeface="Calibri"/>
                      </a:endParaRPr>
                    </a:p>
                  </a:txBody>
                  <a:tcPr marL="0" marR="0" marT="0" marB="0"/>
                </a:tc>
              </a:tr>
              <a:tr h="2225040">
                <a:tc>
                  <a:txBody>
                    <a:bodyPr/>
                    <a:lstStyle/>
                    <a:p>
                      <a:pPr marL="84455" marR="532130">
                        <a:lnSpc>
                          <a:spcPct val="101400"/>
                        </a:lnSpc>
                      </a:pPr>
                      <a:r>
                        <a:rPr sz="2400" dirty="0"/>
                        <a:t>Str</a:t>
                      </a:r>
                      <a:r>
                        <a:rPr sz="2400" spc="-5" dirty="0"/>
                        <a:t>u</a:t>
                      </a:r>
                      <a:r>
                        <a:rPr sz="2400" dirty="0"/>
                        <a:t>ct</a:t>
                      </a:r>
                      <a:r>
                        <a:rPr sz="2400" spc="-5" dirty="0"/>
                        <a:t>u</a:t>
                      </a:r>
                      <a:r>
                        <a:rPr sz="2400" spc="-30" dirty="0"/>
                        <a:t>r</a:t>
                      </a:r>
                      <a:r>
                        <a:rPr sz="2400" dirty="0"/>
                        <a:t>e </a:t>
                      </a:r>
                      <a:r>
                        <a:rPr sz="2400" spc="-40" dirty="0"/>
                        <a:t>s</a:t>
                      </a:r>
                      <a:r>
                        <a:rPr sz="2400" spc="-25" dirty="0"/>
                        <a:t>t</a:t>
                      </a:r>
                      <a:r>
                        <a:rPr sz="2400" dirty="0"/>
                        <a:t>a</a:t>
                      </a:r>
                      <a:r>
                        <a:rPr sz="2400" spc="-5" dirty="0"/>
                        <a:t>nd</a:t>
                      </a:r>
                      <a:r>
                        <a:rPr sz="2400" dirty="0"/>
                        <a:t>a</a:t>
                      </a:r>
                      <a:r>
                        <a:rPr sz="2400" spc="-30" dirty="0"/>
                        <a:t>r</a:t>
                      </a:r>
                      <a:r>
                        <a:rPr sz="2400" dirty="0"/>
                        <a:t>d</a:t>
                      </a:r>
                      <a:endParaRPr sz="2400">
                        <a:latin typeface="+mj-lt"/>
                        <a:cs typeface="Calibri"/>
                      </a:endParaRPr>
                    </a:p>
                  </a:txBody>
                  <a:tcPr marL="0" marR="0" marT="0" marB="0"/>
                </a:tc>
                <a:tc>
                  <a:txBody>
                    <a:bodyPr/>
                    <a:lstStyle/>
                    <a:p>
                      <a:pPr marL="365760" marR="358775" indent="889000">
                        <a:lnSpc>
                          <a:spcPct val="100000"/>
                        </a:lnSpc>
                      </a:pPr>
                      <a:r>
                        <a:rPr sz="2400" b="1" dirty="0"/>
                        <a:t>D</a:t>
                      </a:r>
                      <a:r>
                        <a:rPr sz="2400" b="1" spc="-5" dirty="0"/>
                        <a:t>o</a:t>
                      </a:r>
                      <a:r>
                        <a:rPr sz="2400" b="1" dirty="0"/>
                        <a:t>ub</a:t>
                      </a:r>
                      <a:r>
                        <a:rPr sz="2400" b="1" spc="-5" dirty="0"/>
                        <a:t>l</a:t>
                      </a:r>
                      <a:r>
                        <a:rPr sz="2400" b="1" dirty="0"/>
                        <a:t>e</a:t>
                      </a:r>
                      <a:r>
                        <a:rPr sz="2400" b="1" spc="-5" dirty="0"/>
                        <a:t> </a:t>
                      </a:r>
                      <a:r>
                        <a:rPr sz="2400" b="1" dirty="0"/>
                        <a:t>h</a:t>
                      </a:r>
                      <a:r>
                        <a:rPr sz="2400" b="1" spc="-10" dirty="0"/>
                        <a:t>é</a:t>
                      </a:r>
                      <a:r>
                        <a:rPr sz="2400" b="1" spc="-5" dirty="0"/>
                        <a:t>li</a:t>
                      </a:r>
                      <a:r>
                        <a:rPr sz="2400" b="1" dirty="0"/>
                        <a:t>ce  </a:t>
                      </a:r>
                      <a:r>
                        <a:rPr sz="2400" dirty="0"/>
                        <a:t>(d</a:t>
                      </a:r>
                      <a:r>
                        <a:rPr sz="2400" spc="-10" dirty="0"/>
                        <a:t>e</a:t>
                      </a:r>
                      <a:r>
                        <a:rPr sz="2400" dirty="0"/>
                        <a:t>ux b</a:t>
                      </a:r>
                      <a:r>
                        <a:rPr sz="2400" spc="-5" dirty="0"/>
                        <a:t>ri</a:t>
                      </a:r>
                      <a:r>
                        <a:rPr sz="2400" dirty="0"/>
                        <a:t>n</a:t>
                      </a:r>
                      <a:r>
                        <a:rPr sz="2400" spc="5" dirty="0"/>
                        <a:t>s</a:t>
                      </a:r>
                      <a:r>
                        <a:rPr sz="2400" dirty="0"/>
                        <a:t>=</a:t>
                      </a:r>
                      <a:r>
                        <a:rPr sz="2400" spc="10" dirty="0"/>
                        <a:t> </a:t>
                      </a:r>
                      <a:r>
                        <a:rPr sz="2400" dirty="0"/>
                        <a:t>d</a:t>
                      </a:r>
                      <a:r>
                        <a:rPr sz="2400" spc="-10" dirty="0"/>
                        <a:t>e</a:t>
                      </a:r>
                      <a:r>
                        <a:rPr sz="2400" dirty="0"/>
                        <a:t>ux ch</a:t>
                      </a:r>
                      <a:r>
                        <a:rPr sz="2400" spc="-5" dirty="0"/>
                        <a:t>ai</a:t>
                      </a:r>
                      <a:r>
                        <a:rPr sz="2400" dirty="0"/>
                        <a:t>n</a:t>
                      </a:r>
                      <a:r>
                        <a:rPr sz="2400" spc="-10" dirty="0"/>
                        <a:t>e</a:t>
                      </a:r>
                      <a:r>
                        <a:rPr sz="2400" dirty="0"/>
                        <a:t>s p</a:t>
                      </a:r>
                      <a:r>
                        <a:rPr sz="2400" spc="-5" dirty="0"/>
                        <a:t>ol</a:t>
                      </a:r>
                      <a:r>
                        <a:rPr sz="2400" spc="-10" dirty="0"/>
                        <a:t>y</a:t>
                      </a:r>
                      <a:r>
                        <a:rPr sz="2400" dirty="0"/>
                        <a:t>nuc</a:t>
                      </a:r>
                      <a:r>
                        <a:rPr sz="2400" spc="-5" dirty="0"/>
                        <a:t>léoti</a:t>
                      </a:r>
                      <a:r>
                        <a:rPr sz="2400" dirty="0"/>
                        <a:t>d</a:t>
                      </a:r>
                      <a:r>
                        <a:rPr sz="2400" spc="-5" dirty="0"/>
                        <a:t>i</a:t>
                      </a:r>
                      <a:r>
                        <a:rPr sz="2400" dirty="0"/>
                        <a:t>qu</a:t>
                      </a:r>
                      <a:r>
                        <a:rPr sz="2400" spc="-5" dirty="0"/>
                        <a:t>e</a:t>
                      </a:r>
                      <a:r>
                        <a:rPr sz="2400" dirty="0"/>
                        <a:t>s);</a:t>
                      </a:r>
                      <a:r>
                        <a:rPr sz="2400" spc="5" dirty="0"/>
                        <a:t> </a:t>
                      </a:r>
                      <a:r>
                        <a:rPr sz="2400" spc="-5" dirty="0"/>
                        <a:t>le</a:t>
                      </a:r>
                      <a:r>
                        <a:rPr sz="2400" dirty="0"/>
                        <a:t>s</a:t>
                      </a:r>
                    </a:p>
                    <a:p>
                      <a:pPr marL="938530" marR="135255" indent="-793750">
                        <a:lnSpc>
                          <a:spcPts val="3410"/>
                        </a:lnSpc>
                        <a:spcBef>
                          <a:spcPts val="95"/>
                        </a:spcBef>
                      </a:pPr>
                      <a:r>
                        <a:rPr sz="2400" dirty="0"/>
                        <a:t>ch</a:t>
                      </a:r>
                      <a:r>
                        <a:rPr sz="2400" spc="-5" dirty="0"/>
                        <a:t>ai</a:t>
                      </a:r>
                      <a:r>
                        <a:rPr sz="2400" dirty="0"/>
                        <a:t>n</a:t>
                      </a:r>
                      <a:r>
                        <a:rPr sz="2400" spc="-10" dirty="0"/>
                        <a:t>e</a:t>
                      </a:r>
                      <a:r>
                        <a:rPr sz="2400" dirty="0"/>
                        <a:t>s</a:t>
                      </a:r>
                      <a:r>
                        <a:rPr sz="2400" spc="10" dirty="0"/>
                        <a:t> </a:t>
                      </a:r>
                      <a:r>
                        <a:rPr sz="2400" spc="5" dirty="0"/>
                        <a:t>s</a:t>
                      </a:r>
                      <a:r>
                        <a:rPr sz="2400" spc="-5" dirty="0"/>
                        <a:t>o</a:t>
                      </a:r>
                      <a:r>
                        <a:rPr sz="2400" spc="-25" dirty="0"/>
                        <a:t>n</a:t>
                      </a:r>
                      <a:r>
                        <a:rPr sz="2400" dirty="0"/>
                        <a:t>t</a:t>
                      </a:r>
                      <a:r>
                        <a:rPr sz="2400" spc="5" dirty="0"/>
                        <a:t> </a:t>
                      </a:r>
                      <a:r>
                        <a:rPr sz="2400" spc="-5" dirty="0"/>
                        <a:t>a</a:t>
                      </a:r>
                      <a:r>
                        <a:rPr sz="2400" spc="-25" dirty="0"/>
                        <a:t>n</a:t>
                      </a:r>
                      <a:r>
                        <a:rPr sz="2400" dirty="0"/>
                        <a:t>t</a:t>
                      </a:r>
                      <a:r>
                        <a:rPr sz="2400" spc="-5" dirty="0"/>
                        <a:t>i</a:t>
                      </a:r>
                      <a:r>
                        <a:rPr sz="2400" dirty="0"/>
                        <a:t>p</a:t>
                      </a:r>
                      <a:r>
                        <a:rPr sz="2400" spc="-5" dirty="0"/>
                        <a:t>a</a:t>
                      </a:r>
                      <a:r>
                        <a:rPr sz="2400" spc="-60" dirty="0"/>
                        <a:t>r</a:t>
                      </a:r>
                      <a:r>
                        <a:rPr sz="2400" spc="-5" dirty="0"/>
                        <a:t>all</a:t>
                      </a:r>
                      <a:r>
                        <a:rPr sz="2400" spc="-10" dirty="0"/>
                        <a:t>è</a:t>
                      </a:r>
                      <a:r>
                        <a:rPr sz="2400" spc="-5" dirty="0"/>
                        <a:t>l</a:t>
                      </a:r>
                      <a:r>
                        <a:rPr sz="2400" spc="-10" dirty="0"/>
                        <a:t>e</a:t>
                      </a:r>
                      <a:r>
                        <a:rPr sz="2400" dirty="0"/>
                        <a:t>s</a:t>
                      </a:r>
                      <a:r>
                        <a:rPr sz="2400" spc="10" dirty="0"/>
                        <a:t> </a:t>
                      </a:r>
                      <a:r>
                        <a:rPr sz="2400" spc="-25" dirty="0"/>
                        <a:t>e</a:t>
                      </a:r>
                      <a:r>
                        <a:rPr sz="2400" dirty="0"/>
                        <a:t>t </a:t>
                      </a:r>
                      <a:r>
                        <a:rPr sz="2400" spc="-20" dirty="0"/>
                        <a:t>c</a:t>
                      </a:r>
                      <a:r>
                        <a:rPr sz="2400" spc="-5" dirty="0"/>
                        <a:t>o</a:t>
                      </a:r>
                      <a:r>
                        <a:rPr sz="2400" dirty="0"/>
                        <a:t>mp</a:t>
                      </a:r>
                      <a:r>
                        <a:rPr sz="2400" spc="-5" dirty="0"/>
                        <a:t>lé</a:t>
                      </a:r>
                      <a:r>
                        <a:rPr sz="2400" dirty="0"/>
                        <a:t>m</a:t>
                      </a:r>
                      <a:r>
                        <a:rPr sz="2400" spc="-5" dirty="0"/>
                        <a:t>e</a:t>
                      </a:r>
                      <a:r>
                        <a:rPr sz="2400" spc="-25" dirty="0"/>
                        <a:t>n</a:t>
                      </a:r>
                      <a:r>
                        <a:rPr sz="2400" spc="-35" dirty="0"/>
                        <a:t>t</a:t>
                      </a:r>
                      <a:r>
                        <a:rPr sz="2400" spc="-5" dirty="0"/>
                        <a:t>ai</a:t>
                      </a:r>
                      <a:r>
                        <a:rPr sz="2400" spc="-40" dirty="0"/>
                        <a:t>r</a:t>
                      </a:r>
                      <a:r>
                        <a:rPr sz="2400" spc="-5" dirty="0"/>
                        <a:t>e</a:t>
                      </a:r>
                      <a:r>
                        <a:rPr sz="2400" spc="5" dirty="0"/>
                        <a:t>s</a:t>
                      </a:r>
                      <a:r>
                        <a:rPr sz="2400" dirty="0"/>
                        <a:t>;</a:t>
                      </a:r>
                      <a:endParaRPr sz="2400" dirty="0">
                        <a:latin typeface="+mj-lt"/>
                        <a:cs typeface="Calibri"/>
                      </a:endParaRPr>
                    </a:p>
                  </a:txBody>
                  <a:tcPr marL="0" marR="0" marT="0" marB="0"/>
                </a:tc>
                <a:tc>
                  <a:txBody>
                    <a:bodyPr/>
                    <a:lstStyle/>
                    <a:p>
                      <a:pPr marL="1270" algn="ctr">
                        <a:lnSpc>
                          <a:spcPct val="100000"/>
                        </a:lnSpc>
                      </a:pPr>
                      <a:r>
                        <a:rPr sz="2400" b="1" spc="5" dirty="0"/>
                        <a:t>M</a:t>
                      </a:r>
                      <a:r>
                        <a:rPr sz="2400" b="1" spc="-5" dirty="0"/>
                        <a:t>o</a:t>
                      </a:r>
                      <a:r>
                        <a:rPr sz="2400" b="1" dirty="0"/>
                        <a:t>n</a:t>
                      </a:r>
                      <a:r>
                        <a:rPr sz="2400" b="1" spc="-5" dirty="0"/>
                        <a:t>o</a:t>
                      </a:r>
                      <a:r>
                        <a:rPr sz="2400" b="1" spc="-20" dirty="0"/>
                        <a:t>c</a:t>
                      </a:r>
                      <a:r>
                        <a:rPr sz="2400" b="1" spc="-35" dirty="0"/>
                        <a:t>at</a:t>
                      </a:r>
                      <a:r>
                        <a:rPr sz="2400" b="1" spc="-10" dirty="0"/>
                        <a:t>é</a:t>
                      </a:r>
                      <a:r>
                        <a:rPr sz="2400" b="1" dirty="0"/>
                        <a:t>n</a:t>
                      </a:r>
                      <a:r>
                        <a:rPr sz="2400" b="1" spc="-5" dirty="0"/>
                        <a:t>ai</a:t>
                      </a:r>
                      <a:r>
                        <a:rPr sz="2400" b="1" spc="-40" dirty="0"/>
                        <a:t>r</a:t>
                      </a:r>
                      <a:r>
                        <a:rPr sz="2400" b="1" dirty="0"/>
                        <a:t>e</a:t>
                      </a:r>
                    </a:p>
                    <a:p>
                      <a:pPr marL="456565" marR="448945" algn="ctr">
                        <a:lnSpc>
                          <a:spcPts val="3310"/>
                        </a:lnSpc>
                        <a:spcBef>
                          <a:spcPts val="200"/>
                        </a:spcBef>
                      </a:pPr>
                      <a:r>
                        <a:rPr sz="2400" dirty="0"/>
                        <a:t>(1</a:t>
                      </a:r>
                      <a:r>
                        <a:rPr sz="2400" spc="5" dirty="0"/>
                        <a:t> </a:t>
                      </a:r>
                      <a:r>
                        <a:rPr sz="2400" dirty="0"/>
                        <a:t>s</a:t>
                      </a:r>
                      <a:r>
                        <a:rPr sz="2400" spc="-10" dirty="0"/>
                        <a:t>e</a:t>
                      </a:r>
                      <a:r>
                        <a:rPr sz="2400" dirty="0"/>
                        <a:t>ul</a:t>
                      </a:r>
                      <a:r>
                        <a:rPr sz="2400" spc="-5" dirty="0"/>
                        <a:t> </a:t>
                      </a:r>
                      <a:r>
                        <a:rPr sz="2400" dirty="0"/>
                        <a:t>br</a:t>
                      </a:r>
                      <a:r>
                        <a:rPr sz="2400" spc="-10" dirty="0"/>
                        <a:t>i</a:t>
                      </a:r>
                      <a:r>
                        <a:rPr sz="2400" dirty="0"/>
                        <a:t>n</a:t>
                      </a:r>
                      <a:r>
                        <a:rPr sz="2400" spc="5" dirty="0"/>
                        <a:t> </a:t>
                      </a:r>
                      <a:r>
                        <a:rPr sz="2400" dirty="0"/>
                        <a:t>=</a:t>
                      </a:r>
                      <a:r>
                        <a:rPr sz="2400" spc="5" dirty="0"/>
                        <a:t> </a:t>
                      </a:r>
                      <a:r>
                        <a:rPr sz="2400" dirty="0"/>
                        <a:t>une</a:t>
                      </a:r>
                      <a:r>
                        <a:rPr sz="2400" spc="-5" dirty="0"/>
                        <a:t> </a:t>
                      </a:r>
                      <a:r>
                        <a:rPr sz="2400" dirty="0"/>
                        <a:t>ch</a:t>
                      </a:r>
                      <a:r>
                        <a:rPr sz="2400" spc="-5" dirty="0"/>
                        <a:t>a</a:t>
                      </a:r>
                      <a:r>
                        <a:rPr sz="2400" spc="-10" dirty="0"/>
                        <a:t>i</a:t>
                      </a:r>
                      <a:r>
                        <a:rPr sz="2400" dirty="0"/>
                        <a:t>ne p</a:t>
                      </a:r>
                      <a:r>
                        <a:rPr sz="2400" spc="-5" dirty="0"/>
                        <a:t>ol</a:t>
                      </a:r>
                      <a:r>
                        <a:rPr sz="2400" spc="-10" dirty="0"/>
                        <a:t>y</a:t>
                      </a:r>
                      <a:r>
                        <a:rPr sz="2400" dirty="0"/>
                        <a:t>nuc</a:t>
                      </a:r>
                      <a:r>
                        <a:rPr sz="2400" spc="-5" dirty="0"/>
                        <a:t>léoti</a:t>
                      </a:r>
                      <a:r>
                        <a:rPr sz="2400" dirty="0"/>
                        <a:t>d</a:t>
                      </a:r>
                      <a:r>
                        <a:rPr sz="2400" spc="-5" dirty="0"/>
                        <a:t>i</a:t>
                      </a:r>
                      <a:r>
                        <a:rPr sz="2400" dirty="0"/>
                        <a:t>qu</a:t>
                      </a:r>
                      <a:r>
                        <a:rPr sz="2400" spc="-5" dirty="0"/>
                        <a:t>e</a:t>
                      </a:r>
                      <a:r>
                        <a:rPr sz="2400" dirty="0"/>
                        <a:t>)</a:t>
                      </a:r>
                      <a:endParaRPr sz="2400" dirty="0">
                        <a:latin typeface="+mj-lt"/>
                        <a:cs typeface="Calibri"/>
                      </a:endParaRPr>
                    </a:p>
                  </a:txBody>
                  <a:tcPr marL="0" marR="0" marT="0" marB="0"/>
                </a:tc>
              </a:tr>
            </a:tbl>
          </a:graphicData>
        </a:graphic>
      </p:graphicFrame>
      <p:sp>
        <p:nvSpPr>
          <p:cNvPr id="3" name="Rectangle 2"/>
          <p:cNvSpPr/>
          <p:nvPr/>
        </p:nvSpPr>
        <p:spPr>
          <a:xfrm>
            <a:off x="124638" y="13082"/>
            <a:ext cx="6715300" cy="707886"/>
          </a:xfrm>
          <a:prstGeom prst="rect">
            <a:avLst/>
          </a:prstGeom>
          <a:noFill/>
        </p:spPr>
        <p:txBody>
          <a:bodyPr wrap="none" rtlCol="0">
            <a:spAutoFit/>
          </a:bodyPr>
          <a:lstStyle/>
          <a:p>
            <a:r>
              <a:rPr lang="fr-FR" sz="4000" dirty="0">
                <a:solidFill>
                  <a:srgbClr val="42BA97"/>
                </a:solidFill>
              </a:rPr>
              <a:t>Différences entre ADN et ARN</a:t>
            </a:r>
            <a:endParaRPr lang="fr-FR" sz="4000" dirty="0">
              <a:solidFill>
                <a:srgbClr val="42BA97"/>
              </a:solidFill>
            </a:endParaRPr>
          </a:p>
        </p:txBody>
      </p:sp>
    </p:spTree>
    <p:extLst>
      <p:ext uri="{BB962C8B-B14F-4D97-AF65-F5344CB8AC3E}">
        <p14:creationId xmlns:p14="http://schemas.microsoft.com/office/powerpoint/2010/main" val="112141916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49699" y="540504"/>
            <a:ext cx="3700781" cy="615553"/>
          </a:xfrm>
          <a:prstGeom prst="rect">
            <a:avLst/>
          </a:prstGeom>
        </p:spPr>
        <p:txBody>
          <a:bodyPr vert="horz" wrap="square" lIns="0" tIns="0" rIns="0" bIns="0" rtlCol="0">
            <a:spAutoFit/>
          </a:bodyPr>
          <a:lstStyle/>
          <a:p>
            <a:pPr marL="12700"/>
            <a:r>
              <a:rPr lang="fr-FR" sz="4000" b="1" dirty="0">
                <a:solidFill>
                  <a:srgbClr val="0000C2"/>
                </a:solidFill>
                <a:cs typeface="Arial"/>
              </a:rPr>
              <a:t>Récapitulatif </a:t>
            </a:r>
            <a:endParaRPr sz="4000" dirty="0">
              <a:solidFill>
                <a:prstClr val="black"/>
              </a:solidFill>
              <a:cs typeface="Arial"/>
            </a:endParaRPr>
          </a:p>
        </p:txBody>
      </p:sp>
      <p:sp>
        <p:nvSpPr>
          <p:cNvPr id="4" name="object 3"/>
          <p:cNvSpPr txBox="1"/>
          <p:nvPr/>
        </p:nvSpPr>
        <p:spPr>
          <a:xfrm>
            <a:off x="688340" y="1410620"/>
            <a:ext cx="10737215" cy="4128135"/>
          </a:xfrm>
          <a:prstGeom prst="rect">
            <a:avLst/>
          </a:prstGeom>
        </p:spPr>
        <p:txBody>
          <a:bodyPr vert="horz" wrap="square" lIns="0" tIns="0" rIns="0" bIns="0" rtlCol="0">
            <a:spAutoFit/>
          </a:bodyPr>
          <a:lstStyle/>
          <a:p>
            <a:pPr marL="241300" indent="-228600">
              <a:buFont typeface="Arial"/>
              <a:buChar char="•"/>
              <a:tabLst>
                <a:tab pos="241300" algn="l"/>
              </a:tabLst>
            </a:pPr>
            <a:r>
              <a:rPr sz="2400" dirty="0">
                <a:solidFill>
                  <a:prstClr val="black"/>
                </a:solidFill>
                <a:cs typeface="Arial"/>
              </a:rPr>
              <a:t>La</a:t>
            </a:r>
            <a:r>
              <a:rPr sz="2400" spc="-5" dirty="0">
                <a:solidFill>
                  <a:prstClr val="black"/>
                </a:solidFill>
                <a:cs typeface="Arial"/>
              </a:rPr>
              <a:t> </a:t>
            </a:r>
            <a:r>
              <a:rPr sz="2400" dirty="0">
                <a:solidFill>
                  <a:prstClr val="black"/>
                </a:solidFill>
                <a:cs typeface="Arial"/>
              </a:rPr>
              <a:t>cellule</a:t>
            </a:r>
            <a:r>
              <a:rPr sz="2400" spc="-5" dirty="0">
                <a:solidFill>
                  <a:prstClr val="black"/>
                </a:solidFill>
                <a:cs typeface="Arial"/>
              </a:rPr>
              <a:t> </a:t>
            </a:r>
            <a:r>
              <a:rPr sz="2400" dirty="0">
                <a:solidFill>
                  <a:prstClr val="black"/>
                </a:solidFill>
                <a:cs typeface="Arial"/>
              </a:rPr>
              <a:t>e</a:t>
            </a:r>
            <a:r>
              <a:rPr sz="2400" spc="-10" dirty="0">
                <a:solidFill>
                  <a:prstClr val="black"/>
                </a:solidFill>
                <a:cs typeface="Arial"/>
              </a:rPr>
              <a:t>st </a:t>
            </a:r>
            <a:r>
              <a:rPr sz="2400" dirty="0">
                <a:solidFill>
                  <a:prstClr val="black"/>
                </a:solidFill>
                <a:cs typeface="Arial"/>
              </a:rPr>
              <a:t>con</a:t>
            </a:r>
            <a:r>
              <a:rPr sz="2400" spc="-15" dirty="0">
                <a:solidFill>
                  <a:prstClr val="black"/>
                </a:solidFill>
                <a:cs typeface="Arial"/>
              </a:rPr>
              <a:t>st</a:t>
            </a:r>
            <a:r>
              <a:rPr sz="2400" dirty="0">
                <a:solidFill>
                  <a:prstClr val="black"/>
                </a:solidFill>
                <a:cs typeface="Arial"/>
              </a:rPr>
              <a:t>i</a:t>
            </a:r>
            <a:r>
              <a:rPr sz="2400" spc="-15" dirty="0">
                <a:solidFill>
                  <a:prstClr val="black"/>
                </a:solidFill>
                <a:cs typeface="Arial"/>
              </a:rPr>
              <a:t>t</a:t>
            </a:r>
            <a:r>
              <a:rPr sz="2400" dirty="0">
                <a:solidFill>
                  <a:prstClr val="black"/>
                </a:solidFill>
                <a:cs typeface="Arial"/>
              </a:rPr>
              <a:t>uée</a:t>
            </a:r>
            <a:r>
              <a:rPr sz="2400" spc="-5" dirty="0">
                <a:solidFill>
                  <a:prstClr val="black"/>
                </a:solidFill>
                <a:cs typeface="Arial"/>
              </a:rPr>
              <a:t> </a:t>
            </a:r>
            <a:r>
              <a:rPr sz="2400" dirty="0">
                <a:solidFill>
                  <a:prstClr val="black"/>
                </a:solidFill>
                <a:cs typeface="Arial"/>
              </a:rPr>
              <a:t>par</a:t>
            </a:r>
            <a:r>
              <a:rPr sz="2400" spc="-5" dirty="0">
                <a:solidFill>
                  <a:prstClr val="black"/>
                </a:solidFill>
                <a:cs typeface="Arial"/>
              </a:rPr>
              <a:t> </a:t>
            </a:r>
            <a:r>
              <a:rPr sz="2400" dirty="0">
                <a:solidFill>
                  <a:prstClr val="black"/>
                </a:solidFill>
                <a:cs typeface="Arial"/>
              </a:rPr>
              <a:t>l’assemblage</a:t>
            </a:r>
            <a:r>
              <a:rPr sz="2400" spc="-5" dirty="0">
                <a:solidFill>
                  <a:prstClr val="black"/>
                </a:solidFill>
                <a:cs typeface="Arial"/>
              </a:rPr>
              <a:t> </a:t>
            </a:r>
            <a:r>
              <a:rPr sz="2400" dirty="0">
                <a:solidFill>
                  <a:prstClr val="black"/>
                </a:solidFill>
                <a:cs typeface="Arial"/>
              </a:rPr>
              <a:t>e</a:t>
            </a:r>
            <a:r>
              <a:rPr sz="2400" spc="-10" dirty="0">
                <a:solidFill>
                  <a:prstClr val="black"/>
                </a:solidFill>
                <a:cs typeface="Arial"/>
              </a:rPr>
              <a:t>t </a:t>
            </a:r>
            <a:r>
              <a:rPr sz="2400" dirty="0">
                <a:solidFill>
                  <a:prstClr val="black"/>
                </a:solidFill>
                <a:cs typeface="Arial"/>
              </a:rPr>
              <a:t>l</a:t>
            </a:r>
            <a:r>
              <a:rPr sz="2400" spc="-5" dirty="0">
                <a:solidFill>
                  <a:prstClr val="black"/>
                </a:solidFill>
                <a:cs typeface="Arial"/>
              </a:rPr>
              <a:t>'</a:t>
            </a:r>
            <a:r>
              <a:rPr sz="2400" dirty="0">
                <a:solidFill>
                  <a:prstClr val="black"/>
                </a:solidFill>
                <a:cs typeface="Arial"/>
              </a:rPr>
              <a:t>organisa</a:t>
            </a:r>
            <a:r>
              <a:rPr sz="2400" spc="-15" dirty="0">
                <a:solidFill>
                  <a:prstClr val="black"/>
                </a:solidFill>
                <a:cs typeface="Arial"/>
              </a:rPr>
              <a:t>t</a:t>
            </a:r>
            <a:r>
              <a:rPr sz="2400" dirty="0">
                <a:solidFill>
                  <a:prstClr val="black"/>
                </a:solidFill>
                <a:cs typeface="Arial"/>
              </a:rPr>
              <a:t>ion</a:t>
            </a:r>
            <a:r>
              <a:rPr sz="2400" spc="-5" dirty="0">
                <a:solidFill>
                  <a:prstClr val="black"/>
                </a:solidFill>
                <a:cs typeface="Arial"/>
              </a:rPr>
              <a:t> </a:t>
            </a:r>
            <a:r>
              <a:rPr sz="2400" dirty="0">
                <a:solidFill>
                  <a:prstClr val="black"/>
                </a:solidFill>
                <a:cs typeface="Arial"/>
              </a:rPr>
              <a:t>complexe</a:t>
            </a:r>
            <a:r>
              <a:rPr sz="2400" spc="-5" dirty="0">
                <a:solidFill>
                  <a:prstClr val="black"/>
                </a:solidFill>
                <a:cs typeface="Arial"/>
              </a:rPr>
              <a:t> </a:t>
            </a:r>
            <a:r>
              <a:rPr sz="2400" dirty="0">
                <a:solidFill>
                  <a:prstClr val="black"/>
                </a:solidFill>
                <a:cs typeface="Arial"/>
              </a:rPr>
              <a:t>de</a:t>
            </a:r>
          </a:p>
          <a:p>
            <a:pPr marL="241300" marR="5080">
              <a:lnSpc>
                <a:spcPct val="198300"/>
              </a:lnSpc>
              <a:spcBef>
                <a:spcPts val="95"/>
              </a:spcBef>
            </a:pPr>
            <a:r>
              <a:rPr sz="2400" dirty="0">
                <a:solidFill>
                  <a:prstClr val="black"/>
                </a:solidFill>
                <a:cs typeface="Arial"/>
              </a:rPr>
              <a:t>qua</a:t>
            </a:r>
            <a:r>
              <a:rPr sz="2400" spc="-15" dirty="0">
                <a:solidFill>
                  <a:prstClr val="black"/>
                </a:solidFill>
                <a:cs typeface="Arial"/>
              </a:rPr>
              <a:t>t</a:t>
            </a:r>
            <a:r>
              <a:rPr sz="2400" dirty="0">
                <a:solidFill>
                  <a:prstClr val="black"/>
                </a:solidFill>
                <a:cs typeface="Arial"/>
              </a:rPr>
              <a:t>re</a:t>
            </a:r>
            <a:r>
              <a:rPr sz="2400" spc="-5" dirty="0">
                <a:solidFill>
                  <a:prstClr val="black"/>
                </a:solidFill>
                <a:cs typeface="Arial"/>
              </a:rPr>
              <a:t> </a:t>
            </a:r>
            <a:r>
              <a:rPr sz="2400" dirty="0">
                <a:solidFill>
                  <a:prstClr val="black"/>
                </a:solidFill>
                <a:cs typeface="Arial"/>
              </a:rPr>
              <a:t>grandes</a:t>
            </a:r>
            <a:r>
              <a:rPr sz="2400" spc="-5" dirty="0">
                <a:solidFill>
                  <a:prstClr val="black"/>
                </a:solidFill>
                <a:cs typeface="Arial"/>
              </a:rPr>
              <a:t> </a:t>
            </a:r>
            <a:r>
              <a:rPr sz="2400" dirty="0">
                <a:solidFill>
                  <a:prstClr val="black"/>
                </a:solidFill>
                <a:cs typeface="Arial"/>
              </a:rPr>
              <a:t>ca</a:t>
            </a:r>
            <a:r>
              <a:rPr sz="2400" spc="-15" dirty="0">
                <a:solidFill>
                  <a:prstClr val="black"/>
                </a:solidFill>
                <a:cs typeface="Arial"/>
              </a:rPr>
              <a:t>t</a:t>
            </a:r>
            <a:r>
              <a:rPr sz="2400" dirty="0">
                <a:solidFill>
                  <a:prstClr val="black"/>
                </a:solidFill>
                <a:cs typeface="Arial"/>
              </a:rPr>
              <a:t>égories</a:t>
            </a:r>
            <a:r>
              <a:rPr sz="2400" spc="-5" dirty="0">
                <a:solidFill>
                  <a:prstClr val="black"/>
                </a:solidFill>
                <a:cs typeface="Arial"/>
              </a:rPr>
              <a:t> </a:t>
            </a:r>
            <a:r>
              <a:rPr sz="2400" dirty="0">
                <a:solidFill>
                  <a:prstClr val="black"/>
                </a:solidFill>
                <a:cs typeface="Arial"/>
              </a:rPr>
              <a:t>de</a:t>
            </a:r>
            <a:r>
              <a:rPr sz="2400" spc="-5" dirty="0">
                <a:solidFill>
                  <a:prstClr val="black"/>
                </a:solidFill>
                <a:cs typeface="Arial"/>
              </a:rPr>
              <a:t> </a:t>
            </a:r>
            <a:r>
              <a:rPr sz="2400" dirty="0">
                <a:solidFill>
                  <a:prstClr val="black"/>
                </a:solidFill>
                <a:cs typeface="Arial"/>
              </a:rPr>
              <a:t>molécules</a:t>
            </a:r>
            <a:r>
              <a:rPr sz="2400" spc="-5" dirty="0">
                <a:solidFill>
                  <a:prstClr val="black"/>
                </a:solidFill>
                <a:cs typeface="Arial"/>
              </a:rPr>
              <a:t> </a:t>
            </a:r>
            <a:r>
              <a:rPr sz="2400" dirty="0">
                <a:solidFill>
                  <a:prstClr val="black"/>
                </a:solidFill>
                <a:cs typeface="Arial"/>
              </a:rPr>
              <a:t>organique</a:t>
            </a:r>
            <a:r>
              <a:rPr sz="2400" spc="-10" dirty="0">
                <a:solidFill>
                  <a:prstClr val="black"/>
                </a:solidFill>
                <a:cs typeface="Arial"/>
              </a:rPr>
              <a:t>s: </a:t>
            </a:r>
            <a:r>
              <a:rPr sz="2400" dirty="0">
                <a:solidFill>
                  <a:prstClr val="black"/>
                </a:solidFill>
                <a:cs typeface="Arial"/>
              </a:rPr>
              <a:t>Les</a:t>
            </a:r>
            <a:r>
              <a:rPr sz="2400" spc="-5" dirty="0">
                <a:solidFill>
                  <a:prstClr val="black"/>
                </a:solidFill>
                <a:cs typeface="Arial"/>
              </a:rPr>
              <a:t> </a:t>
            </a:r>
            <a:r>
              <a:rPr sz="2400" dirty="0">
                <a:solidFill>
                  <a:prstClr val="black"/>
                </a:solidFill>
                <a:cs typeface="Arial"/>
              </a:rPr>
              <a:t>lipide</a:t>
            </a:r>
            <a:r>
              <a:rPr sz="2400" spc="-10" dirty="0">
                <a:solidFill>
                  <a:prstClr val="black"/>
                </a:solidFill>
                <a:cs typeface="Arial"/>
              </a:rPr>
              <a:t>s, </a:t>
            </a:r>
            <a:r>
              <a:rPr sz="2400" dirty="0">
                <a:solidFill>
                  <a:prstClr val="black"/>
                </a:solidFill>
                <a:cs typeface="Arial"/>
              </a:rPr>
              <a:t>les</a:t>
            </a:r>
            <a:r>
              <a:rPr sz="2400" spc="-5" dirty="0">
                <a:solidFill>
                  <a:prstClr val="black"/>
                </a:solidFill>
                <a:cs typeface="Arial"/>
              </a:rPr>
              <a:t> </a:t>
            </a:r>
            <a:r>
              <a:rPr sz="2400" dirty="0">
                <a:solidFill>
                  <a:prstClr val="black"/>
                </a:solidFill>
                <a:cs typeface="Arial"/>
              </a:rPr>
              <a:t>glucide</a:t>
            </a:r>
            <a:r>
              <a:rPr sz="2400" spc="-10" dirty="0">
                <a:solidFill>
                  <a:prstClr val="black"/>
                </a:solidFill>
                <a:cs typeface="Arial"/>
              </a:rPr>
              <a:t>s, </a:t>
            </a:r>
            <a:r>
              <a:rPr sz="2400" dirty="0">
                <a:solidFill>
                  <a:prstClr val="black"/>
                </a:solidFill>
                <a:cs typeface="Arial"/>
              </a:rPr>
              <a:t>les</a:t>
            </a:r>
            <a:r>
              <a:rPr sz="2400" spc="-5" dirty="0">
                <a:solidFill>
                  <a:prstClr val="black"/>
                </a:solidFill>
                <a:cs typeface="Arial"/>
              </a:rPr>
              <a:t> </a:t>
            </a:r>
            <a:r>
              <a:rPr sz="2400" dirty="0">
                <a:solidFill>
                  <a:prstClr val="black"/>
                </a:solidFill>
                <a:cs typeface="Arial"/>
              </a:rPr>
              <a:t>pro</a:t>
            </a:r>
            <a:r>
              <a:rPr sz="2400" spc="-15" dirty="0">
                <a:solidFill>
                  <a:prstClr val="black"/>
                </a:solidFill>
                <a:cs typeface="Arial"/>
              </a:rPr>
              <a:t>t</a:t>
            </a:r>
            <a:r>
              <a:rPr sz="2400" dirty="0">
                <a:solidFill>
                  <a:prstClr val="black"/>
                </a:solidFill>
                <a:cs typeface="Arial"/>
              </a:rPr>
              <a:t>éines</a:t>
            </a:r>
            <a:r>
              <a:rPr sz="2400" spc="-5" dirty="0">
                <a:solidFill>
                  <a:prstClr val="black"/>
                </a:solidFill>
                <a:cs typeface="Arial"/>
              </a:rPr>
              <a:t> </a:t>
            </a:r>
            <a:r>
              <a:rPr sz="2400" dirty="0">
                <a:solidFill>
                  <a:prstClr val="black"/>
                </a:solidFill>
                <a:cs typeface="Arial"/>
              </a:rPr>
              <a:t>e</a:t>
            </a:r>
            <a:r>
              <a:rPr sz="2400" spc="-10" dirty="0">
                <a:solidFill>
                  <a:prstClr val="black"/>
                </a:solidFill>
                <a:cs typeface="Arial"/>
              </a:rPr>
              <a:t>t </a:t>
            </a:r>
            <a:r>
              <a:rPr sz="2400" dirty="0">
                <a:solidFill>
                  <a:prstClr val="black"/>
                </a:solidFill>
                <a:cs typeface="Arial"/>
              </a:rPr>
              <a:t>les</a:t>
            </a:r>
            <a:r>
              <a:rPr sz="2400" spc="-5" dirty="0">
                <a:solidFill>
                  <a:prstClr val="black"/>
                </a:solidFill>
                <a:cs typeface="Arial"/>
              </a:rPr>
              <a:t> </a:t>
            </a:r>
            <a:r>
              <a:rPr sz="2400" dirty="0">
                <a:solidFill>
                  <a:prstClr val="black"/>
                </a:solidFill>
                <a:cs typeface="Arial"/>
              </a:rPr>
              <a:t>acides</a:t>
            </a:r>
            <a:r>
              <a:rPr sz="2400" spc="-5" dirty="0">
                <a:solidFill>
                  <a:prstClr val="black"/>
                </a:solidFill>
                <a:cs typeface="Arial"/>
              </a:rPr>
              <a:t> </a:t>
            </a:r>
            <a:r>
              <a:rPr sz="2400" dirty="0">
                <a:solidFill>
                  <a:prstClr val="black"/>
                </a:solidFill>
                <a:cs typeface="Arial"/>
              </a:rPr>
              <a:t>nucléiques</a:t>
            </a:r>
          </a:p>
          <a:p>
            <a:pPr marL="241300" marR="34925" indent="-228600">
              <a:lnSpc>
                <a:spcPct val="199600"/>
              </a:lnSpc>
              <a:spcBef>
                <a:spcPts val="1040"/>
              </a:spcBef>
              <a:buFont typeface="Arial"/>
              <a:buChar char="•"/>
              <a:tabLst>
                <a:tab pos="241300" algn="l"/>
              </a:tabLst>
            </a:pPr>
            <a:r>
              <a:rPr sz="2400" spc="-285" dirty="0">
                <a:solidFill>
                  <a:prstClr val="black"/>
                </a:solidFill>
                <a:cs typeface="Arial"/>
              </a:rPr>
              <a:t>T</a:t>
            </a:r>
            <a:r>
              <a:rPr sz="2400" dirty="0">
                <a:solidFill>
                  <a:prstClr val="black"/>
                </a:solidFill>
                <a:cs typeface="Arial"/>
              </a:rPr>
              <a:t>ou</a:t>
            </a:r>
            <a:r>
              <a:rPr sz="2400" spc="-15" dirty="0">
                <a:solidFill>
                  <a:prstClr val="black"/>
                </a:solidFill>
                <a:cs typeface="Arial"/>
              </a:rPr>
              <a:t>t</a:t>
            </a:r>
            <a:r>
              <a:rPr sz="2400" dirty="0">
                <a:solidFill>
                  <a:prstClr val="black"/>
                </a:solidFill>
                <a:cs typeface="Arial"/>
              </a:rPr>
              <a:t>es</a:t>
            </a:r>
            <a:r>
              <a:rPr sz="2400" spc="-5" dirty="0">
                <a:solidFill>
                  <a:prstClr val="black"/>
                </a:solidFill>
                <a:cs typeface="Arial"/>
              </a:rPr>
              <a:t> </a:t>
            </a:r>
            <a:r>
              <a:rPr sz="2400" dirty="0">
                <a:solidFill>
                  <a:prstClr val="black"/>
                </a:solidFill>
                <a:cs typeface="Arial"/>
              </a:rPr>
              <a:t>les</a:t>
            </a:r>
            <a:r>
              <a:rPr sz="2400" spc="-5" dirty="0">
                <a:solidFill>
                  <a:prstClr val="black"/>
                </a:solidFill>
                <a:cs typeface="Arial"/>
              </a:rPr>
              <a:t> </a:t>
            </a:r>
            <a:r>
              <a:rPr sz="2400" dirty="0">
                <a:solidFill>
                  <a:prstClr val="black"/>
                </a:solidFill>
                <a:cs typeface="Arial"/>
              </a:rPr>
              <a:t>macromolécules</a:t>
            </a:r>
            <a:r>
              <a:rPr sz="2400" spc="-5" dirty="0">
                <a:solidFill>
                  <a:prstClr val="black"/>
                </a:solidFill>
                <a:cs typeface="Arial"/>
              </a:rPr>
              <a:t> </a:t>
            </a:r>
            <a:r>
              <a:rPr sz="2400" dirty="0">
                <a:solidFill>
                  <a:prstClr val="black"/>
                </a:solidFill>
                <a:cs typeface="Arial"/>
              </a:rPr>
              <a:t>à</a:t>
            </a:r>
            <a:r>
              <a:rPr sz="2400" spc="-5" dirty="0">
                <a:solidFill>
                  <a:prstClr val="black"/>
                </a:solidFill>
                <a:cs typeface="Arial"/>
              </a:rPr>
              <a:t> </a:t>
            </a:r>
            <a:r>
              <a:rPr sz="2400" dirty="0">
                <a:solidFill>
                  <a:prstClr val="black"/>
                </a:solidFill>
                <a:cs typeface="Arial"/>
              </a:rPr>
              <a:t>l</a:t>
            </a:r>
            <a:r>
              <a:rPr sz="2400" spc="-5" dirty="0">
                <a:solidFill>
                  <a:prstClr val="black"/>
                </a:solidFill>
                <a:cs typeface="Arial"/>
              </a:rPr>
              <a:t>'</a:t>
            </a:r>
            <a:r>
              <a:rPr sz="2400" dirty="0">
                <a:solidFill>
                  <a:prstClr val="black"/>
                </a:solidFill>
                <a:cs typeface="Arial"/>
              </a:rPr>
              <a:t>excep</a:t>
            </a:r>
            <a:r>
              <a:rPr sz="2400" spc="-15" dirty="0">
                <a:solidFill>
                  <a:prstClr val="black"/>
                </a:solidFill>
                <a:cs typeface="Arial"/>
              </a:rPr>
              <a:t>t</a:t>
            </a:r>
            <a:r>
              <a:rPr sz="2400" dirty="0">
                <a:solidFill>
                  <a:prstClr val="black"/>
                </a:solidFill>
                <a:cs typeface="Arial"/>
              </a:rPr>
              <a:t>ion</a:t>
            </a:r>
            <a:r>
              <a:rPr sz="2400" spc="-5" dirty="0">
                <a:solidFill>
                  <a:prstClr val="black"/>
                </a:solidFill>
                <a:cs typeface="Arial"/>
              </a:rPr>
              <a:t> </a:t>
            </a:r>
            <a:r>
              <a:rPr sz="2400" dirty="0">
                <a:solidFill>
                  <a:prstClr val="black"/>
                </a:solidFill>
                <a:cs typeface="Arial"/>
              </a:rPr>
              <a:t>des</a:t>
            </a:r>
            <a:r>
              <a:rPr sz="2400" spc="-5" dirty="0">
                <a:solidFill>
                  <a:prstClr val="black"/>
                </a:solidFill>
                <a:cs typeface="Arial"/>
              </a:rPr>
              <a:t> </a:t>
            </a:r>
            <a:r>
              <a:rPr sz="2400" dirty="0">
                <a:solidFill>
                  <a:prstClr val="black"/>
                </a:solidFill>
                <a:cs typeface="Arial"/>
              </a:rPr>
              <a:t>lipides</a:t>
            </a:r>
            <a:r>
              <a:rPr sz="2400" spc="-5" dirty="0">
                <a:solidFill>
                  <a:prstClr val="black"/>
                </a:solidFill>
                <a:cs typeface="Arial"/>
              </a:rPr>
              <a:t> </a:t>
            </a:r>
            <a:r>
              <a:rPr sz="2400" dirty="0">
                <a:solidFill>
                  <a:prstClr val="black"/>
                </a:solidFill>
                <a:cs typeface="Arial"/>
              </a:rPr>
              <a:t>son</a:t>
            </a:r>
            <a:r>
              <a:rPr sz="2400" spc="-10" dirty="0">
                <a:solidFill>
                  <a:prstClr val="black"/>
                </a:solidFill>
                <a:cs typeface="Arial"/>
              </a:rPr>
              <a:t>t </a:t>
            </a:r>
            <a:r>
              <a:rPr sz="2400" dirty="0">
                <a:solidFill>
                  <a:prstClr val="black"/>
                </a:solidFill>
                <a:cs typeface="Arial"/>
              </a:rPr>
              <a:t>considérées</a:t>
            </a:r>
            <a:r>
              <a:rPr sz="2400" spc="-5" dirty="0">
                <a:solidFill>
                  <a:prstClr val="black"/>
                </a:solidFill>
                <a:cs typeface="Arial"/>
              </a:rPr>
              <a:t> </a:t>
            </a:r>
            <a:r>
              <a:rPr sz="2400" dirty="0">
                <a:solidFill>
                  <a:prstClr val="black"/>
                </a:solidFill>
                <a:cs typeface="Arial"/>
              </a:rPr>
              <a:t>comme des</a:t>
            </a:r>
            <a:r>
              <a:rPr sz="2400" spc="-5" dirty="0">
                <a:solidFill>
                  <a:prstClr val="black"/>
                </a:solidFill>
                <a:cs typeface="Arial"/>
              </a:rPr>
              <a:t> </a:t>
            </a:r>
            <a:r>
              <a:rPr sz="2400" dirty="0">
                <a:solidFill>
                  <a:prstClr val="black"/>
                </a:solidFill>
                <a:cs typeface="Arial"/>
              </a:rPr>
              <a:t>polymère</a:t>
            </a:r>
            <a:r>
              <a:rPr sz="2400" spc="-10" dirty="0">
                <a:solidFill>
                  <a:prstClr val="black"/>
                </a:solidFill>
                <a:cs typeface="Arial"/>
              </a:rPr>
              <a:t>s, </a:t>
            </a:r>
            <a:r>
              <a:rPr sz="2400" spc="-15" dirty="0">
                <a:solidFill>
                  <a:prstClr val="black"/>
                </a:solidFill>
                <a:cs typeface="Arial"/>
              </a:rPr>
              <a:t>c.</a:t>
            </a:r>
            <a:r>
              <a:rPr sz="2400" dirty="0">
                <a:solidFill>
                  <a:prstClr val="black"/>
                </a:solidFill>
                <a:cs typeface="Arial"/>
              </a:rPr>
              <a:t>a</a:t>
            </a:r>
            <a:r>
              <a:rPr sz="2400" spc="-15" dirty="0">
                <a:solidFill>
                  <a:prstClr val="black"/>
                </a:solidFill>
                <a:cs typeface="Arial"/>
              </a:rPr>
              <a:t>.</a:t>
            </a:r>
            <a:r>
              <a:rPr sz="2400" dirty="0">
                <a:solidFill>
                  <a:prstClr val="black"/>
                </a:solidFill>
                <a:cs typeface="Arial"/>
              </a:rPr>
              <a:t>d</a:t>
            </a:r>
            <a:r>
              <a:rPr sz="2400" spc="-5" dirty="0">
                <a:solidFill>
                  <a:prstClr val="black"/>
                </a:solidFill>
                <a:cs typeface="Arial"/>
              </a:rPr>
              <a:t> </a:t>
            </a:r>
            <a:r>
              <a:rPr sz="2400" dirty="0">
                <a:solidFill>
                  <a:prstClr val="black"/>
                </a:solidFill>
                <a:cs typeface="Arial"/>
              </a:rPr>
              <a:t>une</a:t>
            </a:r>
            <a:r>
              <a:rPr sz="2400" spc="-5" dirty="0">
                <a:solidFill>
                  <a:prstClr val="black"/>
                </a:solidFill>
                <a:cs typeface="Arial"/>
              </a:rPr>
              <a:t> </a:t>
            </a:r>
            <a:r>
              <a:rPr sz="2400" dirty="0">
                <a:solidFill>
                  <a:prstClr val="black"/>
                </a:solidFill>
                <a:cs typeface="Arial"/>
              </a:rPr>
              <a:t>cha</a:t>
            </a:r>
            <a:r>
              <a:rPr sz="2400" spc="-15" dirty="0">
                <a:solidFill>
                  <a:prstClr val="black"/>
                </a:solidFill>
                <a:cs typeface="Arial"/>
              </a:rPr>
              <a:t>î</a:t>
            </a:r>
            <a:r>
              <a:rPr sz="2400" dirty="0">
                <a:solidFill>
                  <a:prstClr val="black"/>
                </a:solidFill>
                <a:cs typeface="Arial"/>
              </a:rPr>
              <a:t>ne</a:t>
            </a:r>
            <a:r>
              <a:rPr sz="2400" spc="-5" dirty="0">
                <a:solidFill>
                  <a:prstClr val="black"/>
                </a:solidFill>
                <a:cs typeface="Arial"/>
              </a:rPr>
              <a:t> </a:t>
            </a:r>
            <a:r>
              <a:rPr sz="2400" dirty="0">
                <a:solidFill>
                  <a:prstClr val="black"/>
                </a:solidFill>
                <a:cs typeface="Arial"/>
              </a:rPr>
              <a:t>de</a:t>
            </a:r>
            <a:r>
              <a:rPr sz="2400" spc="-5" dirty="0">
                <a:solidFill>
                  <a:prstClr val="black"/>
                </a:solidFill>
                <a:cs typeface="Arial"/>
              </a:rPr>
              <a:t> </a:t>
            </a:r>
            <a:r>
              <a:rPr sz="2400" dirty="0">
                <a:solidFill>
                  <a:prstClr val="black"/>
                </a:solidFill>
                <a:cs typeface="Arial"/>
              </a:rPr>
              <a:t>sous-uni</a:t>
            </a:r>
            <a:r>
              <a:rPr sz="2400" spc="-15" dirty="0">
                <a:solidFill>
                  <a:prstClr val="black"/>
                </a:solidFill>
                <a:cs typeface="Arial"/>
              </a:rPr>
              <a:t>t</a:t>
            </a:r>
            <a:r>
              <a:rPr sz="2400" dirty="0">
                <a:solidFill>
                  <a:prstClr val="black"/>
                </a:solidFill>
                <a:cs typeface="Arial"/>
              </a:rPr>
              <a:t>és</a:t>
            </a:r>
            <a:r>
              <a:rPr sz="2400" spc="-5" dirty="0">
                <a:solidFill>
                  <a:prstClr val="black"/>
                </a:solidFill>
                <a:cs typeface="Arial"/>
              </a:rPr>
              <a:t> </a:t>
            </a:r>
            <a:r>
              <a:rPr sz="2400" dirty="0">
                <a:solidFill>
                  <a:prstClr val="black"/>
                </a:solidFill>
                <a:cs typeface="Arial"/>
              </a:rPr>
              <a:t>similaires</a:t>
            </a:r>
            <a:r>
              <a:rPr sz="2400" spc="-5" dirty="0">
                <a:solidFill>
                  <a:prstClr val="black"/>
                </a:solidFill>
                <a:cs typeface="Arial"/>
              </a:rPr>
              <a:t> </a:t>
            </a:r>
            <a:r>
              <a:rPr sz="2400" dirty="0">
                <a:solidFill>
                  <a:prstClr val="black"/>
                </a:solidFill>
                <a:cs typeface="Arial"/>
              </a:rPr>
              <a:t>(monomères)</a:t>
            </a:r>
            <a:r>
              <a:rPr sz="2400" spc="-10" dirty="0">
                <a:solidFill>
                  <a:prstClr val="black"/>
                </a:solidFill>
                <a:cs typeface="Arial"/>
              </a:rPr>
              <a:t>, </a:t>
            </a:r>
            <a:r>
              <a:rPr sz="2400" dirty="0">
                <a:solidFill>
                  <a:prstClr val="black"/>
                </a:solidFill>
                <a:cs typeface="Arial"/>
              </a:rPr>
              <a:t>qui son</a:t>
            </a:r>
            <a:r>
              <a:rPr sz="2400" spc="-10" dirty="0">
                <a:solidFill>
                  <a:prstClr val="black"/>
                </a:solidFill>
                <a:cs typeface="Arial"/>
              </a:rPr>
              <a:t>t </a:t>
            </a:r>
            <a:r>
              <a:rPr sz="2400" dirty="0">
                <a:solidFill>
                  <a:prstClr val="black"/>
                </a:solidFill>
                <a:cs typeface="Arial"/>
              </a:rPr>
              <a:t>liées</a:t>
            </a:r>
            <a:r>
              <a:rPr sz="2400" spc="-5" dirty="0">
                <a:solidFill>
                  <a:prstClr val="black"/>
                </a:solidFill>
                <a:cs typeface="Arial"/>
              </a:rPr>
              <a:t> </a:t>
            </a:r>
            <a:r>
              <a:rPr sz="2400" dirty="0">
                <a:solidFill>
                  <a:prstClr val="black"/>
                </a:solidFill>
                <a:cs typeface="Arial"/>
              </a:rPr>
              <a:t>en</a:t>
            </a:r>
            <a:r>
              <a:rPr sz="2400" spc="-15" dirty="0">
                <a:solidFill>
                  <a:prstClr val="black"/>
                </a:solidFill>
                <a:cs typeface="Arial"/>
              </a:rPr>
              <a:t>t</a:t>
            </a:r>
            <a:r>
              <a:rPr sz="2400" dirty="0">
                <a:solidFill>
                  <a:prstClr val="black"/>
                </a:solidFill>
                <a:cs typeface="Arial"/>
              </a:rPr>
              <a:t>re</a:t>
            </a:r>
            <a:r>
              <a:rPr sz="2400" spc="-5" dirty="0">
                <a:solidFill>
                  <a:prstClr val="black"/>
                </a:solidFill>
                <a:cs typeface="Arial"/>
              </a:rPr>
              <a:t> </a:t>
            </a:r>
            <a:r>
              <a:rPr sz="2400" dirty="0">
                <a:solidFill>
                  <a:prstClr val="black"/>
                </a:solidFill>
                <a:cs typeface="Arial"/>
              </a:rPr>
              <a:t>elles</a:t>
            </a:r>
            <a:r>
              <a:rPr sz="2400" spc="-5" dirty="0">
                <a:solidFill>
                  <a:prstClr val="black"/>
                </a:solidFill>
                <a:cs typeface="Arial"/>
              </a:rPr>
              <a:t> </a:t>
            </a:r>
            <a:r>
              <a:rPr sz="2400" dirty="0">
                <a:solidFill>
                  <a:prstClr val="black"/>
                </a:solidFill>
                <a:cs typeface="Arial"/>
              </a:rPr>
              <a:t>par</a:t>
            </a:r>
            <a:r>
              <a:rPr sz="2400" spc="-5" dirty="0">
                <a:solidFill>
                  <a:prstClr val="black"/>
                </a:solidFill>
                <a:cs typeface="Arial"/>
              </a:rPr>
              <a:t> </a:t>
            </a:r>
            <a:r>
              <a:rPr sz="2400" dirty="0">
                <a:solidFill>
                  <a:prstClr val="black"/>
                </a:solidFill>
                <a:cs typeface="Arial"/>
              </a:rPr>
              <a:t>des</a:t>
            </a:r>
            <a:r>
              <a:rPr sz="2400" spc="-5" dirty="0">
                <a:solidFill>
                  <a:prstClr val="black"/>
                </a:solidFill>
                <a:cs typeface="Arial"/>
              </a:rPr>
              <a:t> </a:t>
            </a:r>
            <a:r>
              <a:rPr sz="2400" dirty="0">
                <a:solidFill>
                  <a:prstClr val="black"/>
                </a:solidFill>
                <a:cs typeface="Arial"/>
              </a:rPr>
              <a:t>liaisons</a:t>
            </a:r>
            <a:r>
              <a:rPr sz="2400" spc="-5" dirty="0">
                <a:solidFill>
                  <a:prstClr val="black"/>
                </a:solidFill>
                <a:cs typeface="Arial"/>
              </a:rPr>
              <a:t> </a:t>
            </a:r>
            <a:r>
              <a:rPr sz="2400" dirty="0">
                <a:solidFill>
                  <a:prstClr val="black"/>
                </a:solidFill>
                <a:cs typeface="Arial"/>
              </a:rPr>
              <a:t>covalen</a:t>
            </a:r>
            <a:r>
              <a:rPr sz="2400" spc="-15" dirty="0">
                <a:solidFill>
                  <a:prstClr val="black"/>
                </a:solidFill>
                <a:cs typeface="Arial"/>
              </a:rPr>
              <a:t>t</a:t>
            </a:r>
            <a:r>
              <a:rPr sz="2400" dirty="0">
                <a:solidFill>
                  <a:prstClr val="black"/>
                </a:solidFill>
                <a:cs typeface="Arial"/>
              </a:rPr>
              <a:t>es</a:t>
            </a:r>
          </a:p>
        </p:txBody>
      </p:sp>
    </p:spTree>
    <p:extLst>
      <p:ext uri="{BB962C8B-B14F-4D97-AF65-F5344CB8AC3E}">
        <p14:creationId xmlns:p14="http://schemas.microsoft.com/office/powerpoint/2010/main" val="31791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p:cNvSpPr txBox="1"/>
          <p:nvPr/>
        </p:nvSpPr>
        <p:spPr>
          <a:xfrm>
            <a:off x="688340" y="1410620"/>
            <a:ext cx="10668000" cy="3798476"/>
          </a:xfrm>
          <a:prstGeom prst="rect">
            <a:avLst/>
          </a:prstGeom>
        </p:spPr>
        <p:txBody>
          <a:bodyPr vert="horz" wrap="square" lIns="0" tIns="0" rIns="0" bIns="0" rtlCol="0">
            <a:spAutoFit/>
          </a:bodyPr>
          <a:lstStyle/>
          <a:p>
            <a:pPr marL="241300" indent="-228600">
              <a:buFont typeface="Arial"/>
              <a:buChar char="•"/>
              <a:tabLst>
                <a:tab pos="241300" algn="l"/>
              </a:tabLst>
            </a:pPr>
            <a:r>
              <a:rPr sz="2400" dirty="0">
                <a:solidFill>
                  <a:prstClr val="black"/>
                </a:solidFill>
                <a:cs typeface="Arial"/>
              </a:rPr>
              <a:t>Dans</a:t>
            </a:r>
            <a:r>
              <a:rPr sz="2400" spc="-5" dirty="0">
                <a:solidFill>
                  <a:prstClr val="black"/>
                </a:solidFill>
                <a:cs typeface="Arial"/>
              </a:rPr>
              <a:t> </a:t>
            </a:r>
            <a:r>
              <a:rPr sz="2400" dirty="0">
                <a:solidFill>
                  <a:prstClr val="black"/>
                </a:solidFill>
                <a:cs typeface="Arial"/>
              </a:rPr>
              <a:t>les</a:t>
            </a:r>
            <a:r>
              <a:rPr sz="2400" spc="-5" dirty="0">
                <a:solidFill>
                  <a:prstClr val="black"/>
                </a:solidFill>
                <a:cs typeface="Arial"/>
              </a:rPr>
              <a:t> </a:t>
            </a:r>
            <a:r>
              <a:rPr sz="2400" b="1" spc="-5" dirty="0">
                <a:solidFill>
                  <a:prstClr val="black"/>
                </a:solidFill>
                <a:cs typeface="Arial"/>
              </a:rPr>
              <a:t>p</a:t>
            </a:r>
            <a:r>
              <a:rPr sz="2400" b="1" dirty="0">
                <a:solidFill>
                  <a:prstClr val="black"/>
                </a:solidFill>
                <a:cs typeface="Arial"/>
              </a:rPr>
              <a:t>r</a:t>
            </a:r>
            <a:r>
              <a:rPr sz="2400" b="1" spc="-20" dirty="0">
                <a:solidFill>
                  <a:prstClr val="black"/>
                </a:solidFill>
                <a:cs typeface="Arial"/>
              </a:rPr>
              <a:t>o</a:t>
            </a:r>
            <a:r>
              <a:rPr sz="2400" b="1" spc="-10" dirty="0">
                <a:solidFill>
                  <a:prstClr val="black"/>
                </a:solidFill>
                <a:cs typeface="Arial"/>
              </a:rPr>
              <a:t>t</a:t>
            </a:r>
            <a:r>
              <a:rPr sz="2400" b="1" dirty="0">
                <a:solidFill>
                  <a:prstClr val="black"/>
                </a:solidFill>
                <a:cs typeface="Arial"/>
              </a:rPr>
              <a:t>é</a:t>
            </a:r>
            <a:r>
              <a:rPr sz="2400" b="1" spc="-20" dirty="0">
                <a:solidFill>
                  <a:prstClr val="black"/>
                </a:solidFill>
                <a:cs typeface="Arial"/>
              </a:rPr>
              <a:t>in</a:t>
            </a:r>
            <a:r>
              <a:rPr sz="2400" b="1" spc="-15" dirty="0">
                <a:solidFill>
                  <a:prstClr val="black"/>
                </a:solidFill>
                <a:cs typeface="Arial"/>
              </a:rPr>
              <a:t>e</a:t>
            </a:r>
            <a:r>
              <a:rPr sz="2400" b="1" dirty="0">
                <a:solidFill>
                  <a:prstClr val="black"/>
                </a:solidFill>
                <a:cs typeface="Arial"/>
              </a:rPr>
              <a:t>s</a:t>
            </a:r>
            <a:r>
              <a:rPr sz="2400" spc="-10" dirty="0">
                <a:solidFill>
                  <a:prstClr val="black"/>
                </a:solidFill>
                <a:cs typeface="Arial"/>
              </a:rPr>
              <a:t>, </a:t>
            </a:r>
            <a:r>
              <a:rPr sz="2400" dirty="0">
                <a:solidFill>
                  <a:prstClr val="black"/>
                </a:solidFill>
                <a:cs typeface="Arial"/>
              </a:rPr>
              <a:t>les</a:t>
            </a:r>
            <a:r>
              <a:rPr sz="2400" spc="-5" dirty="0">
                <a:solidFill>
                  <a:prstClr val="black"/>
                </a:solidFill>
                <a:cs typeface="Arial"/>
              </a:rPr>
              <a:t> </a:t>
            </a:r>
            <a:r>
              <a:rPr sz="2400" dirty="0">
                <a:solidFill>
                  <a:prstClr val="black"/>
                </a:solidFill>
                <a:cs typeface="Arial"/>
              </a:rPr>
              <a:t>monomères</a:t>
            </a:r>
            <a:r>
              <a:rPr sz="2400" spc="-5" dirty="0">
                <a:solidFill>
                  <a:prstClr val="black"/>
                </a:solidFill>
                <a:cs typeface="Arial"/>
              </a:rPr>
              <a:t> </a:t>
            </a:r>
            <a:r>
              <a:rPr sz="2400" dirty="0">
                <a:solidFill>
                  <a:prstClr val="black"/>
                </a:solidFill>
                <a:cs typeface="Arial"/>
              </a:rPr>
              <a:t>son</a:t>
            </a:r>
            <a:r>
              <a:rPr sz="2400" spc="-10" dirty="0">
                <a:solidFill>
                  <a:prstClr val="black"/>
                </a:solidFill>
                <a:cs typeface="Arial"/>
              </a:rPr>
              <a:t>t </a:t>
            </a:r>
            <a:r>
              <a:rPr sz="2400" dirty="0">
                <a:solidFill>
                  <a:prstClr val="black"/>
                </a:solidFill>
                <a:cs typeface="Arial"/>
              </a:rPr>
              <a:t>des</a:t>
            </a:r>
            <a:r>
              <a:rPr sz="2400" spc="-5" dirty="0">
                <a:solidFill>
                  <a:prstClr val="black"/>
                </a:solidFill>
                <a:cs typeface="Arial"/>
              </a:rPr>
              <a:t> </a:t>
            </a:r>
            <a:r>
              <a:rPr sz="2400" b="1" dirty="0">
                <a:solidFill>
                  <a:prstClr val="black"/>
                </a:solidFill>
                <a:cs typeface="Arial"/>
              </a:rPr>
              <a:t>ac</a:t>
            </a:r>
            <a:r>
              <a:rPr sz="2400" b="1" spc="-5" dirty="0">
                <a:solidFill>
                  <a:prstClr val="black"/>
                </a:solidFill>
                <a:cs typeface="Arial"/>
              </a:rPr>
              <a:t>i</a:t>
            </a:r>
            <a:r>
              <a:rPr sz="2400" b="1" spc="-20" dirty="0">
                <a:solidFill>
                  <a:prstClr val="black"/>
                </a:solidFill>
                <a:cs typeface="Arial"/>
              </a:rPr>
              <a:t>d</a:t>
            </a:r>
            <a:r>
              <a:rPr sz="2400" b="1" dirty="0">
                <a:solidFill>
                  <a:prstClr val="black"/>
                </a:solidFill>
                <a:cs typeface="Arial"/>
              </a:rPr>
              <a:t>es</a:t>
            </a:r>
            <a:r>
              <a:rPr sz="2400" b="1" spc="-5" dirty="0">
                <a:solidFill>
                  <a:prstClr val="black"/>
                </a:solidFill>
                <a:cs typeface="Arial"/>
              </a:rPr>
              <a:t> </a:t>
            </a:r>
            <a:r>
              <a:rPr sz="2400" b="1" dirty="0">
                <a:solidFill>
                  <a:prstClr val="black"/>
                </a:solidFill>
                <a:cs typeface="Arial"/>
              </a:rPr>
              <a:t>am</a:t>
            </a:r>
            <a:r>
              <a:rPr sz="2400" b="1" spc="-5" dirty="0">
                <a:solidFill>
                  <a:prstClr val="black"/>
                </a:solidFill>
                <a:cs typeface="Arial"/>
              </a:rPr>
              <a:t>i</a:t>
            </a:r>
            <a:r>
              <a:rPr sz="2400" b="1" spc="-20" dirty="0">
                <a:solidFill>
                  <a:prstClr val="black"/>
                </a:solidFill>
                <a:cs typeface="Arial"/>
              </a:rPr>
              <a:t>n</a:t>
            </a:r>
            <a:r>
              <a:rPr sz="2400" b="1" dirty="0">
                <a:solidFill>
                  <a:prstClr val="black"/>
                </a:solidFill>
                <a:cs typeface="Arial"/>
              </a:rPr>
              <a:t>és</a:t>
            </a:r>
            <a:r>
              <a:rPr sz="2400" b="1" spc="-5" dirty="0">
                <a:solidFill>
                  <a:prstClr val="black"/>
                </a:solidFill>
                <a:cs typeface="Arial"/>
              </a:rPr>
              <a:t> </a:t>
            </a:r>
            <a:r>
              <a:rPr sz="2400" spc="-10" dirty="0">
                <a:solidFill>
                  <a:prstClr val="black"/>
                </a:solidFill>
                <a:cs typeface="Arial"/>
              </a:rPr>
              <a:t>;</a:t>
            </a:r>
            <a:endParaRPr sz="2400" dirty="0">
              <a:solidFill>
                <a:prstClr val="black"/>
              </a:solidFill>
              <a:cs typeface="Arial"/>
            </a:endParaRPr>
          </a:p>
          <a:p>
            <a:pPr>
              <a:spcBef>
                <a:spcPts val="26"/>
              </a:spcBef>
              <a:buFont typeface="Arial"/>
              <a:buChar char="•"/>
            </a:pPr>
            <a:endParaRPr sz="3400" dirty="0">
              <a:solidFill>
                <a:prstClr val="black"/>
              </a:solidFill>
              <a:cs typeface="Times New Roman"/>
            </a:endParaRPr>
          </a:p>
          <a:p>
            <a:pPr marL="241300" indent="-228600">
              <a:buFont typeface="Arial"/>
              <a:buChar char="•"/>
              <a:tabLst>
                <a:tab pos="241300" algn="l"/>
              </a:tabLst>
            </a:pPr>
            <a:r>
              <a:rPr sz="2400" dirty="0">
                <a:solidFill>
                  <a:prstClr val="black"/>
                </a:solidFill>
                <a:cs typeface="Arial"/>
              </a:rPr>
              <a:t>Dans</a:t>
            </a:r>
            <a:r>
              <a:rPr sz="2400" spc="-5" dirty="0">
                <a:solidFill>
                  <a:prstClr val="black"/>
                </a:solidFill>
                <a:cs typeface="Arial"/>
              </a:rPr>
              <a:t> </a:t>
            </a:r>
            <a:r>
              <a:rPr sz="2400" dirty="0">
                <a:solidFill>
                  <a:prstClr val="black"/>
                </a:solidFill>
                <a:cs typeface="Arial"/>
              </a:rPr>
              <a:t>les</a:t>
            </a:r>
            <a:r>
              <a:rPr sz="2400" spc="-5" dirty="0">
                <a:solidFill>
                  <a:prstClr val="black"/>
                </a:solidFill>
                <a:cs typeface="Arial"/>
              </a:rPr>
              <a:t> </a:t>
            </a:r>
            <a:r>
              <a:rPr sz="2400" b="1" spc="-20" dirty="0">
                <a:solidFill>
                  <a:prstClr val="black"/>
                </a:solidFill>
                <a:cs typeface="Arial"/>
              </a:rPr>
              <a:t>glu</a:t>
            </a:r>
            <a:r>
              <a:rPr sz="2400" b="1" spc="-15" dirty="0">
                <a:solidFill>
                  <a:prstClr val="black"/>
                </a:solidFill>
                <a:cs typeface="Arial"/>
              </a:rPr>
              <a:t>c</a:t>
            </a:r>
            <a:r>
              <a:rPr sz="2400" b="1" spc="-20" dirty="0">
                <a:solidFill>
                  <a:prstClr val="black"/>
                </a:solidFill>
                <a:cs typeface="Arial"/>
              </a:rPr>
              <a:t>id</a:t>
            </a:r>
            <a:r>
              <a:rPr sz="2400" b="1" spc="-15" dirty="0">
                <a:solidFill>
                  <a:prstClr val="black"/>
                </a:solidFill>
                <a:cs typeface="Arial"/>
              </a:rPr>
              <a:t>e</a:t>
            </a:r>
            <a:r>
              <a:rPr sz="2400" b="1" dirty="0">
                <a:solidFill>
                  <a:prstClr val="black"/>
                </a:solidFill>
                <a:cs typeface="Arial"/>
              </a:rPr>
              <a:t>s</a:t>
            </a:r>
            <a:r>
              <a:rPr sz="2400" spc="-10" dirty="0">
                <a:solidFill>
                  <a:prstClr val="black"/>
                </a:solidFill>
                <a:cs typeface="Arial"/>
              </a:rPr>
              <a:t>, </a:t>
            </a:r>
            <a:r>
              <a:rPr sz="2400" dirty="0">
                <a:solidFill>
                  <a:prstClr val="black"/>
                </a:solidFill>
                <a:cs typeface="Arial"/>
              </a:rPr>
              <a:t>les</a:t>
            </a:r>
            <a:r>
              <a:rPr sz="2400" spc="-5" dirty="0">
                <a:solidFill>
                  <a:prstClr val="black"/>
                </a:solidFill>
                <a:cs typeface="Arial"/>
              </a:rPr>
              <a:t> </a:t>
            </a:r>
            <a:r>
              <a:rPr sz="2400" dirty="0">
                <a:solidFill>
                  <a:prstClr val="black"/>
                </a:solidFill>
                <a:cs typeface="Arial"/>
              </a:rPr>
              <a:t>monomères</a:t>
            </a:r>
            <a:r>
              <a:rPr sz="2400" spc="-5" dirty="0">
                <a:solidFill>
                  <a:prstClr val="black"/>
                </a:solidFill>
                <a:cs typeface="Arial"/>
              </a:rPr>
              <a:t> </a:t>
            </a:r>
            <a:r>
              <a:rPr sz="2400" dirty="0">
                <a:solidFill>
                  <a:prstClr val="black"/>
                </a:solidFill>
                <a:cs typeface="Arial"/>
              </a:rPr>
              <a:t>son</a:t>
            </a:r>
            <a:r>
              <a:rPr sz="2400" spc="-10" dirty="0">
                <a:solidFill>
                  <a:prstClr val="black"/>
                </a:solidFill>
                <a:cs typeface="Arial"/>
              </a:rPr>
              <a:t>t </a:t>
            </a:r>
            <a:r>
              <a:rPr sz="2400" dirty="0">
                <a:solidFill>
                  <a:prstClr val="black"/>
                </a:solidFill>
                <a:cs typeface="Arial"/>
              </a:rPr>
              <a:t>des</a:t>
            </a:r>
            <a:r>
              <a:rPr sz="2400" spc="-5" dirty="0">
                <a:solidFill>
                  <a:prstClr val="black"/>
                </a:solidFill>
                <a:cs typeface="Arial"/>
              </a:rPr>
              <a:t> </a:t>
            </a:r>
            <a:r>
              <a:rPr sz="2400" b="1" spc="-20" dirty="0">
                <a:solidFill>
                  <a:prstClr val="black"/>
                </a:solidFill>
                <a:cs typeface="Arial"/>
              </a:rPr>
              <a:t>o</a:t>
            </a:r>
            <a:r>
              <a:rPr sz="2400" b="1" spc="-15" dirty="0">
                <a:solidFill>
                  <a:prstClr val="black"/>
                </a:solidFill>
                <a:cs typeface="Arial"/>
              </a:rPr>
              <a:t>s</a:t>
            </a:r>
            <a:r>
              <a:rPr sz="2400" b="1" dirty="0">
                <a:solidFill>
                  <a:prstClr val="black"/>
                </a:solidFill>
                <a:cs typeface="Arial"/>
              </a:rPr>
              <a:t>es</a:t>
            </a:r>
            <a:r>
              <a:rPr sz="2400" b="1" spc="-5" dirty="0">
                <a:solidFill>
                  <a:prstClr val="black"/>
                </a:solidFill>
                <a:cs typeface="Arial"/>
              </a:rPr>
              <a:t> </a:t>
            </a:r>
            <a:r>
              <a:rPr sz="2400" spc="-10" dirty="0">
                <a:solidFill>
                  <a:prstClr val="black"/>
                </a:solidFill>
                <a:cs typeface="Arial"/>
              </a:rPr>
              <a:t>;</a:t>
            </a:r>
            <a:endParaRPr sz="2400" dirty="0">
              <a:solidFill>
                <a:prstClr val="black"/>
              </a:solidFill>
              <a:cs typeface="Arial"/>
            </a:endParaRPr>
          </a:p>
          <a:p>
            <a:pPr>
              <a:spcBef>
                <a:spcPts val="21"/>
              </a:spcBef>
              <a:buFont typeface="Arial"/>
              <a:buChar char="•"/>
            </a:pPr>
            <a:endParaRPr sz="3300" dirty="0">
              <a:solidFill>
                <a:prstClr val="black"/>
              </a:solidFill>
              <a:cs typeface="Times New Roman"/>
            </a:endParaRPr>
          </a:p>
          <a:p>
            <a:pPr marL="241300" indent="-228600">
              <a:buFont typeface="Arial"/>
              <a:buChar char="•"/>
              <a:tabLst>
                <a:tab pos="241300" algn="l"/>
              </a:tabLst>
            </a:pPr>
            <a:r>
              <a:rPr sz="2400" dirty="0">
                <a:solidFill>
                  <a:prstClr val="black"/>
                </a:solidFill>
                <a:cs typeface="Arial"/>
              </a:rPr>
              <a:t>Dans</a:t>
            </a:r>
            <a:r>
              <a:rPr sz="2400" spc="-5" dirty="0">
                <a:solidFill>
                  <a:prstClr val="black"/>
                </a:solidFill>
                <a:cs typeface="Arial"/>
              </a:rPr>
              <a:t> </a:t>
            </a:r>
            <a:r>
              <a:rPr sz="2400" dirty="0">
                <a:solidFill>
                  <a:prstClr val="black"/>
                </a:solidFill>
                <a:cs typeface="Arial"/>
              </a:rPr>
              <a:t>les</a:t>
            </a:r>
            <a:r>
              <a:rPr sz="2400" spc="-5" dirty="0">
                <a:solidFill>
                  <a:prstClr val="black"/>
                </a:solidFill>
                <a:cs typeface="Arial"/>
              </a:rPr>
              <a:t> </a:t>
            </a:r>
            <a:r>
              <a:rPr sz="2400" b="1" dirty="0">
                <a:solidFill>
                  <a:prstClr val="black"/>
                </a:solidFill>
                <a:cs typeface="Arial"/>
              </a:rPr>
              <a:t>ac</a:t>
            </a:r>
            <a:r>
              <a:rPr sz="2400" b="1" spc="-5" dirty="0">
                <a:solidFill>
                  <a:prstClr val="black"/>
                </a:solidFill>
                <a:cs typeface="Arial"/>
              </a:rPr>
              <a:t>i</a:t>
            </a:r>
            <a:r>
              <a:rPr sz="2400" b="1" spc="-20" dirty="0">
                <a:solidFill>
                  <a:prstClr val="black"/>
                </a:solidFill>
                <a:cs typeface="Arial"/>
              </a:rPr>
              <a:t>d</a:t>
            </a:r>
            <a:r>
              <a:rPr sz="2400" b="1" dirty="0">
                <a:solidFill>
                  <a:prstClr val="black"/>
                </a:solidFill>
                <a:cs typeface="Arial"/>
              </a:rPr>
              <a:t>es</a:t>
            </a:r>
            <a:r>
              <a:rPr sz="2400" b="1" spc="-5" dirty="0">
                <a:solidFill>
                  <a:prstClr val="black"/>
                </a:solidFill>
                <a:cs typeface="Arial"/>
              </a:rPr>
              <a:t> </a:t>
            </a:r>
            <a:r>
              <a:rPr sz="2400" b="1" spc="-20" dirty="0">
                <a:solidFill>
                  <a:prstClr val="black"/>
                </a:solidFill>
                <a:cs typeface="Arial"/>
              </a:rPr>
              <a:t>nu</a:t>
            </a:r>
            <a:r>
              <a:rPr sz="2400" b="1" spc="-15" dirty="0">
                <a:solidFill>
                  <a:prstClr val="black"/>
                </a:solidFill>
                <a:cs typeface="Arial"/>
              </a:rPr>
              <a:t>cléi</a:t>
            </a:r>
            <a:r>
              <a:rPr sz="2400" b="1" spc="-20" dirty="0">
                <a:solidFill>
                  <a:prstClr val="black"/>
                </a:solidFill>
                <a:cs typeface="Arial"/>
              </a:rPr>
              <a:t>qu</a:t>
            </a:r>
            <a:r>
              <a:rPr sz="2400" b="1" dirty="0">
                <a:solidFill>
                  <a:prstClr val="black"/>
                </a:solidFill>
                <a:cs typeface="Arial"/>
              </a:rPr>
              <a:t>es</a:t>
            </a:r>
            <a:r>
              <a:rPr sz="2400" spc="-10" dirty="0">
                <a:solidFill>
                  <a:prstClr val="black"/>
                </a:solidFill>
                <a:cs typeface="Arial"/>
              </a:rPr>
              <a:t>, </a:t>
            </a:r>
            <a:r>
              <a:rPr sz="2400" dirty="0">
                <a:solidFill>
                  <a:prstClr val="black"/>
                </a:solidFill>
                <a:cs typeface="Arial"/>
              </a:rPr>
              <a:t>les</a:t>
            </a:r>
            <a:r>
              <a:rPr sz="2400" spc="-5" dirty="0">
                <a:solidFill>
                  <a:prstClr val="black"/>
                </a:solidFill>
                <a:cs typeface="Arial"/>
              </a:rPr>
              <a:t> </a:t>
            </a:r>
            <a:r>
              <a:rPr sz="2400" dirty="0">
                <a:solidFill>
                  <a:prstClr val="black"/>
                </a:solidFill>
                <a:cs typeface="Arial"/>
              </a:rPr>
              <a:t>monomères</a:t>
            </a:r>
            <a:r>
              <a:rPr sz="2400" spc="-5" dirty="0">
                <a:solidFill>
                  <a:prstClr val="black"/>
                </a:solidFill>
                <a:cs typeface="Arial"/>
              </a:rPr>
              <a:t> </a:t>
            </a:r>
            <a:r>
              <a:rPr sz="2400" dirty="0">
                <a:solidFill>
                  <a:prstClr val="black"/>
                </a:solidFill>
                <a:cs typeface="Arial"/>
              </a:rPr>
              <a:t>son</a:t>
            </a:r>
            <a:r>
              <a:rPr sz="2400" spc="-10" dirty="0">
                <a:solidFill>
                  <a:prstClr val="black"/>
                </a:solidFill>
                <a:cs typeface="Arial"/>
              </a:rPr>
              <a:t>t </a:t>
            </a:r>
            <a:r>
              <a:rPr sz="2400" dirty="0">
                <a:solidFill>
                  <a:prstClr val="black"/>
                </a:solidFill>
                <a:cs typeface="Arial"/>
              </a:rPr>
              <a:t>des</a:t>
            </a:r>
            <a:r>
              <a:rPr sz="2400" spc="-5" dirty="0">
                <a:solidFill>
                  <a:prstClr val="black"/>
                </a:solidFill>
                <a:cs typeface="Arial"/>
              </a:rPr>
              <a:t> </a:t>
            </a:r>
            <a:r>
              <a:rPr sz="2400" b="1" spc="-20" dirty="0">
                <a:solidFill>
                  <a:prstClr val="black"/>
                </a:solidFill>
                <a:cs typeface="Arial"/>
              </a:rPr>
              <a:t>nu</a:t>
            </a:r>
            <a:r>
              <a:rPr sz="2400" b="1" spc="-15" dirty="0">
                <a:solidFill>
                  <a:prstClr val="black"/>
                </a:solidFill>
                <a:cs typeface="Arial"/>
              </a:rPr>
              <a:t>clé</a:t>
            </a:r>
            <a:r>
              <a:rPr sz="2400" b="1" spc="-20" dirty="0">
                <a:solidFill>
                  <a:prstClr val="black"/>
                </a:solidFill>
                <a:cs typeface="Arial"/>
              </a:rPr>
              <a:t>o</a:t>
            </a:r>
            <a:r>
              <a:rPr sz="2400" b="1" spc="-10" dirty="0">
                <a:solidFill>
                  <a:prstClr val="black"/>
                </a:solidFill>
                <a:cs typeface="Arial"/>
              </a:rPr>
              <a:t>t</a:t>
            </a:r>
            <a:r>
              <a:rPr sz="2400" b="1" spc="-20" dirty="0">
                <a:solidFill>
                  <a:prstClr val="black"/>
                </a:solidFill>
                <a:cs typeface="Arial"/>
              </a:rPr>
              <a:t>id</a:t>
            </a:r>
            <a:r>
              <a:rPr sz="2400" b="1" spc="-15" dirty="0">
                <a:solidFill>
                  <a:prstClr val="black"/>
                </a:solidFill>
                <a:cs typeface="Arial"/>
              </a:rPr>
              <a:t>e</a:t>
            </a:r>
            <a:r>
              <a:rPr sz="2400" b="1" spc="-5" dirty="0">
                <a:solidFill>
                  <a:prstClr val="black"/>
                </a:solidFill>
                <a:cs typeface="Arial"/>
              </a:rPr>
              <a:t>s</a:t>
            </a:r>
            <a:r>
              <a:rPr sz="2400" spc="-10" dirty="0">
                <a:solidFill>
                  <a:prstClr val="black"/>
                </a:solidFill>
                <a:cs typeface="Arial"/>
              </a:rPr>
              <a:t>.</a:t>
            </a:r>
            <a:endParaRPr sz="2400" dirty="0">
              <a:solidFill>
                <a:prstClr val="black"/>
              </a:solidFill>
              <a:cs typeface="Arial"/>
            </a:endParaRPr>
          </a:p>
          <a:p>
            <a:pPr>
              <a:spcBef>
                <a:spcPts val="2"/>
              </a:spcBef>
              <a:buFont typeface="Arial"/>
              <a:buChar char="•"/>
            </a:pPr>
            <a:endParaRPr sz="3400" dirty="0">
              <a:solidFill>
                <a:prstClr val="black"/>
              </a:solidFill>
              <a:cs typeface="Times New Roman"/>
            </a:endParaRPr>
          </a:p>
          <a:p>
            <a:pPr marL="241300" indent="-228600">
              <a:buFont typeface="Arial"/>
              <a:buChar char="•"/>
              <a:tabLst>
                <a:tab pos="241300" algn="l"/>
              </a:tabLst>
            </a:pPr>
            <a:r>
              <a:rPr sz="2400" b="1" spc="-20" dirty="0">
                <a:solidFill>
                  <a:prstClr val="black"/>
                </a:solidFill>
                <a:cs typeface="Arial"/>
              </a:rPr>
              <a:t>L</a:t>
            </a:r>
            <a:r>
              <a:rPr sz="2400" b="1" spc="-15" dirty="0">
                <a:solidFill>
                  <a:prstClr val="black"/>
                </a:solidFill>
                <a:cs typeface="Arial"/>
              </a:rPr>
              <a:t>e</a:t>
            </a:r>
            <a:r>
              <a:rPr sz="2400" b="1" dirty="0">
                <a:solidFill>
                  <a:prstClr val="black"/>
                </a:solidFill>
                <a:cs typeface="Arial"/>
              </a:rPr>
              <a:t>s</a:t>
            </a:r>
            <a:r>
              <a:rPr sz="2400" b="1" spc="-5" dirty="0">
                <a:solidFill>
                  <a:prstClr val="black"/>
                </a:solidFill>
                <a:cs typeface="Arial"/>
              </a:rPr>
              <a:t> </a:t>
            </a:r>
            <a:r>
              <a:rPr sz="2400" b="1" spc="-15" dirty="0">
                <a:solidFill>
                  <a:prstClr val="black"/>
                </a:solidFill>
                <a:cs typeface="Arial"/>
              </a:rPr>
              <a:t>lipide</a:t>
            </a:r>
            <a:r>
              <a:rPr sz="2400" b="1" dirty="0">
                <a:solidFill>
                  <a:prstClr val="black"/>
                </a:solidFill>
                <a:cs typeface="Arial"/>
              </a:rPr>
              <a:t>s</a:t>
            </a:r>
            <a:r>
              <a:rPr sz="2400" b="1" spc="-5" dirty="0">
                <a:solidFill>
                  <a:prstClr val="black"/>
                </a:solidFill>
                <a:cs typeface="Arial"/>
              </a:rPr>
              <a:t> </a:t>
            </a:r>
            <a:r>
              <a:rPr sz="2400" b="1" dirty="0">
                <a:solidFill>
                  <a:prstClr val="black"/>
                </a:solidFill>
                <a:cs typeface="Arial"/>
              </a:rPr>
              <a:t>s</a:t>
            </a:r>
            <a:r>
              <a:rPr sz="2400" b="1" spc="-20" dirty="0">
                <a:solidFill>
                  <a:prstClr val="black"/>
                </a:solidFill>
                <a:cs typeface="Arial"/>
              </a:rPr>
              <a:t>on</a:t>
            </a:r>
            <a:r>
              <a:rPr sz="2400" b="1" spc="-10" dirty="0">
                <a:solidFill>
                  <a:prstClr val="black"/>
                </a:solidFill>
                <a:cs typeface="Arial"/>
              </a:rPr>
              <a:t>t</a:t>
            </a:r>
            <a:r>
              <a:rPr sz="2400" b="1" spc="-5" dirty="0">
                <a:solidFill>
                  <a:prstClr val="black"/>
                </a:solidFill>
                <a:cs typeface="Arial"/>
              </a:rPr>
              <a:t> </a:t>
            </a:r>
            <a:r>
              <a:rPr sz="2400" b="1" spc="-20" dirty="0">
                <a:solidFill>
                  <a:prstClr val="black"/>
                </a:solidFill>
                <a:cs typeface="Arial"/>
              </a:rPr>
              <a:t>u</a:t>
            </a:r>
            <a:r>
              <a:rPr sz="2400" b="1" spc="-15" dirty="0">
                <a:solidFill>
                  <a:prstClr val="black"/>
                </a:solidFill>
                <a:cs typeface="Arial"/>
              </a:rPr>
              <a:t>n</a:t>
            </a:r>
            <a:r>
              <a:rPr sz="2400" b="1" spc="-10" dirty="0">
                <a:solidFill>
                  <a:prstClr val="black"/>
                </a:solidFill>
                <a:cs typeface="Arial"/>
              </a:rPr>
              <a:t> </a:t>
            </a:r>
            <a:r>
              <a:rPr sz="2400" b="1" spc="-5" dirty="0">
                <a:solidFill>
                  <a:prstClr val="black"/>
                </a:solidFill>
                <a:cs typeface="Arial"/>
              </a:rPr>
              <a:t>g</a:t>
            </a:r>
            <a:r>
              <a:rPr sz="2400" b="1" dirty="0">
                <a:solidFill>
                  <a:prstClr val="black"/>
                </a:solidFill>
                <a:cs typeface="Arial"/>
              </a:rPr>
              <a:t>r</a:t>
            </a:r>
            <a:r>
              <a:rPr sz="2400" b="1" spc="-20" dirty="0">
                <a:solidFill>
                  <a:prstClr val="black"/>
                </a:solidFill>
                <a:cs typeface="Arial"/>
              </a:rPr>
              <a:t>oup</a:t>
            </a:r>
            <a:r>
              <a:rPr sz="2400" b="1" spc="-15" dirty="0">
                <a:solidFill>
                  <a:prstClr val="black"/>
                </a:solidFill>
                <a:cs typeface="Arial"/>
              </a:rPr>
              <a:t>e</a:t>
            </a:r>
            <a:r>
              <a:rPr sz="2400" b="1" spc="-5" dirty="0">
                <a:solidFill>
                  <a:prstClr val="black"/>
                </a:solidFill>
                <a:cs typeface="Arial"/>
              </a:rPr>
              <a:t> </a:t>
            </a:r>
            <a:r>
              <a:rPr sz="2400" b="1" spc="-20" dirty="0">
                <a:solidFill>
                  <a:prstClr val="black"/>
                </a:solidFill>
                <a:cs typeface="Arial"/>
              </a:rPr>
              <a:t>di</a:t>
            </a:r>
            <a:r>
              <a:rPr sz="2400" b="1" spc="-15" dirty="0">
                <a:solidFill>
                  <a:prstClr val="black"/>
                </a:solidFill>
                <a:cs typeface="Arial"/>
              </a:rPr>
              <a:t>v</a:t>
            </a:r>
            <a:r>
              <a:rPr sz="2400" b="1" dirty="0">
                <a:solidFill>
                  <a:prstClr val="black"/>
                </a:solidFill>
                <a:cs typeface="Arial"/>
              </a:rPr>
              <a:t>ers</a:t>
            </a:r>
            <a:r>
              <a:rPr sz="2400" b="1" spc="-15" dirty="0">
                <a:solidFill>
                  <a:prstClr val="black"/>
                </a:solidFill>
                <a:cs typeface="Arial"/>
              </a:rPr>
              <a:t>i</a:t>
            </a:r>
            <a:r>
              <a:rPr sz="2400" b="1" spc="-10" dirty="0">
                <a:solidFill>
                  <a:prstClr val="black"/>
                </a:solidFill>
                <a:cs typeface="Arial"/>
              </a:rPr>
              <a:t>f</a:t>
            </a:r>
            <a:r>
              <a:rPr sz="2400" b="1" spc="-15" dirty="0">
                <a:solidFill>
                  <a:prstClr val="black"/>
                </a:solidFill>
                <a:cs typeface="Arial"/>
              </a:rPr>
              <a:t>ié </a:t>
            </a:r>
            <a:r>
              <a:rPr sz="2400" dirty="0">
                <a:solidFill>
                  <a:prstClr val="black"/>
                </a:solidFill>
                <a:cs typeface="Arial"/>
              </a:rPr>
              <a:t>de</a:t>
            </a:r>
            <a:r>
              <a:rPr sz="2400" spc="-5" dirty="0">
                <a:solidFill>
                  <a:prstClr val="black"/>
                </a:solidFill>
                <a:cs typeface="Arial"/>
              </a:rPr>
              <a:t> </a:t>
            </a:r>
            <a:r>
              <a:rPr sz="2400" dirty="0">
                <a:solidFill>
                  <a:prstClr val="black"/>
                </a:solidFill>
                <a:cs typeface="Arial"/>
              </a:rPr>
              <a:t>molécule</a:t>
            </a:r>
            <a:r>
              <a:rPr sz="2400" spc="-10" dirty="0">
                <a:solidFill>
                  <a:prstClr val="black"/>
                </a:solidFill>
                <a:cs typeface="Arial"/>
              </a:rPr>
              <a:t>s, </a:t>
            </a:r>
            <a:r>
              <a:rPr sz="2400" dirty="0">
                <a:solidFill>
                  <a:prstClr val="black"/>
                </a:solidFill>
                <a:cs typeface="Arial"/>
              </a:rPr>
              <a:t>qui</a:t>
            </a:r>
            <a:r>
              <a:rPr sz="2400" spc="-5" dirty="0">
                <a:solidFill>
                  <a:prstClr val="black"/>
                </a:solidFill>
                <a:cs typeface="Arial"/>
              </a:rPr>
              <a:t> </a:t>
            </a:r>
            <a:r>
              <a:rPr sz="2400" dirty="0">
                <a:solidFill>
                  <a:prstClr val="black"/>
                </a:solidFill>
                <a:cs typeface="Arial"/>
              </a:rPr>
              <a:t>se</a:t>
            </a:r>
            <a:r>
              <a:rPr sz="2400" spc="-5" dirty="0">
                <a:solidFill>
                  <a:prstClr val="black"/>
                </a:solidFill>
                <a:cs typeface="Arial"/>
              </a:rPr>
              <a:t> </a:t>
            </a:r>
            <a:r>
              <a:rPr sz="2400" dirty="0">
                <a:solidFill>
                  <a:prstClr val="black"/>
                </a:solidFill>
                <a:cs typeface="Arial"/>
              </a:rPr>
              <a:t>présen</a:t>
            </a:r>
            <a:r>
              <a:rPr sz="2400" spc="-15" dirty="0">
                <a:solidFill>
                  <a:prstClr val="black"/>
                </a:solidFill>
                <a:cs typeface="Arial"/>
              </a:rPr>
              <a:t>t</a:t>
            </a:r>
            <a:r>
              <a:rPr sz="2400" dirty="0">
                <a:solidFill>
                  <a:prstClr val="black"/>
                </a:solidFill>
                <a:cs typeface="Arial"/>
              </a:rPr>
              <a:t>en</a:t>
            </a:r>
            <a:r>
              <a:rPr sz="2400" spc="-10" dirty="0">
                <a:solidFill>
                  <a:prstClr val="black"/>
                </a:solidFill>
                <a:cs typeface="Arial"/>
              </a:rPr>
              <a:t>t </a:t>
            </a:r>
            <a:r>
              <a:rPr sz="2400" dirty="0">
                <a:solidFill>
                  <a:prstClr val="black"/>
                </a:solidFill>
                <a:cs typeface="Arial"/>
              </a:rPr>
              <a:t>sous</a:t>
            </a:r>
          </a:p>
          <a:p>
            <a:pPr>
              <a:spcBef>
                <a:spcPts val="53"/>
              </a:spcBef>
            </a:pPr>
            <a:endParaRPr sz="2500" dirty="0">
              <a:solidFill>
                <a:prstClr val="black"/>
              </a:solidFill>
              <a:cs typeface="Times New Roman"/>
            </a:endParaRPr>
          </a:p>
          <a:p>
            <a:pPr marL="241300"/>
            <a:r>
              <a:rPr sz="2400" b="1" spc="-20" dirty="0">
                <a:solidFill>
                  <a:prstClr val="black"/>
                </a:solidFill>
                <a:cs typeface="Arial"/>
              </a:rPr>
              <a:t>di</a:t>
            </a:r>
            <a:r>
              <a:rPr sz="2400" b="1" spc="-15" dirty="0">
                <a:solidFill>
                  <a:prstClr val="black"/>
                </a:solidFill>
                <a:cs typeface="Arial"/>
              </a:rPr>
              <a:t>v</a:t>
            </a:r>
            <a:r>
              <a:rPr sz="2400" b="1" dirty="0">
                <a:solidFill>
                  <a:prstClr val="black"/>
                </a:solidFill>
                <a:cs typeface="Arial"/>
              </a:rPr>
              <a:t>erses</a:t>
            </a:r>
            <a:r>
              <a:rPr sz="2400" b="1" spc="-5" dirty="0">
                <a:solidFill>
                  <a:prstClr val="black"/>
                </a:solidFill>
                <a:cs typeface="Arial"/>
              </a:rPr>
              <a:t> </a:t>
            </a:r>
            <a:r>
              <a:rPr sz="2400" b="1" dirty="0">
                <a:solidFill>
                  <a:prstClr val="black"/>
                </a:solidFill>
                <a:cs typeface="Arial"/>
              </a:rPr>
              <a:t>f</a:t>
            </a:r>
            <a:r>
              <a:rPr sz="2400" b="1" spc="-5" dirty="0">
                <a:solidFill>
                  <a:prstClr val="black"/>
                </a:solidFill>
                <a:cs typeface="Arial"/>
              </a:rPr>
              <a:t>o</a:t>
            </a:r>
            <a:r>
              <a:rPr sz="2400" b="1" dirty="0">
                <a:solidFill>
                  <a:prstClr val="black"/>
                </a:solidFill>
                <a:cs typeface="Arial"/>
              </a:rPr>
              <a:t>rmes</a:t>
            </a:r>
            <a:r>
              <a:rPr sz="2400" b="1" spc="-5" dirty="0">
                <a:solidFill>
                  <a:prstClr val="black"/>
                </a:solidFill>
                <a:cs typeface="Arial"/>
              </a:rPr>
              <a:t> </a:t>
            </a:r>
            <a:r>
              <a:rPr sz="2400" b="1" spc="-20" dirty="0">
                <a:solidFill>
                  <a:prstClr val="black"/>
                </a:solidFill>
                <a:cs typeface="Arial"/>
              </a:rPr>
              <a:t>no</a:t>
            </a:r>
            <a:r>
              <a:rPr sz="2400" b="1" spc="-15" dirty="0">
                <a:solidFill>
                  <a:prstClr val="black"/>
                </a:solidFill>
                <a:cs typeface="Arial"/>
              </a:rPr>
              <a:t>n</a:t>
            </a:r>
            <a:r>
              <a:rPr sz="2400" b="1" spc="-10" dirty="0">
                <a:solidFill>
                  <a:prstClr val="black"/>
                </a:solidFill>
                <a:cs typeface="Arial"/>
              </a:rPr>
              <a:t> </a:t>
            </a:r>
            <a:r>
              <a:rPr sz="2400" b="1" spc="-20" dirty="0">
                <a:solidFill>
                  <a:prstClr val="black"/>
                </a:solidFill>
                <a:cs typeface="Arial"/>
              </a:rPr>
              <a:t>pol</a:t>
            </a:r>
            <a:r>
              <a:rPr sz="2400" b="1" spc="-15" dirty="0">
                <a:solidFill>
                  <a:prstClr val="black"/>
                </a:solidFill>
                <a:cs typeface="Arial"/>
              </a:rPr>
              <a:t>y</a:t>
            </a:r>
            <a:r>
              <a:rPr sz="2400" b="1" dirty="0">
                <a:solidFill>
                  <a:prstClr val="black"/>
                </a:solidFill>
                <a:cs typeface="Arial"/>
              </a:rPr>
              <a:t>mère</a:t>
            </a:r>
            <a:r>
              <a:rPr sz="2400" b="1" spc="-5" dirty="0">
                <a:solidFill>
                  <a:prstClr val="black"/>
                </a:solidFill>
                <a:cs typeface="Arial"/>
              </a:rPr>
              <a:t>s</a:t>
            </a:r>
            <a:r>
              <a:rPr sz="2400" spc="-10" dirty="0">
                <a:solidFill>
                  <a:prstClr val="black"/>
                </a:solidFill>
                <a:cs typeface="Arial"/>
              </a:rPr>
              <a:t>.</a:t>
            </a:r>
            <a:endParaRPr sz="2400" dirty="0">
              <a:solidFill>
                <a:prstClr val="black"/>
              </a:solidFill>
              <a:cs typeface="Arial"/>
            </a:endParaRPr>
          </a:p>
        </p:txBody>
      </p:sp>
      <p:sp>
        <p:nvSpPr>
          <p:cNvPr id="3" name="object 2"/>
          <p:cNvSpPr txBox="1"/>
          <p:nvPr/>
        </p:nvSpPr>
        <p:spPr>
          <a:xfrm>
            <a:off x="3949699" y="540504"/>
            <a:ext cx="3700781" cy="615553"/>
          </a:xfrm>
          <a:prstGeom prst="rect">
            <a:avLst/>
          </a:prstGeom>
        </p:spPr>
        <p:txBody>
          <a:bodyPr vert="horz" wrap="square" lIns="0" tIns="0" rIns="0" bIns="0" rtlCol="0">
            <a:spAutoFit/>
          </a:bodyPr>
          <a:lstStyle/>
          <a:p>
            <a:pPr marL="12700"/>
            <a:r>
              <a:rPr lang="fr-FR" sz="4000" b="1" dirty="0">
                <a:solidFill>
                  <a:srgbClr val="0000C2"/>
                </a:solidFill>
                <a:cs typeface="Arial"/>
              </a:rPr>
              <a:t>Récapitulatif </a:t>
            </a:r>
            <a:endParaRPr sz="4000" dirty="0">
              <a:solidFill>
                <a:prstClr val="black"/>
              </a:solidFill>
              <a:cs typeface="Arial"/>
            </a:endParaRPr>
          </a:p>
        </p:txBody>
      </p:sp>
    </p:spTree>
    <p:extLst>
      <p:ext uri="{BB962C8B-B14F-4D97-AF65-F5344CB8AC3E}">
        <p14:creationId xmlns:p14="http://schemas.microsoft.com/office/powerpoint/2010/main" val="312640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p:cNvSpPr txBox="1"/>
          <p:nvPr/>
        </p:nvSpPr>
        <p:spPr>
          <a:xfrm>
            <a:off x="459740" y="2279300"/>
            <a:ext cx="10750550" cy="2013372"/>
          </a:xfrm>
          <a:prstGeom prst="rect">
            <a:avLst/>
          </a:prstGeom>
        </p:spPr>
        <p:txBody>
          <a:bodyPr vert="horz" wrap="square" lIns="0" tIns="0" rIns="0" bIns="0" rtlCol="0">
            <a:spAutoFit/>
          </a:bodyPr>
          <a:lstStyle/>
          <a:p>
            <a:pPr marL="241300" indent="-228600">
              <a:buFont typeface="Arial"/>
              <a:buChar char="•"/>
              <a:tabLst>
                <a:tab pos="241300" algn="l"/>
              </a:tabLst>
            </a:pPr>
            <a:r>
              <a:rPr sz="2400" dirty="0">
                <a:solidFill>
                  <a:prstClr val="black"/>
                </a:solidFill>
                <a:cs typeface="Arial"/>
              </a:rPr>
              <a:t>Chacune</a:t>
            </a:r>
            <a:r>
              <a:rPr sz="2400" spc="-5" dirty="0">
                <a:solidFill>
                  <a:prstClr val="black"/>
                </a:solidFill>
                <a:cs typeface="Arial"/>
              </a:rPr>
              <a:t> </a:t>
            </a:r>
            <a:r>
              <a:rPr sz="2400" dirty="0">
                <a:solidFill>
                  <a:prstClr val="black"/>
                </a:solidFill>
                <a:cs typeface="Arial"/>
              </a:rPr>
              <a:t>de</a:t>
            </a:r>
            <a:r>
              <a:rPr sz="2400" spc="-5" dirty="0">
                <a:solidFill>
                  <a:prstClr val="black"/>
                </a:solidFill>
                <a:cs typeface="Arial"/>
              </a:rPr>
              <a:t> </a:t>
            </a:r>
            <a:r>
              <a:rPr sz="2400" dirty="0">
                <a:solidFill>
                  <a:prstClr val="black"/>
                </a:solidFill>
                <a:cs typeface="Arial"/>
              </a:rPr>
              <a:t>ses</a:t>
            </a:r>
            <a:r>
              <a:rPr sz="2400" spc="-5" dirty="0">
                <a:solidFill>
                  <a:prstClr val="black"/>
                </a:solidFill>
                <a:cs typeface="Arial"/>
              </a:rPr>
              <a:t> </a:t>
            </a:r>
            <a:r>
              <a:rPr sz="2400" dirty="0">
                <a:solidFill>
                  <a:prstClr val="black"/>
                </a:solidFill>
                <a:cs typeface="Arial"/>
              </a:rPr>
              <a:t>grandes</a:t>
            </a:r>
            <a:r>
              <a:rPr sz="2400" spc="-5" dirty="0">
                <a:solidFill>
                  <a:prstClr val="black"/>
                </a:solidFill>
                <a:cs typeface="Arial"/>
              </a:rPr>
              <a:t> </a:t>
            </a:r>
            <a:r>
              <a:rPr sz="2400" spc="-15" dirty="0">
                <a:solidFill>
                  <a:prstClr val="black"/>
                </a:solidFill>
                <a:cs typeface="Arial"/>
              </a:rPr>
              <a:t>f</a:t>
            </a:r>
            <a:r>
              <a:rPr sz="2400" dirty="0">
                <a:solidFill>
                  <a:prstClr val="black"/>
                </a:solidFill>
                <a:cs typeface="Arial"/>
              </a:rPr>
              <a:t>amilles</a:t>
            </a:r>
            <a:r>
              <a:rPr sz="2400" spc="-5" dirty="0">
                <a:solidFill>
                  <a:prstClr val="black"/>
                </a:solidFill>
                <a:cs typeface="Arial"/>
              </a:rPr>
              <a:t> </a:t>
            </a:r>
            <a:r>
              <a:rPr sz="2400" dirty="0">
                <a:solidFill>
                  <a:prstClr val="black"/>
                </a:solidFill>
                <a:cs typeface="Arial"/>
              </a:rPr>
              <a:t>de</a:t>
            </a:r>
            <a:r>
              <a:rPr sz="2400" spc="-5" dirty="0">
                <a:solidFill>
                  <a:prstClr val="black"/>
                </a:solidFill>
                <a:cs typeface="Arial"/>
              </a:rPr>
              <a:t> </a:t>
            </a:r>
            <a:r>
              <a:rPr sz="2400" dirty="0">
                <a:solidFill>
                  <a:prstClr val="black"/>
                </a:solidFill>
                <a:cs typeface="Arial"/>
              </a:rPr>
              <a:t>molécules</a:t>
            </a:r>
            <a:r>
              <a:rPr sz="2400" spc="-5" dirty="0">
                <a:solidFill>
                  <a:prstClr val="black"/>
                </a:solidFill>
                <a:cs typeface="Arial"/>
              </a:rPr>
              <a:t> </a:t>
            </a:r>
            <a:r>
              <a:rPr sz="2400" dirty="0">
                <a:solidFill>
                  <a:prstClr val="black"/>
                </a:solidFill>
                <a:cs typeface="Arial"/>
              </a:rPr>
              <a:t>organiques</a:t>
            </a:r>
            <a:r>
              <a:rPr sz="2400" spc="-5" dirty="0">
                <a:solidFill>
                  <a:prstClr val="black"/>
                </a:solidFill>
                <a:cs typeface="Arial"/>
              </a:rPr>
              <a:t> </a:t>
            </a:r>
            <a:r>
              <a:rPr sz="2400" dirty="0">
                <a:solidFill>
                  <a:prstClr val="black"/>
                </a:solidFill>
                <a:cs typeface="Arial"/>
              </a:rPr>
              <a:t>on</a:t>
            </a:r>
            <a:r>
              <a:rPr sz="2400" spc="-10" dirty="0">
                <a:solidFill>
                  <a:prstClr val="black"/>
                </a:solidFill>
                <a:cs typeface="Arial"/>
              </a:rPr>
              <a:t>t </a:t>
            </a:r>
            <a:r>
              <a:rPr sz="2400" dirty="0">
                <a:solidFill>
                  <a:prstClr val="black"/>
                </a:solidFill>
                <a:cs typeface="Arial"/>
              </a:rPr>
              <a:t>des</a:t>
            </a:r>
            <a:r>
              <a:rPr sz="2400" spc="-5" dirty="0">
                <a:solidFill>
                  <a:prstClr val="black"/>
                </a:solidFill>
                <a:cs typeface="Arial"/>
              </a:rPr>
              <a:t> </a:t>
            </a:r>
            <a:r>
              <a:rPr sz="2400" spc="-15" dirty="0">
                <a:solidFill>
                  <a:prstClr val="black"/>
                </a:solidFill>
                <a:cs typeface="Arial"/>
              </a:rPr>
              <a:t>st</a:t>
            </a:r>
            <a:r>
              <a:rPr sz="2400" dirty="0">
                <a:solidFill>
                  <a:prstClr val="black"/>
                </a:solidFill>
                <a:cs typeface="Arial"/>
              </a:rPr>
              <a:t>ru</a:t>
            </a:r>
            <a:r>
              <a:rPr sz="2400" spc="-15" dirty="0">
                <a:solidFill>
                  <a:prstClr val="black"/>
                </a:solidFill>
                <a:cs typeface="Arial"/>
              </a:rPr>
              <a:t>ct</a:t>
            </a:r>
            <a:r>
              <a:rPr sz="2400" dirty="0">
                <a:solidFill>
                  <a:prstClr val="black"/>
                </a:solidFill>
                <a:cs typeface="Arial"/>
              </a:rPr>
              <a:t>ures</a:t>
            </a:r>
          </a:p>
          <a:p>
            <a:pPr>
              <a:spcBef>
                <a:spcPts val="53"/>
              </a:spcBef>
              <a:buFont typeface="Arial"/>
              <a:buChar char="•"/>
            </a:pPr>
            <a:endParaRPr sz="2500" dirty="0">
              <a:solidFill>
                <a:prstClr val="black"/>
              </a:solidFill>
              <a:cs typeface="Times New Roman"/>
            </a:endParaRPr>
          </a:p>
          <a:p>
            <a:pPr marL="241300"/>
            <a:r>
              <a:rPr sz="2400" dirty="0">
                <a:solidFill>
                  <a:prstClr val="black"/>
                </a:solidFill>
                <a:cs typeface="Arial"/>
              </a:rPr>
              <a:t>cara</a:t>
            </a:r>
            <a:r>
              <a:rPr sz="2400" spc="-15" dirty="0">
                <a:solidFill>
                  <a:prstClr val="black"/>
                </a:solidFill>
                <a:cs typeface="Arial"/>
              </a:rPr>
              <a:t>ct</a:t>
            </a:r>
            <a:r>
              <a:rPr sz="2400" dirty="0">
                <a:solidFill>
                  <a:prstClr val="black"/>
                </a:solidFill>
                <a:cs typeface="Arial"/>
              </a:rPr>
              <a:t>éri</a:t>
            </a:r>
            <a:r>
              <a:rPr sz="2400" spc="-15" dirty="0">
                <a:solidFill>
                  <a:prstClr val="black"/>
                </a:solidFill>
                <a:cs typeface="Arial"/>
              </a:rPr>
              <a:t>st</a:t>
            </a:r>
            <a:r>
              <a:rPr sz="2400" dirty="0">
                <a:solidFill>
                  <a:prstClr val="black"/>
                </a:solidFill>
                <a:cs typeface="Arial"/>
              </a:rPr>
              <a:t>iques</a:t>
            </a:r>
            <a:r>
              <a:rPr sz="2400" spc="-5" dirty="0">
                <a:solidFill>
                  <a:prstClr val="black"/>
                </a:solidFill>
                <a:cs typeface="Arial"/>
              </a:rPr>
              <a:t> </a:t>
            </a:r>
            <a:r>
              <a:rPr sz="2400" dirty="0">
                <a:solidFill>
                  <a:prstClr val="black"/>
                </a:solidFill>
                <a:cs typeface="Arial"/>
              </a:rPr>
              <a:t>e</a:t>
            </a:r>
            <a:r>
              <a:rPr sz="2400" spc="-10" dirty="0">
                <a:solidFill>
                  <a:prstClr val="black"/>
                </a:solidFill>
                <a:cs typeface="Arial"/>
              </a:rPr>
              <a:t>t </a:t>
            </a:r>
            <a:r>
              <a:rPr sz="2400" dirty="0">
                <a:solidFill>
                  <a:prstClr val="black"/>
                </a:solidFill>
                <a:cs typeface="Arial"/>
              </a:rPr>
              <a:t>des</a:t>
            </a:r>
            <a:r>
              <a:rPr sz="2400" spc="-5" dirty="0">
                <a:solidFill>
                  <a:prstClr val="black"/>
                </a:solidFill>
                <a:cs typeface="Arial"/>
              </a:rPr>
              <a:t> </a:t>
            </a:r>
            <a:r>
              <a:rPr sz="2400" spc="-15" dirty="0">
                <a:solidFill>
                  <a:prstClr val="black"/>
                </a:solidFill>
                <a:cs typeface="Arial"/>
              </a:rPr>
              <a:t>f</a:t>
            </a:r>
            <a:r>
              <a:rPr sz="2400" dirty="0">
                <a:solidFill>
                  <a:prstClr val="black"/>
                </a:solidFill>
                <a:cs typeface="Arial"/>
              </a:rPr>
              <a:t>on</a:t>
            </a:r>
            <a:r>
              <a:rPr sz="2400" spc="-15" dirty="0">
                <a:solidFill>
                  <a:prstClr val="black"/>
                </a:solidFill>
                <a:cs typeface="Arial"/>
              </a:rPr>
              <a:t>ct</a:t>
            </a:r>
            <a:r>
              <a:rPr sz="2400" dirty="0">
                <a:solidFill>
                  <a:prstClr val="black"/>
                </a:solidFill>
                <a:cs typeface="Arial"/>
              </a:rPr>
              <a:t>ions</a:t>
            </a:r>
            <a:r>
              <a:rPr sz="2400" spc="-5" dirty="0">
                <a:solidFill>
                  <a:prstClr val="black"/>
                </a:solidFill>
                <a:cs typeface="Arial"/>
              </a:rPr>
              <a:t> </a:t>
            </a:r>
            <a:r>
              <a:rPr sz="2400" dirty="0">
                <a:solidFill>
                  <a:prstClr val="black"/>
                </a:solidFill>
                <a:cs typeface="Arial"/>
              </a:rPr>
              <a:t>précises</a:t>
            </a:r>
            <a:r>
              <a:rPr sz="2400" spc="-5" dirty="0">
                <a:solidFill>
                  <a:prstClr val="black"/>
                </a:solidFill>
                <a:cs typeface="Arial"/>
              </a:rPr>
              <a:t> </a:t>
            </a:r>
            <a:r>
              <a:rPr sz="2400" dirty="0">
                <a:solidFill>
                  <a:prstClr val="black"/>
                </a:solidFill>
                <a:cs typeface="Arial"/>
              </a:rPr>
              <a:t>dans</a:t>
            </a:r>
            <a:r>
              <a:rPr sz="2400" spc="-5" dirty="0">
                <a:solidFill>
                  <a:prstClr val="black"/>
                </a:solidFill>
                <a:cs typeface="Arial"/>
              </a:rPr>
              <a:t> </a:t>
            </a:r>
            <a:r>
              <a:rPr sz="2400" dirty="0">
                <a:solidFill>
                  <a:prstClr val="black"/>
                </a:solidFill>
                <a:cs typeface="Arial"/>
              </a:rPr>
              <a:t>le</a:t>
            </a:r>
            <a:r>
              <a:rPr sz="2400" spc="-5" dirty="0">
                <a:solidFill>
                  <a:prstClr val="black"/>
                </a:solidFill>
                <a:cs typeface="Arial"/>
              </a:rPr>
              <a:t> </a:t>
            </a:r>
            <a:r>
              <a:rPr sz="2400" dirty="0">
                <a:solidFill>
                  <a:prstClr val="black"/>
                </a:solidFill>
                <a:cs typeface="Arial"/>
              </a:rPr>
              <a:t>vivan</a:t>
            </a:r>
            <a:r>
              <a:rPr sz="2400" spc="-15" dirty="0">
                <a:solidFill>
                  <a:prstClr val="black"/>
                </a:solidFill>
                <a:cs typeface="Arial"/>
              </a:rPr>
              <a:t>t</a:t>
            </a:r>
            <a:r>
              <a:rPr sz="2400" spc="-10" dirty="0">
                <a:solidFill>
                  <a:prstClr val="black"/>
                </a:solidFill>
                <a:cs typeface="Arial"/>
              </a:rPr>
              <a:t>;</a:t>
            </a:r>
            <a:endParaRPr sz="2400" dirty="0">
              <a:solidFill>
                <a:prstClr val="black"/>
              </a:solidFill>
              <a:cs typeface="Arial"/>
            </a:endParaRPr>
          </a:p>
          <a:p>
            <a:pPr>
              <a:spcBef>
                <a:spcPts val="21"/>
              </a:spcBef>
            </a:pPr>
            <a:endParaRPr sz="3300" dirty="0">
              <a:solidFill>
                <a:prstClr val="black"/>
              </a:solidFill>
              <a:cs typeface="Times New Roman"/>
            </a:endParaRPr>
          </a:p>
          <a:p>
            <a:pPr marL="241300" indent="-228600">
              <a:buFont typeface="Arial"/>
              <a:buChar char="•"/>
              <a:tabLst>
                <a:tab pos="241300" algn="l"/>
              </a:tabLst>
            </a:pPr>
            <a:r>
              <a:rPr sz="2400" dirty="0">
                <a:solidFill>
                  <a:prstClr val="black"/>
                </a:solidFill>
                <a:cs typeface="Arial"/>
              </a:rPr>
              <a:t>La</a:t>
            </a:r>
            <a:r>
              <a:rPr sz="2400" spc="-5" dirty="0">
                <a:solidFill>
                  <a:prstClr val="black"/>
                </a:solidFill>
                <a:cs typeface="Arial"/>
              </a:rPr>
              <a:t> </a:t>
            </a:r>
            <a:r>
              <a:rPr sz="2400" spc="-15" dirty="0">
                <a:solidFill>
                  <a:prstClr val="black"/>
                </a:solidFill>
                <a:cs typeface="Arial"/>
              </a:rPr>
              <a:t>st</a:t>
            </a:r>
            <a:r>
              <a:rPr sz="2400" dirty="0">
                <a:solidFill>
                  <a:prstClr val="black"/>
                </a:solidFill>
                <a:cs typeface="Arial"/>
              </a:rPr>
              <a:t>ru</a:t>
            </a:r>
            <a:r>
              <a:rPr sz="2400" spc="-15" dirty="0">
                <a:solidFill>
                  <a:prstClr val="black"/>
                </a:solidFill>
                <a:cs typeface="Arial"/>
              </a:rPr>
              <a:t>ct</a:t>
            </a:r>
            <a:r>
              <a:rPr sz="2400" dirty="0">
                <a:solidFill>
                  <a:prstClr val="black"/>
                </a:solidFill>
                <a:cs typeface="Arial"/>
              </a:rPr>
              <a:t>ure</a:t>
            </a:r>
            <a:r>
              <a:rPr sz="2400" spc="-5" dirty="0">
                <a:solidFill>
                  <a:prstClr val="black"/>
                </a:solidFill>
                <a:cs typeface="Arial"/>
              </a:rPr>
              <a:t> </a:t>
            </a:r>
            <a:r>
              <a:rPr sz="2400" dirty="0">
                <a:solidFill>
                  <a:prstClr val="black"/>
                </a:solidFill>
                <a:cs typeface="Arial"/>
              </a:rPr>
              <a:t>d</a:t>
            </a:r>
            <a:r>
              <a:rPr sz="2400" spc="-5" dirty="0">
                <a:solidFill>
                  <a:prstClr val="black"/>
                </a:solidFill>
                <a:cs typeface="Arial"/>
              </a:rPr>
              <a:t>'</a:t>
            </a:r>
            <a:r>
              <a:rPr sz="2400" dirty="0">
                <a:solidFill>
                  <a:prstClr val="black"/>
                </a:solidFill>
                <a:cs typeface="Arial"/>
              </a:rPr>
              <a:t>une</a:t>
            </a:r>
            <a:r>
              <a:rPr sz="2400" spc="-5" dirty="0">
                <a:solidFill>
                  <a:prstClr val="black"/>
                </a:solidFill>
                <a:cs typeface="Arial"/>
              </a:rPr>
              <a:t> </a:t>
            </a:r>
            <a:r>
              <a:rPr sz="2400" dirty="0">
                <a:solidFill>
                  <a:prstClr val="black"/>
                </a:solidFill>
                <a:cs typeface="Arial"/>
              </a:rPr>
              <a:t>macromolécule</a:t>
            </a:r>
            <a:r>
              <a:rPr sz="2400" spc="-5" dirty="0">
                <a:solidFill>
                  <a:prstClr val="black"/>
                </a:solidFill>
                <a:cs typeface="Arial"/>
              </a:rPr>
              <a:t> </a:t>
            </a:r>
            <a:r>
              <a:rPr sz="2400" dirty="0">
                <a:solidFill>
                  <a:prstClr val="black"/>
                </a:solidFill>
                <a:cs typeface="Arial"/>
              </a:rPr>
              <a:t>e</a:t>
            </a:r>
            <a:r>
              <a:rPr sz="2400" spc="-10" dirty="0">
                <a:solidFill>
                  <a:prstClr val="black"/>
                </a:solidFill>
                <a:cs typeface="Arial"/>
              </a:rPr>
              <a:t>st </a:t>
            </a:r>
            <a:r>
              <a:rPr sz="2400" dirty="0">
                <a:solidFill>
                  <a:prstClr val="black"/>
                </a:solidFill>
                <a:cs typeface="Arial"/>
              </a:rPr>
              <a:t>in</a:t>
            </a:r>
            <a:r>
              <a:rPr sz="2400" spc="-15" dirty="0">
                <a:solidFill>
                  <a:prstClr val="black"/>
                </a:solidFill>
                <a:cs typeface="Arial"/>
              </a:rPr>
              <a:t>t</a:t>
            </a:r>
            <a:r>
              <a:rPr sz="2400" dirty="0">
                <a:solidFill>
                  <a:prstClr val="black"/>
                </a:solidFill>
                <a:cs typeface="Arial"/>
              </a:rPr>
              <a:t>imemen</a:t>
            </a:r>
            <a:r>
              <a:rPr sz="2400" spc="-10" dirty="0">
                <a:solidFill>
                  <a:prstClr val="black"/>
                </a:solidFill>
                <a:cs typeface="Arial"/>
              </a:rPr>
              <a:t>t </a:t>
            </a:r>
            <a:r>
              <a:rPr sz="2400" dirty="0">
                <a:solidFill>
                  <a:prstClr val="black"/>
                </a:solidFill>
                <a:cs typeface="Arial"/>
              </a:rPr>
              <a:t>liée</a:t>
            </a:r>
            <a:r>
              <a:rPr sz="2400" spc="-5" dirty="0">
                <a:solidFill>
                  <a:prstClr val="black"/>
                </a:solidFill>
                <a:cs typeface="Arial"/>
              </a:rPr>
              <a:t> </a:t>
            </a:r>
            <a:r>
              <a:rPr sz="2400" dirty="0">
                <a:solidFill>
                  <a:prstClr val="black"/>
                </a:solidFill>
                <a:cs typeface="Arial"/>
              </a:rPr>
              <a:t>à</a:t>
            </a:r>
            <a:r>
              <a:rPr sz="2400" spc="-5" dirty="0">
                <a:solidFill>
                  <a:prstClr val="black"/>
                </a:solidFill>
                <a:cs typeface="Arial"/>
              </a:rPr>
              <a:t> </a:t>
            </a:r>
            <a:r>
              <a:rPr sz="2400" dirty="0">
                <a:solidFill>
                  <a:prstClr val="black"/>
                </a:solidFill>
                <a:cs typeface="Arial"/>
              </a:rPr>
              <a:t>sa</a:t>
            </a:r>
            <a:r>
              <a:rPr sz="2400" spc="-5" dirty="0">
                <a:solidFill>
                  <a:prstClr val="black"/>
                </a:solidFill>
                <a:cs typeface="Arial"/>
              </a:rPr>
              <a:t> </a:t>
            </a:r>
            <a:r>
              <a:rPr sz="2400" spc="-15" dirty="0">
                <a:solidFill>
                  <a:prstClr val="black"/>
                </a:solidFill>
                <a:cs typeface="Arial"/>
              </a:rPr>
              <a:t>f</a:t>
            </a:r>
            <a:r>
              <a:rPr sz="2400" dirty="0">
                <a:solidFill>
                  <a:prstClr val="black"/>
                </a:solidFill>
                <a:cs typeface="Arial"/>
              </a:rPr>
              <a:t>on</a:t>
            </a:r>
            <a:r>
              <a:rPr sz="2400" spc="-15" dirty="0">
                <a:solidFill>
                  <a:prstClr val="black"/>
                </a:solidFill>
                <a:cs typeface="Arial"/>
              </a:rPr>
              <a:t>ct</a:t>
            </a:r>
            <a:r>
              <a:rPr sz="2400" dirty="0">
                <a:solidFill>
                  <a:prstClr val="black"/>
                </a:solidFill>
                <a:cs typeface="Arial"/>
              </a:rPr>
              <a:t>ion</a:t>
            </a:r>
          </a:p>
        </p:txBody>
      </p:sp>
      <p:sp>
        <p:nvSpPr>
          <p:cNvPr id="3" name="object 2"/>
          <p:cNvSpPr txBox="1"/>
          <p:nvPr/>
        </p:nvSpPr>
        <p:spPr>
          <a:xfrm>
            <a:off x="3949699" y="540504"/>
            <a:ext cx="3700781" cy="615553"/>
          </a:xfrm>
          <a:prstGeom prst="rect">
            <a:avLst/>
          </a:prstGeom>
        </p:spPr>
        <p:txBody>
          <a:bodyPr vert="horz" wrap="square" lIns="0" tIns="0" rIns="0" bIns="0" rtlCol="0">
            <a:spAutoFit/>
          </a:bodyPr>
          <a:lstStyle/>
          <a:p>
            <a:pPr marL="12700"/>
            <a:r>
              <a:rPr lang="fr-FR" sz="4000" b="1" dirty="0">
                <a:solidFill>
                  <a:srgbClr val="0000C2"/>
                </a:solidFill>
                <a:cs typeface="Arial"/>
              </a:rPr>
              <a:t>Récapitulatif </a:t>
            </a:r>
            <a:endParaRPr sz="4000" dirty="0">
              <a:solidFill>
                <a:prstClr val="black"/>
              </a:solidFill>
              <a:cs typeface="Arial"/>
            </a:endParaRPr>
          </a:p>
        </p:txBody>
      </p:sp>
    </p:spTree>
    <p:extLst>
      <p:ext uri="{BB962C8B-B14F-4D97-AF65-F5344CB8AC3E}">
        <p14:creationId xmlns:p14="http://schemas.microsoft.com/office/powerpoint/2010/main" val="279620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 calcmode="lin" valueType="num">
                                      <p:cBhvr additive="base">
                                        <p:cTn id="1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3201" y="62229"/>
            <a:ext cx="4968240" cy="430887"/>
          </a:xfrm>
          <a:prstGeom prst="rect">
            <a:avLst/>
          </a:prstGeom>
        </p:spPr>
        <p:txBody>
          <a:bodyPr vert="horz" wrap="square" lIns="0" tIns="0" rIns="0" bIns="0" rtlCol="0">
            <a:spAutoFit/>
          </a:bodyPr>
          <a:lstStyle/>
          <a:p>
            <a:pPr marL="12700"/>
            <a:r>
              <a:rPr sz="2800" b="1" dirty="0" err="1">
                <a:solidFill>
                  <a:srgbClr val="0000C2"/>
                </a:solidFill>
                <a:cs typeface="Arial"/>
              </a:rPr>
              <a:t>R</a:t>
            </a:r>
            <a:r>
              <a:rPr sz="2800" b="1" spc="-5" dirty="0" err="1">
                <a:solidFill>
                  <a:srgbClr val="0000C2"/>
                </a:solidFill>
                <a:cs typeface="Arial"/>
              </a:rPr>
              <a:t>éfé</a:t>
            </a:r>
            <a:r>
              <a:rPr sz="2800" b="1" spc="5" dirty="0" err="1">
                <a:solidFill>
                  <a:srgbClr val="0000C2"/>
                </a:solidFill>
                <a:cs typeface="Arial"/>
              </a:rPr>
              <a:t>r</a:t>
            </a:r>
            <a:r>
              <a:rPr sz="2800" b="1" spc="-5" dirty="0" err="1">
                <a:solidFill>
                  <a:srgbClr val="0000C2"/>
                </a:solidFill>
                <a:cs typeface="Arial"/>
              </a:rPr>
              <a:t>e</a:t>
            </a:r>
            <a:r>
              <a:rPr sz="2800" b="1" spc="-25" dirty="0" err="1">
                <a:solidFill>
                  <a:srgbClr val="0000C2"/>
                </a:solidFill>
                <a:cs typeface="Arial"/>
              </a:rPr>
              <a:t>n</a:t>
            </a:r>
            <a:r>
              <a:rPr sz="2800" b="1" spc="-5" dirty="0" err="1">
                <a:solidFill>
                  <a:srgbClr val="0000C2"/>
                </a:solidFill>
                <a:cs typeface="Arial"/>
              </a:rPr>
              <a:t>ce</a:t>
            </a:r>
            <a:r>
              <a:rPr sz="2800" b="1" dirty="0" err="1">
                <a:solidFill>
                  <a:srgbClr val="0000C2"/>
                </a:solidFill>
                <a:cs typeface="Arial"/>
              </a:rPr>
              <a:t>s</a:t>
            </a:r>
            <a:r>
              <a:rPr lang="fr-FR" sz="2800" b="1" dirty="0">
                <a:solidFill>
                  <a:srgbClr val="0000C2"/>
                </a:solidFill>
                <a:cs typeface="Arial"/>
              </a:rPr>
              <a:t> </a:t>
            </a:r>
            <a:r>
              <a:rPr lang="fr-FR" sz="2800" b="1" dirty="0" err="1">
                <a:solidFill>
                  <a:srgbClr val="0000C2"/>
                </a:solidFill>
                <a:cs typeface="Arial"/>
              </a:rPr>
              <a:t>biobliographique</a:t>
            </a:r>
            <a:endParaRPr sz="2800" dirty="0">
              <a:solidFill>
                <a:prstClr val="black"/>
              </a:solidFill>
              <a:cs typeface="Arial"/>
            </a:endParaRP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 y="576937"/>
            <a:ext cx="3234690" cy="4241038"/>
          </a:xfrm>
          <a:prstGeom prst="rect">
            <a:avLst/>
          </a:prstGeom>
        </p:spPr>
      </p:pic>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6587" y="637897"/>
            <a:ext cx="3117533" cy="4241038"/>
          </a:xfrm>
          <a:prstGeom prst="rect">
            <a:avLst/>
          </a:prstGeom>
        </p:spPr>
      </p:pic>
      <p:sp>
        <p:nvSpPr>
          <p:cNvPr id="5" name="ZoneTexte 4"/>
          <p:cNvSpPr txBox="1"/>
          <p:nvPr/>
        </p:nvSpPr>
        <p:spPr>
          <a:xfrm rot="10800000" flipV="1">
            <a:off x="6986587" y="4877596"/>
            <a:ext cx="3574568" cy="2031325"/>
          </a:xfrm>
          <a:prstGeom prst="rect">
            <a:avLst/>
          </a:prstGeom>
          <a:noFill/>
        </p:spPr>
        <p:txBody>
          <a:bodyPr wrap="square" rtlCol="0">
            <a:spAutoFit/>
          </a:bodyPr>
          <a:lstStyle/>
          <a:p>
            <a:r>
              <a:rPr lang="fr-FR" dirty="0">
                <a:solidFill>
                  <a:prstClr val="black"/>
                </a:solidFill>
              </a:rPr>
              <a:t>Bruce </a:t>
            </a:r>
            <a:r>
              <a:rPr lang="fr-FR" dirty="0" err="1">
                <a:solidFill>
                  <a:prstClr val="black"/>
                </a:solidFill>
              </a:rPr>
              <a:t>Alberts</a:t>
            </a:r>
            <a:r>
              <a:rPr lang="fr-FR" dirty="0">
                <a:solidFill>
                  <a:prstClr val="black"/>
                </a:solidFill>
              </a:rPr>
              <a:t>, Dennis Bray, Karen </a:t>
            </a:r>
            <a:r>
              <a:rPr lang="fr-FR" dirty="0" err="1">
                <a:solidFill>
                  <a:prstClr val="black"/>
                </a:solidFill>
              </a:rPr>
              <a:t>Hopkin</a:t>
            </a:r>
            <a:r>
              <a:rPr lang="fr-FR" dirty="0">
                <a:solidFill>
                  <a:prstClr val="black"/>
                </a:solidFill>
              </a:rPr>
              <a:t>, Alexander D Johnson, Alexander Johnson, Julian Lewis, Martin Raff, Keith Roberts, Peter Walter - </a:t>
            </a:r>
            <a:r>
              <a:rPr lang="fr-FR" b="1" dirty="0">
                <a:solidFill>
                  <a:prstClr val="black"/>
                </a:solidFill>
              </a:rPr>
              <a:t>Essential </a:t>
            </a:r>
            <a:r>
              <a:rPr lang="fr-FR" b="1" dirty="0" err="1">
                <a:solidFill>
                  <a:prstClr val="black"/>
                </a:solidFill>
              </a:rPr>
              <a:t>Cell</a:t>
            </a:r>
            <a:r>
              <a:rPr lang="fr-FR" b="1" dirty="0">
                <a:solidFill>
                  <a:prstClr val="black"/>
                </a:solidFill>
              </a:rPr>
              <a:t> </a:t>
            </a:r>
            <a:r>
              <a:rPr lang="fr-FR" b="1" dirty="0" err="1">
                <a:solidFill>
                  <a:prstClr val="black"/>
                </a:solidFill>
              </a:rPr>
              <a:t>Biology</a:t>
            </a:r>
            <a:r>
              <a:rPr lang="fr-FR" b="1" dirty="0">
                <a:solidFill>
                  <a:prstClr val="black"/>
                </a:solidFill>
              </a:rPr>
              <a:t>-Garland </a:t>
            </a:r>
            <a:r>
              <a:rPr lang="fr-FR" dirty="0">
                <a:solidFill>
                  <a:prstClr val="black"/>
                </a:solidFill>
              </a:rPr>
              <a:t>Science_ 3rd </a:t>
            </a:r>
            <a:r>
              <a:rPr lang="fr-FR" dirty="0" err="1">
                <a:solidFill>
                  <a:prstClr val="black"/>
                </a:solidFill>
              </a:rPr>
              <a:t>edition</a:t>
            </a:r>
            <a:r>
              <a:rPr lang="fr-FR" dirty="0">
                <a:solidFill>
                  <a:prstClr val="black"/>
                </a:solidFill>
              </a:rPr>
              <a:t> (2019)</a:t>
            </a:r>
          </a:p>
        </p:txBody>
      </p:sp>
      <p:sp>
        <p:nvSpPr>
          <p:cNvPr id="6" name="Rectangle 5"/>
          <p:cNvSpPr/>
          <p:nvPr/>
        </p:nvSpPr>
        <p:spPr>
          <a:xfrm>
            <a:off x="598170" y="4985616"/>
            <a:ext cx="3044190" cy="1754326"/>
          </a:xfrm>
          <a:prstGeom prst="rect">
            <a:avLst/>
          </a:prstGeom>
        </p:spPr>
        <p:txBody>
          <a:bodyPr wrap="square">
            <a:spAutoFit/>
          </a:bodyPr>
          <a:lstStyle/>
          <a:p>
            <a:r>
              <a:rPr lang="fr-FR" dirty="0">
                <a:solidFill>
                  <a:prstClr val="black"/>
                </a:solidFill>
              </a:rPr>
              <a:t>Bruce </a:t>
            </a:r>
            <a:r>
              <a:rPr lang="fr-FR" dirty="0" err="1">
                <a:solidFill>
                  <a:prstClr val="black"/>
                </a:solidFill>
              </a:rPr>
              <a:t>Alberts</a:t>
            </a:r>
            <a:r>
              <a:rPr lang="fr-FR" dirty="0">
                <a:solidFill>
                  <a:prstClr val="black"/>
                </a:solidFill>
              </a:rPr>
              <a:t>, Alexander Johnson, Julian Lewis, Martin Raff, Keith Roberts, Peter Walter - </a:t>
            </a:r>
            <a:r>
              <a:rPr lang="fr-FR" b="1" dirty="0" err="1">
                <a:solidFill>
                  <a:prstClr val="black"/>
                </a:solidFill>
              </a:rPr>
              <a:t>Molecular</a:t>
            </a:r>
            <a:r>
              <a:rPr lang="fr-FR" b="1" dirty="0">
                <a:solidFill>
                  <a:prstClr val="black"/>
                </a:solidFill>
              </a:rPr>
              <a:t> </a:t>
            </a:r>
            <a:r>
              <a:rPr lang="fr-FR" b="1" dirty="0" err="1">
                <a:solidFill>
                  <a:prstClr val="black"/>
                </a:solidFill>
              </a:rPr>
              <a:t>Biology</a:t>
            </a:r>
            <a:r>
              <a:rPr lang="fr-FR" b="1" dirty="0">
                <a:solidFill>
                  <a:prstClr val="black"/>
                </a:solidFill>
              </a:rPr>
              <a:t> Of The </a:t>
            </a:r>
            <a:r>
              <a:rPr lang="fr-FR" b="1" dirty="0" err="1">
                <a:solidFill>
                  <a:prstClr val="black"/>
                </a:solidFill>
              </a:rPr>
              <a:t>Cell</a:t>
            </a:r>
            <a:r>
              <a:rPr lang="fr-FR" dirty="0">
                <a:solidFill>
                  <a:prstClr val="black"/>
                </a:solidFill>
              </a:rPr>
              <a:t>-Garland Science (2007)</a:t>
            </a:r>
          </a:p>
        </p:txBody>
      </p:sp>
    </p:spTree>
    <p:extLst>
      <p:ext uri="{BB962C8B-B14F-4D97-AF65-F5344CB8AC3E}">
        <p14:creationId xmlns:p14="http://schemas.microsoft.com/office/powerpoint/2010/main" val="400037382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irection Ion">
  <a:themeElements>
    <a:clrScheme name="Bleu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rection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3107</Words>
  <Application>Microsoft Office PowerPoint</Application>
  <PresentationFormat>Grand écran</PresentationFormat>
  <Paragraphs>293</Paragraphs>
  <Slides>55</Slides>
  <Notes>12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55</vt:i4>
      </vt:variant>
    </vt:vector>
  </HeadingPairs>
  <TitlesOfParts>
    <vt:vector size="63" baseType="lpstr">
      <vt:lpstr>Arial</vt:lpstr>
      <vt:lpstr>Bodoni MT</vt:lpstr>
      <vt:lpstr>Calibri</vt:lpstr>
      <vt:lpstr>Gill Sans MT</vt:lpstr>
      <vt:lpstr>Times New Roman</vt:lpstr>
      <vt:lpstr>Wingdings</vt:lpstr>
      <vt:lpstr>Wingdings 3</vt:lpstr>
      <vt:lpstr>Direction 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tita real</dc:creator>
  <cp:lastModifiedBy>tita real</cp:lastModifiedBy>
  <cp:revision>1</cp:revision>
  <dcterms:created xsi:type="dcterms:W3CDTF">2023-09-21T11:08:59Z</dcterms:created>
  <dcterms:modified xsi:type="dcterms:W3CDTF">2023-09-21T11:10:16Z</dcterms:modified>
</cp:coreProperties>
</file>